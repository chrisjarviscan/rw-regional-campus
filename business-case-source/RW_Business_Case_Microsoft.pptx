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oi.org/10.1111/j.1467-9280.2006.01793.x" TargetMode="External"/><Relationship Id="rId2" Type="http://schemas.openxmlformats.org/officeDocument/2006/relationships/hyperlink" Target="https://doi.org/10.1126/science.287.5451.248" TargetMode="External"/><Relationship Id="rId3" Type="http://schemas.openxmlformats.org/officeDocument/2006/relationships/hyperlink" Target="https://doi.org/10.1093/scan/nst060" TargetMode="External"/><Relationship Id="rId4" Type="http://schemas.openxmlformats.org/officeDocument/2006/relationships/hyperlink" Target="https://www.wiley.com/en-us/Transformative+Dimensions+of+Adult+Learning-p-9780470857953" TargetMode="External"/><Relationship Id="rId5" Type="http://schemas.openxmlformats.org/officeDocument/2006/relationships/hyperlink" Target="https://doi.org/10.1146/annurev.psych.56.091103.070141" TargetMode="External"/><Relationship Id="rId6" Type="http://schemas.openxmlformats.org/officeDocument/2006/relationships/hyperlink" Target="https://doi.org/10.1016/S0065-2601(05)37005-5" TargetMode="External"/><Relationship Id="rId7" Type="http://schemas.openxmlformats.org/officeDocument/2006/relationships/hyperlink" Target="https://doi.org/10.4135/9781446278819" TargetMode="External"/><Relationship Id="rId8" Type="http://schemas.openxmlformats.org/officeDocument/2006/relationships/hyperlink" Target="https://www.pearson.com/en-us/subject-catalog/p/experiential-learning-experience-as-the-source-of-learning-and-development/P200000003115" TargetMode="External"/><Relationship Id="rId9" Type="http://schemas.openxmlformats.org/officeDocument/2006/relationships/hyperlink" Target="https://doi.org/10.1037/0021-9010.93.1.108" TargetMode="External"/><Relationship Id="rId10" Type="http://schemas.openxmlformats.org/officeDocument/2006/relationships/hyperlink" Target="https://quod.lib.umich.edu/m/mjcsl/3239521.0014.205" TargetMode="External"/><Relationship Id="rId11" Type="http://schemas.openxmlformats.org/officeDocument/2006/relationships/hyperlink" Target="https://doi.org/10.1037/0022-3514.90.5.751" TargetMode="External"/><Relationship Id="rId12" Type="http://schemas.openxmlformats.org/officeDocument/2006/relationships/hyperlink" Target="https://doi.org/10.1037/0022-3514.83.6.1423" TargetMode="External"/><Relationship Id="rId13" Type="http://schemas.openxmlformats.org/officeDocument/2006/relationships/hyperlink" Target="https://doi.org/10.5465/amj.2012.0611" TargetMode="External"/><Relationship Id="rId14" Type="http://schemas.openxmlformats.org/officeDocument/2006/relationships/hyperlink" Target="https://doi.org/10.1002/ejsp.674" TargetMode="External"/><Relationship Id="rId15" Type="http://schemas.openxmlformats.org/officeDocument/2006/relationships/hyperlink" Target="https://doi.org/10.1037/0033-2909.132.3.354" TargetMode="External"/><Relationship Id="rId16" Type="http://schemas.openxmlformats.org/officeDocument/2006/relationships/hyperlink" Target="https://doi.org/10.1126/science.aas8827" TargetMode="External"/><Relationship Id="rId17" Type="http://schemas.openxmlformats.org/officeDocument/2006/relationships/slideLayout" Target="../slideLayouts/slideLayout1.xml"/><Relationship Id="rId1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3454"/>
        </a:solidFill>
      </p:bgPr>
    </p:bg>
    <p:spTree>
      <p:nvGrpSpPr>
        <p:cNvPr id="1" name=""/>
        <p:cNvGrpSpPr/>
        <p:nvPr/>
      </p:nvGrpSpPr>
      <p:grpSpPr>
        <a:xfrm>
          <a:off x="0" y="0"/>
          <a:ext cx="0" cy="0"/>
          <a:chOff x="0" y="0"/>
          <a:chExt cx="0" cy="0"/>
        </a:xfrm>
      </p:grpSpPr>
      <p:sp>
        <p:nvSpPr>
          <p:cNvPr id="2" name="Shape 0"/>
          <p:cNvSpPr/>
          <p:nvPr/>
        </p:nvSpPr>
        <p:spPr>
          <a:xfrm>
            <a:off x="0" y="0"/>
            <a:ext cx="365760" cy="6858000"/>
          </a:xfrm>
          <a:prstGeom prst="rect">
            <a:avLst/>
          </a:prstGeom>
          <a:solidFill>
            <a:srgbClr val="EC5C2A"/>
          </a:solidFill>
          <a:ln w="12700">
            <a:solidFill>
              <a:srgbClr val="EC5C2A"/>
            </a:solidFill>
            <a:prstDash val="solid"/>
          </a:ln>
        </p:spPr>
      </p:sp>
      <p:sp>
        <p:nvSpPr>
          <p:cNvPr id="3" name="Shape 1"/>
          <p:cNvSpPr/>
          <p:nvPr/>
        </p:nvSpPr>
        <p:spPr>
          <a:xfrm>
            <a:off x="8076895" y="-1371600"/>
            <a:ext cx="5486400" cy="5486400"/>
          </a:xfrm>
          <a:prstGeom prst="ellipse">
            <a:avLst/>
          </a:prstGeom>
          <a:solidFill>
            <a:srgbClr val="0A3454"/>
          </a:solidFill>
          <a:ln w="25400">
            <a:solidFill>
              <a:srgbClr val="B8D8DC"/>
            </a:solidFill>
            <a:prstDash val="solid"/>
          </a:ln>
        </p:spPr>
      </p:sp>
      <p:sp>
        <p:nvSpPr>
          <p:cNvPr id="4" name="Shape 2"/>
          <p:cNvSpPr/>
          <p:nvPr/>
        </p:nvSpPr>
        <p:spPr>
          <a:xfrm>
            <a:off x="8534095" y="-914400"/>
            <a:ext cx="4572000" cy="4572000"/>
          </a:xfrm>
          <a:prstGeom prst="ellipse">
            <a:avLst/>
          </a:prstGeom>
          <a:solidFill>
            <a:srgbClr val="0A3454"/>
          </a:solidFill>
          <a:ln w="12700">
            <a:solidFill>
              <a:srgbClr val="4491A9"/>
            </a:solidFill>
            <a:prstDash val="solid"/>
          </a:ln>
        </p:spPr>
      </p:sp>
      <p:sp>
        <p:nvSpPr>
          <p:cNvPr id="5" name="Text 3"/>
          <p:cNvSpPr/>
          <p:nvPr/>
        </p:nvSpPr>
        <p:spPr>
          <a:xfrm>
            <a:off x="822960" y="1280160"/>
            <a:ext cx="10972800" cy="457200"/>
          </a:xfrm>
          <a:prstGeom prst="rect">
            <a:avLst/>
          </a:prstGeom>
          <a:noFill/>
          <a:ln/>
        </p:spPr>
        <p:txBody>
          <a:bodyPr wrap="square" rtlCol="0" anchor="ctr"/>
          <a:lstStyle/>
          <a:p>
            <a:pPr indent="0" marL="0">
              <a:buNone/>
            </a:pPr>
            <a:r>
              <a:rPr lang="en-US" sz="1400" b="1" spc="800" kern="0" dirty="0">
                <a:solidFill>
                  <a:srgbClr val="EC5C2A"/>
                </a:solidFill>
                <a:latin typeface="Roboto" pitchFamily="34" charset="0"/>
                <a:ea typeface="Roboto" pitchFamily="34" charset="-122"/>
                <a:cs typeface="Roboto" pitchFamily="34" charset="-120"/>
              </a:rPr>
              <a:t>BUSINESS CASE</a:t>
            </a:r>
            <a:endParaRPr lang="en-US" sz="1400" dirty="0"/>
          </a:p>
        </p:txBody>
      </p:sp>
      <p:sp>
        <p:nvSpPr>
          <p:cNvPr id="6" name="Text 4"/>
          <p:cNvSpPr/>
          <p:nvPr/>
        </p:nvSpPr>
        <p:spPr>
          <a:xfrm>
            <a:off x="822960" y="1783080"/>
            <a:ext cx="10972800" cy="548640"/>
          </a:xfrm>
          <a:prstGeom prst="rect">
            <a:avLst/>
          </a:prstGeom>
          <a:noFill/>
          <a:ln/>
        </p:spPr>
        <p:txBody>
          <a:bodyPr wrap="square" rtlCol="0" anchor="ctr"/>
          <a:lstStyle/>
          <a:p>
            <a:pPr indent="0" marL="0">
              <a:buNone/>
            </a:pPr>
            <a:r>
              <a:rPr lang="en-US" sz="2200" dirty="0">
                <a:solidFill>
                  <a:srgbClr val="B8D8DC"/>
                </a:solidFill>
                <a:latin typeface="Roboto" pitchFamily="34" charset="0"/>
                <a:ea typeface="Roboto" pitchFamily="34" charset="-122"/>
                <a:cs typeface="Roboto" pitchFamily="34" charset="-120"/>
              </a:rPr>
              <a:t>Regional Campus Series</a:t>
            </a:r>
            <a:endParaRPr lang="en-US" sz="2200" dirty="0"/>
          </a:p>
        </p:txBody>
      </p:sp>
      <p:sp>
        <p:nvSpPr>
          <p:cNvPr id="7" name="Text 5"/>
          <p:cNvSpPr/>
          <p:nvPr/>
        </p:nvSpPr>
        <p:spPr>
          <a:xfrm>
            <a:off x="822960" y="2743200"/>
            <a:ext cx="10058400" cy="1463040"/>
          </a:xfrm>
          <a:prstGeom prst="rect">
            <a:avLst/>
          </a:prstGeom>
          <a:noFill/>
          <a:ln/>
        </p:spPr>
        <p:txBody>
          <a:bodyPr wrap="square" rtlCol="0" anchor="ctr"/>
          <a:lstStyle/>
          <a:p>
            <a:pPr indent="0" marL="0">
              <a:buNone/>
            </a:pPr>
            <a:r>
              <a:rPr lang="en-US" sz="5600" b="1" dirty="0">
                <a:solidFill>
                  <a:srgbClr val="FFFFFF"/>
                </a:solidFill>
                <a:latin typeface="Roboto" pitchFamily="34" charset="0"/>
                <a:ea typeface="Roboto" pitchFamily="34" charset="-122"/>
                <a:cs typeface="Roboto" pitchFamily="34" charset="-120"/>
              </a:rPr>
              <a:t>Microsoft</a:t>
            </a:r>
            <a:endParaRPr lang="en-US" sz="5600" dirty="0"/>
          </a:p>
        </p:txBody>
      </p:sp>
      <p:sp>
        <p:nvSpPr>
          <p:cNvPr id="8" name="Text 6"/>
          <p:cNvSpPr/>
          <p:nvPr/>
        </p:nvSpPr>
        <p:spPr>
          <a:xfrm>
            <a:off x="822960" y="4297680"/>
            <a:ext cx="10058400" cy="731520"/>
          </a:xfrm>
          <a:prstGeom prst="rect">
            <a:avLst/>
          </a:prstGeom>
          <a:noFill/>
          <a:ln/>
        </p:spPr>
        <p:txBody>
          <a:bodyPr wrap="square" rtlCol="0" anchor="ctr"/>
          <a:lstStyle/>
          <a:p>
            <a:pPr indent="0" marL="0">
              <a:buNone/>
            </a:pPr>
            <a:r>
              <a:rPr lang="en-US" sz="1800" i="1" dirty="0">
                <a:solidFill>
                  <a:srgbClr val="B8D8DC"/>
                </a:solidFill>
                <a:latin typeface="Roboto" pitchFamily="34" charset="0"/>
                <a:ea typeface="Roboto" pitchFamily="34" charset="-122"/>
                <a:cs typeface="Roboto" pitchFamily="34" charset="-120"/>
              </a:rPr>
              <a:t>A business case for evolving our employee engagement strategy.</a:t>
            </a:r>
            <a:endParaRPr lang="en-US" sz="1800" dirty="0"/>
          </a:p>
        </p:txBody>
      </p:sp>
      <p:sp>
        <p:nvSpPr>
          <p:cNvPr id="9" name="Shape 7"/>
          <p:cNvSpPr/>
          <p:nvPr/>
        </p:nvSpPr>
        <p:spPr>
          <a:xfrm>
            <a:off x="822960" y="5212080"/>
            <a:ext cx="914400" cy="0"/>
          </a:xfrm>
          <a:prstGeom prst="line">
            <a:avLst/>
          </a:prstGeom>
          <a:noFill/>
          <a:ln w="38100">
            <a:solidFill>
              <a:srgbClr val="EC5C2A"/>
            </a:solidFill>
            <a:prstDash val="solid"/>
          </a:ln>
        </p:spPr>
      </p:sp>
      <p:sp>
        <p:nvSpPr>
          <p:cNvPr id="10" name="Text 8"/>
          <p:cNvSpPr/>
          <p:nvPr/>
        </p:nvSpPr>
        <p:spPr>
          <a:xfrm>
            <a:off x="822960" y="5394960"/>
            <a:ext cx="10972800" cy="1371600"/>
          </a:xfrm>
          <a:prstGeom prst="rect">
            <a:avLst/>
          </a:prstGeom>
          <a:noFill/>
          <a:ln/>
        </p:spPr>
        <p:txBody>
          <a:bodyPr wrap="square" rtlCol="0" anchor="ctr"/>
          <a:lstStyle/>
          <a:p>
            <a:pPr indent="0" marL="0">
              <a:buNone/>
            </a:pPr>
            <a:r>
              <a:rPr lang="en-US" sz="1400" dirty="0">
                <a:solidFill>
                  <a:srgbClr val="B8D8DC"/>
                </a:solidFill>
                <a:latin typeface="Roboto" pitchFamily="34" charset="0"/>
                <a:ea typeface="Roboto" pitchFamily="34" charset="-122"/>
                <a:cs typeface="Roboto" pitchFamily="34" charset="-120"/>
              </a:rPr>
              <a:t>Prepared by </a:t>
            </a:r>
            <a:pPr indent="0" marL="0">
              <a:buNone/>
            </a:pPr>
            <a:r>
              <a:rPr lang="en-US" sz="1400" b="1" dirty="0">
                <a:solidFill>
                  <a:srgbClr val="FFFFFF"/>
                </a:solidFill>
                <a:latin typeface="Roboto" pitchFamily="34" charset="0"/>
                <a:ea typeface="Roboto" pitchFamily="34" charset="-122"/>
                <a:cs typeface="Roboto" pitchFamily="34" charset="-120"/>
              </a:rPr>
              <a:t>John Gates, manager
</a:t>
            </a:r>
            <a:pPr indent="0" marL="0">
              <a:buNone/>
            </a:pPr>
            <a:r>
              <a:rPr lang="en-US" sz="1400" dirty="0">
                <a:solidFill>
                  <a:srgbClr val="B8D8DC"/>
                </a:solidFill>
                <a:latin typeface="Roboto" pitchFamily="34" charset="0"/>
                <a:ea typeface="Roboto" pitchFamily="34" charset="-122"/>
                <a:cs typeface="Roboto" pitchFamily="34" charset="-120"/>
              </a:rPr>
              <a:t>For </a:t>
            </a:r>
            <a:pPr indent="0" marL="0">
              <a:buNone/>
            </a:pPr>
            <a:r>
              <a:rPr lang="en-US" sz="1400" b="1" dirty="0">
                <a:solidFill>
                  <a:srgbClr val="FFFFFF"/>
                </a:solidFill>
                <a:latin typeface="Roboto" pitchFamily="34" charset="0"/>
                <a:ea typeface="Roboto" pitchFamily="34" charset="-122"/>
                <a:cs typeface="Roboto" pitchFamily="34" charset="-120"/>
              </a:rPr>
              <a:t>DEI Leadership · Bill Gates
</a:t>
            </a:r>
            <a:pPr indent="0" marL="0">
              <a:buNone/>
            </a:pPr>
            <a:r>
              <a:rPr lang="en-US" sz="1400" dirty="0">
                <a:solidFill>
                  <a:srgbClr val="B8D8DC"/>
                </a:solidFill>
                <a:latin typeface="Roboto" pitchFamily="34" charset="0"/>
                <a:ea typeface="Roboto" pitchFamily="34" charset="-122"/>
                <a:cs typeface="Roboto" pitchFamily="34" charset="-120"/>
              </a:rPr>
              <a:t>Washington DC · September 2026  ·  6–12 seats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WHERE MICROSOFT IS NOW</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800" b="1" dirty="0">
                <a:solidFill>
                  <a:srgbClr val="3C3F44"/>
                </a:solidFill>
                <a:latin typeface="Roboto" pitchFamily="34" charset="0"/>
                <a:ea typeface="Roboto" pitchFamily="34" charset="-122"/>
                <a:cs typeface="Roboto" pitchFamily="34" charset="-120"/>
              </a:rPr>
              <a:t>Where Microsoft is now</a:t>
            </a:r>
            <a:endParaRPr lang="en-US" sz="28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Text 3"/>
          <p:cNvSpPr/>
          <p:nvPr/>
        </p:nvSpPr>
        <p:spPr>
          <a:xfrm>
            <a:off x="548640" y="2194560"/>
            <a:ext cx="7680960" cy="3840480"/>
          </a:xfrm>
          <a:prstGeom prst="rect">
            <a:avLst/>
          </a:prstGeom>
          <a:noFill/>
          <a:ln/>
        </p:spPr>
        <p:txBody>
          <a:bodyPr wrap="square" rtlCol="0" anchor="ctr"/>
          <a:lstStyle/>
          <a:p>
            <a:pPr indent="0" marL="0">
              <a:lnSpc>
                <a:spcPct val="150000"/>
              </a:lnSpc>
              <a:buNone/>
            </a:pPr>
            <a:r>
              <a:rPr lang="en-US" sz="1500" dirty="0">
                <a:solidFill>
                  <a:srgbClr val="404040"/>
                </a:solidFill>
                <a:latin typeface="Roboto" pitchFamily="34" charset="0"/>
                <a:ea typeface="Roboto" pitchFamily="34" charset="-122"/>
                <a:cs typeface="Roboto" pitchFamily="34" charset="-120"/>
              </a:rPr>
              <a:t>Microsoft's commitment to community is significant, with a 40-year history and over 700,000 volunteer hours reported in 2022. We have built an impressive logistical structure for participation at a global scale. However, our current framework is not consistently delivering the deeper impact we seek. Manager support for employee participation is uneven, key nonprofit partners feel under-served, and we cannot currently connect this activity back to measurable gains in employee retention or offer the ROI leadership expects.</a:t>
            </a:r>
            <a:endParaRPr lang="en-US" sz="1500" dirty="0"/>
          </a:p>
        </p:txBody>
      </p:sp>
      <p:sp>
        <p:nvSpPr>
          <p:cNvPr id="6" name="Shape 4"/>
          <p:cNvSpPr/>
          <p:nvPr/>
        </p:nvSpPr>
        <p:spPr>
          <a:xfrm>
            <a:off x="8595360" y="2194560"/>
            <a:ext cx="3108960" cy="3840480"/>
          </a:xfrm>
          <a:prstGeom prst="rect">
            <a:avLst/>
          </a:prstGeom>
          <a:solidFill>
            <a:srgbClr val="B8D8DC"/>
          </a:solidFill>
          <a:ln w="12700">
            <a:solidFill>
              <a:srgbClr val="B8D8DC"/>
            </a:solidFill>
            <a:prstDash val="solid"/>
          </a:ln>
        </p:spPr>
      </p:sp>
      <p:sp>
        <p:nvSpPr>
          <p:cNvPr id="7" name="Shape 5"/>
          <p:cNvSpPr/>
          <p:nvPr/>
        </p:nvSpPr>
        <p:spPr>
          <a:xfrm>
            <a:off x="8595360" y="2194560"/>
            <a:ext cx="91440" cy="3840480"/>
          </a:xfrm>
          <a:prstGeom prst="rect">
            <a:avLst/>
          </a:prstGeom>
          <a:solidFill>
            <a:srgbClr val="EC5C2A"/>
          </a:solidFill>
          <a:ln w="12700">
            <a:solidFill>
              <a:srgbClr val="EC5C2A"/>
            </a:solidFill>
            <a:prstDash val="solid"/>
          </a:ln>
        </p:spPr>
      </p:sp>
      <p:sp>
        <p:nvSpPr>
          <p:cNvPr id="8" name="Text 6"/>
          <p:cNvSpPr/>
          <p:nvPr/>
        </p:nvSpPr>
        <p:spPr>
          <a:xfrm>
            <a:off x="8778240" y="2377440"/>
            <a:ext cx="2743200" cy="274320"/>
          </a:xfrm>
          <a:prstGeom prst="rect">
            <a:avLst/>
          </a:prstGeom>
          <a:noFill/>
          <a:ln/>
        </p:spPr>
        <p:txBody>
          <a:bodyPr wrap="square" rtlCol="0" anchor="ctr"/>
          <a:lstStyle/>
          <a:p>
            <a:pPr indent="0" marL="0">
              <a:buNone/>
            </a:pPr>
            <a:r>
              <a:rPr lang="en-US" sz="900" b="1" spc="400" kern="0" dirty="0">
                <a:solidFill>
                  <a:srgbClr val="0A3454"/>
                </a:solidFill>
                <a:latin typeface="Roboto Condensed" pitchFamily="34" charset="0"/>
                <a:ea typeface="Roboto Condensed" pitchFamily="34" charset="-122"/>
                <a:cs typeface="Roboto Condensed" pitchFamily="34" charset="-120"/>
              </a:rPr>
              <a:t>THE READ</a:t>
            </a:r>
            <a:endParaRPr lang="en-US" sz="900" dirty="0"/>
          </a:p>
        </p:txBody>
      </p:sp>
      <p:sp>
        <p:nvSpPr>
          <p:cNvPr id="9" name="Text 7"/>
          <p:cNvSpPr/>
          <p:nvPr/>
        </p:nvSpPr>
        <p:spPr>
          <a:xfrm>
            <a:off x="8778240" y="2743200"/>
            <a:ext cx="2743200" cy="3108960"/>
          </a:xfrm>
          <a:prstGeom prst="rect">
            <a:avLst/>
          </a:prstGeom>
          <a:noFill/>
          <a:ln/>
        </p:spPr>
        <p:txBody>
          <a:bodyPr wrap="square" rtlCol="0" anchor="ctr"/>
          <a:lstStyle/>
          <a:p>
            <a:pPr indent="0" marL="0">
              <a:lnSpc>
                <a:spcPct val="130000"/>
              </a:lnSpc>
              <a:buNone/>
            </a:pPr>
            <a:r>
              <a:rPr lang="en-US" sz="1600" i="1" dirty="0">
                <a:solidFill>
                  <a:srgbClr val="0A3454"/>
                </a:solidFill>
                <a:latin typeface="Roboto" pitchFamily="34" charset="0"/>
                <a:ea typeface="Roboto" pitchFamily="34" charset="-122"/>
                <a:cs typeface="Roboto" pitchFamily="34" charset="-120"/>
              </a:rPr>
              <a:t>We've achieved massive scale in participation, but now struggle to measure the program's deeper impact on our people, partners, and business.</a:t>
            </a:r>
            <a:endParaRPr lang="en-US" sz="1600" dirty="0"/>
          </a:p>
        </p:txBody>
      </p:sp>
      <p:sp>
        <p:nvSpPr>
          <p:cNvPr id="10" name="Shape 8"/>
          <p:cNvSpPr/>
          <p:nvPr/>
        </p:nvSpPr>
        <p:spPr>
          <a:xfrm>
            <a:off x="548640" y="6355080"/>
            <a:ext cx="11094415" cy="0"/>
          </a:xfrm>
          <a:prstGeom prst="line">
            <a:avLst/>
          </a:prstGeom>
          <a:noFill/>
          <a:ln w="6350">
            <a:solidFill>
              <a:srgbClr val="C2C2C6"/>
            </a:solidFill>
            <a:prstDash val="solid"/>
          </a:ln>
        </p:spPr>
      </p:sp>
      <p:sp>
        <p:nvSpPr>
          <p:cNvPr id="11" name="Text 9"/>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12" name="Text 10"/>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THE STRUCTURAL GAP</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800" b="1" dirty="0">
                <a:solidFill>
                  <a:srgbClr val="3C3F44"/>
                </a:solidFill>
                <a:latin typeface="Roboto" pitchFamily="34" charset="0"/>
                <a:ea typeface="Roboto" pitchFamily="34" charset="-122"/>
                <a:cs typeface="Roboto" pitchFamily="34" charset="-120"/>
              </a:rPr>
              <a:t>Why most volunteer programs produce activity, not change</a:t>
            </a:r>
            <a:endParaRPr lang="en-US" sz="28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Shape 3"/>
          <p:cNvSpPr/>
          <p:nvPr/>
        </p:nvSpPr>
        <p:spPr>
          <a:xfrm>
            <a:off x="548640" y="2194560"/>
            <a:ext cx="1828800" cy="731520"/>
          </a:xfrm>
          <a:prstGeom prst="roundRect">
            <a:avLst>
              <a:gd name="adj" fmla="val 12500"/>
            </a:avLst>
          </a:prstGeom>
          <a:solidFill>
            <a:srgbClr val="0A3454"/>
          </a:solidFill>
          <a:ln w="12700">
            <a:solidFill>
              <a:srgbClr val="0A3454"/>
            </a:solidFill>
            <a:prstDash val="solid"/>
          </a:ln>
        </p:spPr>
      </p:sp>
      <p:sp>
        <p:nvSpPr>
          <p:cNvPr id="6" name="Text 4"/>
          <p:cNvSpPr/>
          <p:nvPr/>
        </p:nvSpPr>
        <p:spPr>
          <a:xfrm>
            <a:off x="548640" y="2194560"/>
            <a:ext cx="1828800" cy="731520"/>
          </a:xfrm>
          <a:prstGeom prst="rect">
            <a:avLst/>
          </a:prstGeom>
          <a:noFill/>
          <a:ln/>
        </p:spPr>
        <p:txBody>
          <a:bodyPr wrap="square" rtlCol="0" anchor="ctr"/>
          <a:lstStyle/>
          <a:p>
            <a:pPr algn="ctr" indent="0" marL="0">
              <a:buNone/>
            </a:pPr>
            <a:r>
              <a:rPr lang="en-US" sz="1200" b="1" spc="200" kern="0" dirty="0">
                <a:solidFill>
                  <a:srgbClr val="FFFFFF"/>
                </a:solidFill>
                <a:latin typeface="Roboto" pitchFamily="34" charset="0"/>
                <a:ea typeface="Roboto" pitchFamily="34" charset="-122"/>
                <a:cs typeface="Roboto" pitchFamily="34" charset="-120"/>
              </a:rPr>
              <a:t>RECRUIT</a:t>
            </a:r>
            <a:endParaRPr lang="en-US" sz="1200" dirty="0"/>
          </a:p>
        </p:txBody>
      </p:sp>
      <p:sp>
        <p:nvSpPr>
          <p:cNvPr id="7" name="Shape 5"/>
          <p:cNvSpPr/>
          <p:nvPr/>
        </p:nvSpPr>
        <p:spPr>
          <a:xfrm>
            <a:off x="2377440" y="2560320"/>
            <a:ext cx="274320" cy="0"/>
          </a:xfrm>
          <a:prstGeom prst="line">
            <a:avLst/>
          </a:prstGeom>
          <a:noFill/>
          <a:ln w="12700">
            <a:solidFill>
              <a:srgbClr val="6B6B6F"/>
            </a:solidFill>
            <a:prstDash val="solid"/>
          </a:ln>
        </p:spPr>
      </p:sp>
      <p:sp>
        <p:nvSpPr>
          <p:cNvPr id="8" name="Shape 6"/>
          <p:cNvSpPr/>
          <p:nvPr/>
        </p:nvSpPr>
        <p:spPr>
          <a:xfrm>
            <a:off x="2651760" y="2194560"/>
            <a:ext cx="1828800" cy="731520"/>
          </a:xfrm>
          <a:prstGeom prst="roundRect">
            <a:avLst>
              <a:gd name="adj" fmla="val 12500"/>
            </a:avLst>
          </a:prstGeom>
          <a:solidFill>
            <a:srgbClr val="FFFFFF"/>
          </a:solidFill>
          <a:ln w="25400">
            <a:solidFill>
              <a:srgbClr val="981C20"/>
            </a:solidFill>
            <a:prstDash val="dash"/>
          </a:ln>
        </p:spPr>
      </p:sp>
      <p:sp>
        <p:nvSpPr>
          <p:cNvPr id="9" name="Text 7"/>
          <p:cNvSpPr/>
          <p:nvPr/>
        </p:nvSpPr>
        <p:spPr>
          <a:xfrm>
            <a:off x="2651760" y="2194560"/>
            <a:ext cx="1828800" cy="731520"/>
          </a:xfrm>
          <a:prstGeom prst="rect">
            <a:avLst/>
          </a:prstGeom>
          <a:noFill/>
          <a:ln/>
        </p:spPr>
        <p:txBody>
          <a:bodyPr wrap="square" rtlCol="0" anchor="ctr"/>
          <a:lstStyle/>
          <a:p>
            <a:pPr algn="ctr" indent="0" marL="0">
              <a:buNone/>
            </a:pPr>
            <a:r>
              <a:rPr lang="en-US" sz="1200" b="1" spc="200" kern="0" dirty="0">
                <a:solidFill>
                  <a:srgbClr val="981C20"/>
                </a:solidFill>
                <a:latin typeface="Roboto" pitchFamily="34" charset="0"/>
                <a:ea typeface="Roboto" pitchFamily="34" charset="-122"/>
                <a:cs typeface="Roboto" pitchFamily="34" charset="-120"/>
              </a:rPr>
              <a:t>BRIEF</a:t>
            </a:r>
            <a:endParaRPr lang="en-US" sz="1200" dirty="0"/>
          </a:p>
        </p:txBody>
      </p:sp>
      <p:sp>
        <p:nvSpPr>
          <p:cNvPr id="10" name="Text 8"/>
          <p:cNvSpPr/>
          <p:nvPr/>
        </p:nvSpPr>
        <p:spPr>
          <a:xfrm>
            <a:off x="2651760" y="2971800"/>
            <a:ext cx="1828800" cy="274320"/>
          </a:xfrm>
          <a:prstGeom prst="rect">
            <a:avLst/>
          </a:prstGeom>
          <a:noFill/>
          <a:ln/>
        </p:spPr>
        <p:txBody>
          <a:bodyPr wrap="square" rtlCol="0" anchor="ctr"/>
          <a:lstStyle/>
          <a:p>
            <a:pPr algn="ctr" indent="0" marL="0">
              <a:buNone/>
            </a:pPr>
            <a:r>
              <a:rPr lang="en-US" sz="900" b="1" spc="300" kern="0" dirty="0">
                <a:solidFill>
                  <a:srgbClr val="981C20"/>
                </a:solidFill>
                <a:latin typeface="Roboto Condensed" pitchFamily="34" charset="0"/>
                <a:ea typeface="Roboto Condensed" pitchFamily="34" charset="-122"/>
                <a:cs typeface="Roboto Condensed" pitchFamily="34" charset="-120"/>
              </a:rPr>
              <a:t>MISSING</a:t>
            </a:r>
            <a:endParaRPr lang="en-US" sz="900" dirty="0"/>
          </a:p>
        </p:txBody>
      </p:sp>
      <p:sp>
        <p:nvSpPr>
          <p:cNvPr id="11" name="Shape 9"/>
          <p:cNvSpPr/>
          <p:nvPr/>
        </p:nvSpPr>
        <p:spPr>
          <a:xfrm>
            <a:off x="4480560" y="2560320"/>
            <a:ext cx="274320" cy="0"/>
          </a:xfrm>
          <a:prstGeom prst="line">
            <a:avLst/>
          </a:prstGeom>
          <a:noFill/>
          <a:ln w="12700">
            <a:solidFill>
              <a:srgbClr val="6B6B6F"/>
            </a:solidFill>
            <a:prstDash val="solid"/>
          </a:ln>
        </p:spPr>
      </p:sp>
      <p:sp>
        <p:nvSpPr>
          <p:cNvPr id="12" name="Shape 10"/>
          <p:cNvSpPr/>
          <p:nvPr/>
        </p:nvSpPr>
        <p:spPr>
          <a:xfrm>
            <a:off x="4754880" y="2194560"/>
            <a:ext cx="1828800" cy="731520"/>
          </a:xfrm>
          <a:prstGeom prst="roundRect">
            <a:avLst>
              <a:gd name="adj" fmla="val 12500"/>
            </a:avLst>
          </a:prstGeom>
          <a:solidFill>
            <a:srgbClr val="0A3454"/>
          </a:solidFill>
          <a:ln w="12700">
            <a:solidFill>
              <a:srgbClr val="0A3454"/>
            </a:solidFill>
            <a:prstDash val="solid"/>
          </a:ln>
        </p:spPr>
      </p:sp>
      <p:sp>
        <p:nvSpPr>
          <p:cNvPr id="13" name="Text 11"/>
          <p:cNvSpPr/>
          <p:nvPr/>
        </p:nvSpPr>
        <p:spPr>
          <a:xfrm>
            <a:off x="4754880" y="2194560"/>
            <a:ext cx="1828800" cy="731520"/>
          </a:xfrm>
          <a:prstGeom prst="rect">
            <a:avLst/>
          </a:prstGeom>
          <a:noFill/>
          <a:ln/>
        </p:spPr>
        <p:txBody>
          <a:bodyPr wrap="square" rtlCol="0" anchor="ctr"/>
          <a:lstStyle/>
          <a:p>
            <a:pPr algn="ctr" indent="0" marL="0">
              <a:buNone/>
            </a:pPr>
            <a:r>
              <a:rPr lang="en-US" sz="1200" b="1" spc="200" kern="0" dirty="0">
                <a:solidFill>
                  <a:srgbClr val="FFFFFF"/>
                </a:solidFill>
                <a:latin typeface="Roboto" pitchFamily="34" charset="0"/>
                <a:ea typeface="Roboto" pitchFamily="34" charset="-122"/>
                <a:cs typeface="Roboto" pitchFamily="34" charset="-120"/>
              </a:rPr>
              <a:t>EXPERIENCE</a:t>
            </a:r>
            <a:endParaRPr lang="en-US" sz="1200" dirty="0"/>
          </a:p>
        </p:txBody>
      </p:sp>
      <p:sp>
        <p:nvSpPr>
          <p:cNvPr id="14" name="Shape 12"/>
          <p:cNvSpPr/>
          <p:nvPr/>
        </p:nvSpPr>
        <p:spPr>
          <a:xfrm>
            <a:off x="6583680" y="2560320"/>
            <a:ext cx="274320" cy="0"/>
          </a:xfrm>
          <a:prstGeom prst="line">
            <a:avLst/>
          </a:prstGeom>
          <a:noFill/>
          <a:ln w="12700">
            <a:solidFill>
              <a:srgbClr val="6B6B6F"/>
            </a:solidFill>
            <a:prstDash val="solid"/>
          </a:ln>
        </p:spPr>
      </p:sp>
      <p:sp>
        <p:nvSpPr>
          <p:cNvPr id="15" name="Shape 13"/>
          <p:cNvSpPr/>
          <p:nvPr/>
        </p:nvSpPr>
        <p:spPr>
          <a:xfrm>
            <a:off x="6858000" y="2194560"/>
            <a:ext cx="1828800" cy="731520"/>
          </a:xfrm>
          <a:prstGeom prst="roundRect">
            <a:avLst>
              <a:gd name="adj" fmla="val 12500"/>
            </a:avLst>
          </a:prstGeom>
          <a:solidFill>
            <a:srgbClr val="FFFFFF"/>
          </a:solidFill>
          <a:ln w="25400">
            <a:solidFill>
              <a:srgbClr val="981C20"/>
            </a:solidFill>
            <a:prstDash val="dash"/>
          </a:ln>
        </p:spPr>
      </p:sp>
      <p:sp>
        <p:nvSpPr>
          <p:cNvPr id="16" name="Text 14"/>
          <p:cNvSpPr/>
          <p:nvPr/>
        </p:nvSpPr>
        <p:spPr>
          <a:xfrm>
            <a:off x="6858000" y="2194560"/>
            <a:ext cx="1828800" cy="731520"/>
          </a:xfrm>
          <a:prstGeom prst="rect">
            <a:avLst/>
          </a:prstGeom>
          <a:noFill/>
          <a:ln/>
        </p:spPr>
        <p:txBody>
          <a:bodyPr wrap="square" rtlCol="0" anchor="ctr"/>
          <a:lstStyle/>
          <a:p>
            <a:pPr algn="ctr" indent="0" marL="0">
              <a:buNone/>
            </a:pPr>
            <a:r>
              <a:rPr lang="en-US" sz="1200" b="1" spc="200" kern="0" dirty="0">
                <a:solidFill>
                  <a:srgbClr val="981C20"/>
                </a:solidFill>
                <a:latin typeface="Roboto" pitchFamily="34" charset="0"/>
                <a:ea typeface="Roboto" pitchFamily="34" charset="-122"/>
                <a:cs typeface="Roboto" pitchFamily="34" charset="-120"/>
              </a:rPr>
              <a:t>DEBRIEF</a:t>
            </a:r>
            <a:endParaRPr lang="en-US" sz="1200" dirty="0"/>
          </a:p>
        </p:txBody>
      </p:sp>
      <p:sp>
        <p:nvSpPr>
          <p:cNvPr id="17" name="Text 15"/>
          <p:cNvSpPr/>
          <p:nvPr/>
        </p:nvSpPr>
        <p:spPr>
          <a:xfrm>
            <a:off x="6858000" y="2971800"/>
            <a:ext cx="1828800" cy="274320"/>
          </a:xfrm>
          <a:prstGeom prst="rect">
            <a:avLst/>
          </a:prstGeom>
          <a:noFill/>
          <a:ln/>
        </p:spPr>
        <p:txBody>
          <a:bodyPr wrap="square" rtlCol="0" anchor="ctr"/>
          <a:lstStyle/>
          <a:p>
            <a:pPr algn="ctr" indent="0" marL="0">
              <a:buNone/>
            </a:pPr>
            <a:r>
              <a:rPr lang="en-US" sz="900" b="1" spc="300" kern="0" dirty="0">
                <a:solidFill>
                  <a:srgbClr val="981C20"/>
                </a:solidFill>
                <a:latin typeface="Roboto Condensed" pitchFamily="34" charset="0"/>
                <a:ea typeface="Roboto Condensed" pitchFamily="34" charset="-122"/>
                <a:cs typeface="Roboto Condensed" pitchFamily="34" charset="-120"/>
              </a:rPr>
              <a:t>MISSING</a:t>
            </a:r>
            <a:endParaRPr lang="en-US" sz="900" dirty="0"/>
          </a:p>
        </p:txBody>
      </p:sp>
      <p:sp>
        <p:nvSpPr>
          <p:cNvPr id="18" name="Shape 16"/>
          <p:cNvSpPr/>
          <p:nvPr/>
        </p:nvSpPr>
        <p:spPr>
          <a:xfrm>
            <a:off x="8686800" y="2560320"/>
            <a:ext cx="274320" cy="0"/>
          </a:xfrm>
          <a:prstGeom prst="line">
            <a:avLst/>
          </a:prstGeom>
          <a:noFill/>
          <a:ln w="12700">
            <a:solidFill>
              <a:srgbClr val="6B6B6F"/>
            </a:solidFill>
            <a:prstDash val="solid"/>
          </a:ln>
        </p:spPr>
      </p:sp>
      <p:sp>
        <p:nvSpPr>
          <p:cNvPr id="19" name="Shape 17"/>
          <p:cNvSpPr/>
          <p:nvPr/>
        </p:nvSpPr>
        <p:spPr>
          <a:xfrm>
            <a:off x="8961120" y="2194560"/>
            <a:ext cx="1828800" cy="731520"/>
          </a:xfrm>
          <a:prstGeom prst="roundRect">
            <a:avLst>
              <a:gd name="adj" fmla="val 12500"/>
            </a:avLst>
          </a:prstGeom>
          <a:solidFill>
            <a:srgbClr val="0A3454"/>
          </a:solidFill>
          <a:ln w="12700">
            <a:solidFill>
              <a:srgbClr val="0A3454"/>
            </a:solidFill>
            <a:prstDash val="solid"/>
          </a:ln>
        </p:spPr>
      </p:sp>
      <p:sp>
        <p:nvSpPr>
          <p:cNvPr id="20" name="Text 18"/>
          <p:cNvSpPr/>
          <p:nvPr/>
        </p:nvSpPr>
        <p:spPr>
          <a:xfrm>
            <a:off x="8961120" y="2194560"/>
            <a:ext cx="1828800" cy="731520"/>
          </a:xfrm>
          <a:prstGeom prst="rect">
            <a:avLst/>
          </a:prstGeom>
          <a:noFill/>
          <a:ln/>
        </p:spPr>
        <p:txBody>
          <a:bodyPr wrap="square" rtlCol="0" anchor="ctr"/>
          <a:lstStyle/>
          <a:p>
            <a:pPr algn="ctr" indent="0" marL="0">
              <a:buNone/>
            </a:pPr>
            <a:r>
              <a:rPr lang="en-US" sz="1200" b="1" spc="200" kern="0" dirty="0">
                <a:solidFill>
                  <a:srgbClr val="FFFFFF"/>
                </a:solidFill>
                <a:latin typeface="Roboto" pitchFamily="34" charset="0"/>
                <a:ea typeface="Roboto" pitchFamily="34" charset="-122"/>
                <a:cs typeface="Roboto" pitchFamily="34" charset="-120"/>
              </a:rPr>
              <a:t>RETURN</a:t>
            </a:r>
            <a:endParaRPr lang="en-US" sz="1200" dirty="0"/>
          </a:p>
        </p:txBody>
      </p:sp>
      <p:sp>
        <p:nvSpPr>
          <p:cNvPr id="21" name="Text 19"/>
          <p:cNvSpPr/>
          <p:nvPr/>
        </p:nvSpPr>
        <p:spPr>
          <a:xfrm>
            <a:off x="548640" y="3840480"/>
            <a:ext cx="3108960" cy="274320"/>
          </a:xfrm>
          <a:prstGeom prst="rect">
            <a:avLst/>
          </a:prstGeom>
          <a:noFill/>
          <a:ln/>
        </p:spPr>
        <p:txBody>
          <a:bodyPr wrap="square" rtlCol="0" anchor="ctr"/>
          <a:lstStyle/>
          <a:p>
            <a:pPr indent="0" marL="0">
              <a:buNone/>
            </a:pPr>
            <a:r>
              <a:rPr lang="en-US" sz="1000" b="1" spc="400" kern="0" dirty="0">
                <a:solidFill>
                  <a:srgbClr val="EC5C2A"/>
                </a:solidFill>
                <a:latin typeface="Roboto Condensed" pitchFamily="34" charset="0"/>
                <a:ea typeface="Roboto Condensed" pitchFamily="34" charset="-122"/>
                <a:cs typeface="Roboto Condensed" pitchFamily="34" charset="-120"/>
              </a:rPr>
              <a:t>BEFORE</a:t>
            </a:r>
            <a:endParaRPr lang="en-US" sz="1000" dirty="0"/>
          </a:p>
        </p:txBody>
      </p:sp>
      <p:sp>
        <p:nvSpPr>
          <p:cNvPr id="22" name="Text 20"/>
          <p:cNvSpPr/>
          <p:nvPr/>
        </p:nvSpPr>
        <p:spPr>
          <a:xfrm>
            <a:off x="548640" y="4160520"/>
            <a:ext cx="3108960" cy="457200"/>
          </a:xfrm>
          <a:prstGeom prst="rect">
            <a:avLst/>
          </a:prstGeom>
          <a:noFill/>
          <a:ln/>
        </p:spPr>
        <p:txBody>
          <a:bodyPr wrap="square" rtlCol="0" anchor="ctr"/>
          <a:lstStyle/>
          <a:p>
            <a:pPr indent="0" marL="0">
              <a:buNone/>
            </a:pPr>
            <a:r>
              <a:rPr lang="en-US" sz="1600" b="1" dirty="0">
                <a:solidFill>
                  <a:srgbClr val="0A3454"/>
                </a:solidFill>
                <a:latin typeface="Roboto" pitchFamily="34" charset="0"/>
                <a:ea typeface="Roboto" pitchFamily="34" charset="-122"/>
                <a:cs typeface="Roboto" pitchFamily="34" charset="-120"/>
              </a:rPr>
              <a:t>Without a brief</a:t>
            </a:r>
            <a:endParaRPr lang="en-US" sz="1600" dirty="0"/>
          </a:p>
        </p:txBody>
      </p:sp>
      <p:sp>
        <p:nvSpPr>
          <p:cNvPr id="23" name="Text 21"/>
          <p:cNvSpPr/>
          <p:nvPr/>
        </p:nvSpPr>
        <p:spPr>
          <a:xfrm>
            <a:off x="548640" y="4663440"/>
            <a:ext cx="3108960" cy="1554480"/>
          </a:xfrm>
          <a:prstGeom prst="rect">
            <a:avLst/>
          </a:prstGeom>
          <a:noFill/>
          <a:ln/>
        </p:spPr>
        <p:txBody>
          <a:bodyPr wrap="square" rtlCol="0" anchor="ctr"/>
          <a:lstStyle/>
          <a:p>
            <a:pPr indent="0" marL="0">
              <a:lnSpc>
                <a:spcPct val="140000"/>
              </a:lnSpc>
              <a:buNone/>
            </a:pPr>
            <a:r>
              <a:rPr lang="en-US" sz="1100" dirty="0">
                <a:solidFill>
                  <a:srgbClr val="404040"/>
                </a:solidFill>
                <a:latin typeface="Roboto" pitchFamily="34" charset="0"/>
                <a:ea typeface="Roboto" pitchFamily="34" charset="-122"/>
                <a:cs typeface="Roboto" pitchFamily="34" charset="-120"/>
              </a:rPr>
              <a:t>Volunteers arrive in task mode. The part of the brain that processes others as fully human [1] never activates.</a:t>
            </a:r>
            <a:endParaRPr lang="en-US" sz="1100" dirty="0"/>
          </a:p>
        </p:txBody>
      </p:sp>
      <p:sp>
        <p:nvSpPr>
          <p:cNvPr id="24" name="Text 22"/>
          <p:cNvSpPr/>
          <p:nvPr/>
        </p:nvSpPr>
        <p:spPr>
          <a:xfrm>
            <a:off x="4572000" y="3840480"/>
            <a:ext cx="3108960" cy="274320"/>
          </a:xfrm>
          <a:prstGeom prst="rect">
            <a:avLst/>
          </a:prstGeom>
          <a:noFill/>
          <a:ln/>
        </p:spPr>
        <p:txBody>
          <a:bodyPr wrap="square" rtlCol="0" anchor="ctr"/>
          <a:lstStyle/>
          <a:p>
            <a:pPr indent="0" marL="0">
              <a:buNone/>
            </a:pPr>
            <a:r>
              <a:rPr lang="en-US" sz="1000" b="1" spc="400" kern="0" dirty="0">
                <a:solidFill>
                  <a:srgbClr val="EC5C2A"/>
                </a:solidFill>
                <a:latin typeface="Roboto Condensed" pitchFamily="34" charset="0"/>
                <a:ea typeface="Roboto Condensed" pitchFamily="34" charset="-122"/>
                <a:cs typeface="Roboto Condensed" pitchFamily="34" charset="-120"/>
              </a:rPr>
              <a:t>DURING</a:t>
            </a:r>
            <a:endParaRPr lang="en-US" sz="1000" dirty="0"/>
          </a:p>
        </p:txBody>
      </p:sp>
      <p:sp>
        <p:nvSpPr>
          <p:cNvPr id="25" name="Text 23"/>
          <p:cNvSpPr/>
          <p:nvPr/>
        </p:nvSpPr>
        <p:spPr>
          <a:xfrm>
            <a:off x="4572000" y="4160520"/>
            <a:ext cx="3108960" cy="457200"/>
          </a:xfrm>
          <a:prstGeom prst="rect">
            <a:avLst/>
          </a:prstGeom>
          <a:noFill/>
          <a:ln/>
        </p:spPr>
        <p:txBody>
          <a:bodyPr wrap="square" rtlCol="0" anchor="ctr"/>
          <a:lstStyle/>
          <a:p>
            <a:pPr indent="0" marL="0">
              <a:buNone/>
            </a:pPr>
            <a:r>
              <a:rPr lang="en-US" sz="1600" b="1" dirty="0">
                <a:solidFill>
                  <a:srgbClr val="0A3454"/>
                </a:solidFill>
                <a:latin typeface="Roboto" pitchFamily="34" charset="0"/>
                <a:ea typeface="Roboto" pitchFamily="34" charset="-122"/>
                <a:cs typeface="Roboto" pitchFamily="34" charset="-120"/>
              </a:rPr>
              <a:t>Without a guide</a:t>
            </a:r>
            <a:endParaRPr lang="en-US" sz="1600" dirty="0"/>
          </a:p>
        </p:txBody>
      </p:sp>
      <p:sp>
        <p:nvSpPr>
          <p:cNvPr id="26" name="Text 24"/>
          <p:cNvSpPr/>
          <p:nvPr/>
        </p:nvSpPr>
        <p:spPr>
          <a:xfrm>
            <a:off x="4572000" y="4663440"/>
            <a:ext cx="3108960" cy="1554480"/>
          </a:xfrm>
          <a:prstGeom prst="rect">
            <a:avLst/>
          </a:prstGeom>
          <a:noFill/>
          <a:ln/>
        </p:spPr>
        <p:txBody>
          <a:bodyPr wrap="square" rtlCol="0" anchor="ctr"/>
          <a:lstStyle/>
          <a:p>
            <a:pPr indent="0" marL="0">
              <a:lnSpc>
                <a:spcPct val="140000"/>
              </a:lnSpc>
              <a:buNone/>
            </a:pPr>
            <a:r>
              <a:rPr lang="en-US" sz="1100" dirty="0">
                <a:solidFill>
                  <a:srgbClr val="404040"/>
                </a:solidFill>
                <a:latin typeface="Roboto" pitchFamily="34" charset="0"/>
                <a:ea typeface="Roboto" pitchFamily="34" charset="-122"/>
                <a:cs typeface="Roboto" pitchFamily="34" charset="-120"/>
              </a:rPr>
              <a:t>First-timers and veterans get the same assignment. The experience is pleasant but flat. Nobody calibrates challenge to contribution.</a:t>
            </a:r>
            <a:endParaRPr lang="en-US" sz="1100" dirty="0"/>
          </a:p>
        </p:txBody>
      </p:sp>
      <p:sp>
        <p:nvSpPr>
          <p:cNvPr id="27" name="Text 25"/>
          <p:cNvSpPr/>
          <p:nvPr/>
        </p:nvSpPr>
        <p:spPr>
          <a:xfrm>
            <a:off x="8595360" y="3840480"/>
            <a:ext cx="3108960" cy="274320"/>
          </a:xfrm>
          <a:prstGeom prst="rect">
            <a:avLst/>
          </a:prstGeom>
          <a:noFill/>
          <a:ln/>
        </p:spPr>
        <p:txBody>
          <a:bodyPr wrap="square" rtlCol="0" anchor="ctr"/>
          <a:lstStyle/>
          <a:p>
            <a:pPr indent="0" marL="0">
              <a:buNone/>
            </a:pPr>
            <a:r>
              <a:rPr lang="en-US" sz="1000" b="1" spc="400" kern="0" dirty="0">
                <a:solidFill>
                  <a:srgbClr val="EC5C2A"/>
                </a:solidFill>
                <a:latin typeface="Roboto Condensed" pitchFamily="34" charset="0"/>
                <a:ea typeface="Roboto Condensed" pitchFamily="34" charset="-122"/>
                <a:cs typeface="Roboto Condensed" pitchFamily="34" charset="-120"/>
              </a:rPr>
              <a:t>AFTER</a:t>
            </a:r>
            <a:endParaRPr lang="en-US" sz="1000" dirty="0"/>
          </a:p>
        </p:txBody>
      </p:sp>
      <p:sp>
        <p:nvSpPr>
          <p:cNvPr id="28" name="Text 26"/>
          <p:cNvSpPr/>
          <p:nvPr/>
        </p:nvSpPr>
        <p:spPr>
          <a:xfrm>
            <a:off x="8595360" y="4160520"/>
            <a:ext cx="3108960" cy="457200"/>
          </a:xfrm>
          <a:prstGeom prst="rect">
            <a:avLst/>
          </a:prstGeom>
          <a:noFill/>
          <a:ln/>
        </p:spPr>
        <p:txBody>
          <a:bodyPr wrap="square" rtlCol="0" anchor="ctr"/>
          <a:lstStyle/>
          <a:p>
            <a:pPr indent="0" marL="0">
              <a:buNone/>
            </a:pPr>
            <a:r>
              <a:rPr lang="en-US" sz="1600" b="1" dirty="0">
                <a:solidFill>
                  <a:srgbClr val="0A3454"/>
                </a:solidFill>
                <a:latin typeface="Roboto" pitchFamily="34" charset="0"/>
                <a:ea typeface="Roboto" pitchFamily="34" charset="-122"/>
                <a:cs typeface="Roboto" pitchFamily="34" charset="-120"/>
              </a:rPr>
              <a:t>Without a debrief</a:t>
            </a:r>
            <a:endParaRPr lang="en-US" sz="1600" dirty="0"/>
          </a:p>
        </p:txBody>
      </p:sp>
      <p:sp>
        <p:nvSpPr>
          <p:cNvPr id="29" name="Text 27"/>
          <p:cNvSpPr/>
          <p:nvPr/>
        </p:nvSpPr>
        <p:spPr>
          <a:xfrm>
            <a:off x="8595360" y="4663440"/>
            <a:ext cx="3108960" cy="1554480"/>
          </a:xfrm>
          <a:prstGeom prst="rect">
            <a:avLst/>
          </a:prstGeom>
          <a:noFill/>
          <a:ln/>
        </p:spPr>
        <p:txBody>
          <a:bodyPr wrap="square" rtlCol="0" anchor="ctr"/>
          <a:lstStyle/>
          <a:p>
            <a:pPr indent="0" marL="0">
              <a:lnSpc>
                <a:spcPct val="140000"/>
              </a:lnSpc>
              <a:buNone/>
            </a:pPr>
            <a:r>
              <a:rPr lang="en-US" sz="1100" dirty="0">
                <a:solidFill>
                  <a:srgbClr val="404040"/>
                </a:solidFill>
                <a:latin typeface="Roboto" pitchFamily="34" charset="0"/>
                <a:ea typeface="Roboto" pitchFamily="34" charset="-122"/>
                <a:cs typeface="Roboto" pitchFamily="34" charset="-120"/>
              </a:rPr>
              <a:t>The 0–40 minute window for memory consolidation [2] closes. Champions burn out — repeated exposure without structured processing activates pain-sharing rather than compassion circuits [3].</a:t>
            </a:r>
            <a:endParaRPr lang="en-US" sz="1100" dirty="0"/>
          </a:p>
        </p:txBody>
      </p:sp>
      <p:sp>
        <p:nvSpPr>
          <p:cNvPr id="30" name="Shape 28"/>
          <p:cNvSpPr/>
          <p:nvPr/>
        </p:nvSpPr>
        <p:spPr>
          <a:xfrm>
            <a:off x="548640" y="6355080"/>
            <a:ext cx="11094415" cy="0"/>
          </a:xfrm>
          <a:prstGeom prst="line">
            <a:avLst/>
          </a:prstGeom>
          <a:noFill/>
          <a:ln w="6350">
            <a:solidFill>
              <a:srgbClr val="C2C2C6"/>
            </a:solidFill>
            <a:prstDash val="solid"/>
          </a:ln>
        </p:spPr>
      </p:sp>
      <p:sp>
        <p:nvSpPr>
          <p:cNvPr id="31" name="Text 29"/>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32" name="Text 30"/>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HOW ADULTS CHANGE PRACTICE</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800" b="1" dirty="0">
                <a:solidFill>
                  <a:srgbClr val="3C3F44"/>
                </a:solidFill>
                <a:latin typeface="Roboto" pitchFamily="34" charset="0"/>
                <a:ea typeface="Roboto" pitchFamily="34" charset="-122"/>
                <a:cs typeface="Roboto" pitchFamily="34" charset="-120"/>
              </a:rPr>
              <a:t>Why immersive learning changes practice, not just knowledge</a:t>
            </a:r>
            <a:endParaRPr lang="en-US" sz="28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Shape 3"/>
          <p:cNvSpPr/>
          <p:nvPr/>
        </p:nvSpPr>
        <p:spPr>
          <a:xfrm>
            <a:off x="548640" y="2194560"/>
            <a:ext cx="2697480" cy="3657600"/>
          </a:xfrm>
          <a:prstGeom prst="roundRect">
            <a:avLst>
              <a:gd name="adj" fmla="val 2712"/>
            </a:avLst>
          </a:prstGeom>
          <a:solidFill>
            <a:srgbClr val="F6F7F8"/>
          </a:solidFill>
          <a:ln w="6350">
            <a:solidFill>
              <a:srgbClr val="C2C2C6"/>
            </a:solidFill>
            <a:prstDash val="solid"/>
          </a:ln>
        </p:spPr>
      </p:sp>
      <p:sp>
        <p:nvSpPr>
          <p:cNvPr id="6" name="Shape 4"/>
          <p:cNvSpPr/>
          <p:nvPr/>
        </p:nvSpPr>
        <p:spPr>
          <a:xfrm>
            <a:off x="777240" y="2423160"/>
            <a:ext cx="640080" cy="640080"/>
          </a:xfrm>
          <a:prstGeom prst="ellipse">
            <a:avLst/>
          </a:prstGeom>
          <a:solidFill>
            <a:srgbClr val="EC5C2A"/>
          </a:solidFill>
          <a:ln w="12700">
            <a:solidFill>
              <a:srgbClr val="EC5C2A"/>
            </a:solidFill>
            <a:prstDash val="solid"/>
          </a:ln>
        </p:spPr>
      </p:sp>
      <p:sp>
        <p:nvSpPr>
          <p:cNvPr id="7" name="Text 5"/>
          <p:cNvSpPr/>
          <p:nvPr/>
        </p:nvSpPr>
        <p:spPr>
          <a:xfrm>
            <a:off x="777240" y="2423160"/>
            <a:ext cx="640080" cy="640080"/>
          </a:xfrm>
          <a:prstGeom prst="rect">
            <a:avLst/>
          </a:prstGeom>
          <a:noFill/>
          <a:ln/>
        </p:spPr>
        <p:txBody>
          <a:bodyPr wrap="square" rtlCol="0" anchor="ctr"/>
          <a:lstStyle/>
          <a:p>
            <a:pPr algn="ctr" indent="0" marL="0">
              <a:buNone/>
            </a:pPr>
            <a:r>
              <a:rPr lang="en-US" sz="1300" b="1" dirty="0">
                <a:solidFill>
                  <a:srgbClr val="FFFFFF"/>
                </a:solidFill>
                <a:latin typeface="Roboto" pitchFamily="34" charset="0"/>
                <a:ea typeface="Roboto" pitchFamily="34" charset="-122"/>
                <a:cs typeface="Roboto" pitchFamily="34" charset="-120"/>
              </a:rPr>
              <a:t>01</a:t>
            </a:r>
            <a:endParaRPr lang="en-US" sz="1300" dirty="0"/>
          </a:p>
        </p:txBody>
      </p:sp>
      <p:sp>
        <p:nvSpPr>
          <p:cNvPr id="8" name="Text 6"/>
          <p:cNvSpPr/>
          <p:nvPr/>
        </p:nvSpPr>
        <p:spPr>
          <a:xfrm>
            <a:off x="777240" y="3200400"/>
            <a:ext cx="2331720" cy="822960"/>
          </a:xfrm>
          <a:prstGeom prst="rect">
            <a:avLst/>
          </a:prstGeom>
          <a:noFill/>
          <a:ln/>
        </p:spPr>
        <p:txBody>
          <a:bodyPr wrap="square" rtlCol="0" anchor="ctr"/>
          <a:lstStyle/>
          <a:p>
            <a:pPr indent="0" marL="0">
              <a:buNone/>
            </a:pPr>
            <a:r>
              <a:rPr lang="en-US" sz="1400" b="1" dirty="0">
                <a:solidFill>
                  <a:srgbClr val="0A3454"/>
                </a:solidFill>
                <a:latin typeface="Roboto" pitchFamily="34" charset="0"/>
                <a:ea typeface="Roboto" pitchFamily="34" charset="-122"/>
                <a:cs typeface="Roboto" pitchFamily="34" charset="-120"/>
              </a:rPr>
              <a:t>Practice, not lecture</a:t>
            </a:r>
            <a:endParaRPr lang="en-US" sz="1400" dirty="0"/>
          </a:p>
        </p:txBody>
      </p:sp>
      <p:sp>
        <p:nvSpPr>
          <p:cNvPr id="9" name="Text 7"/>
          <p:cNvSpPr/>
          <p:nvPr/>
        </p:nvSpPr>
        <p:spPr>
          <a:xfrm>
            <a:off x="777240" y="4023360"/>
            <a:ext cx="2331720" cy="1737360"/>
          </a:xfrm>
          <a:prstGeom prst="rect">
            <a:avLst/>
          </a:prstGeom>
          <a:noFill/>
          <a:ln/>
        </p:spPr>
        <p:txBody>
          <a:bodyPr wrap="square" rtlCol="0" anchor="ctr"/>
          <a:lstStyle/>
          <a:p>
            <a:pPr indent="0" marL="0">
              <a:lnSpc>
                <a:spcPct val="140000"/>
              </a:lnSpc>
              <a:buNone/>
            </a:pPr>
            <a:r>
              <a:rPr lang="en-US" sz="1050" dirty="0">
                <a:solidFill>
                  <a:srgbClr val="404040"/>
                </a:solidFill>
                <a:latin typeface="Roboto" pitchFamily="34" charset="0"/>
                <a:ea typeface="Roboto" pitchFamily="34" charset="-122"/>
                <a:cs typeface="Roboto" pitchFamily="34" charset="-120"/>
              </a:rPr>
              <a:t>Participants conduct real Briefs and Debriefs with live volunteers. Skill acquisition requires doing, not watching. [9]</a:t>
            </a:r>
            <a:endParaRPr lang="en-US" sz="1050" dirty="0"/>
          </a:p>
        </p:txBody>
      </p:sp>
      <p:sp>
        <p:nvSpPr>
          <p:cNvPr id="10" name="Shape 8"/>
          <p:cNvSpPr/>
          <p:nvPr/>
        </p:nvSpPr>
        <p:spPr>
          <a:xfrm>
            <a:off x="3429000" y="2194560"/>
            <a:ext cx="2697480" cy="3657600"/>
          </a:xfrm>
          <a:prstGeom prst="roundRect">
            <a:avLst>
              <a:gd name="adj" fmla="val 2712"/>
            </a:avLst>
          </a:prstGeom>
          <a:solidFill>
            <a:srgbClr val="F6F7F8"/>
          </a:solidFill>
          <a:ln w="6350">
            <a:solidFill>
              <a:srgbClr val="C2C2C6"/>
            </a:solidFill>
            <a:prstDash val="solid"/>
          </a:ln>
        </p:spPr>
      </p:sp>
      <p:sp>
        <p:nvSpPr>
          <p:cNvPr id="11" name="Shape 9"/>
          <p:cNvSpPr/>
          <p:nvPr/>
        </p:nvSpPr>
        <p:spPr>
          <a:xfrm>
            <a:off x="3657600" y="2423160"/>
            <a:ext cx="640080" cy="640080"/>
          </a:xfrm>
          <a:prstGeom prst="ellipse">
            <a:avLst/>
          </a:prstGeom>
          <a:solidFill>
            <a:srgbClr val="EC5C2A"/>
          </a:solidFill>
          <a:ln w="12700">
            <a:solidFill>
              <a:srgbClr val="EC5C2A"/>
            </a:solidFill>
            <a:prstDash val="solid"/>
          </a:ln>
        </p:spPr>
      </p:sp>
      <p:sp>
        <p:nvSpPr>
          <p:cNvPr id="12" name="Text 10"/>
          <p:cNvSpPr/>
          <p:nvPr/>
        </p:nvSpPr>
        <p:spPr>
          <a:xfrm>
            <a:off x="3657600" y="2423160"/>
            <a:ext cx="640080" cy="640080"/>
          </a:xfrm>
          <a:prstGeom prst="rect">
            <a:avLst/>
          </a:prstGeom>
          <a:noFill/>
          <a:ln/>
        </p:spPr>
        <p:txBody>
          <a:bodyPr wrap="square" rtlCol="0" anchor="ctr"/>
          <a:lstStyle/>
          <a:p>
            <a:pPr algn="ctr" indent="0" marL="0">
              <a:buNone/>
            </a:pPr>
            <a:r>
              <a:rPr lang="en-US" sz="1300" b="1" dirty="0">
                <a:solidFill>
                  <a:srgbClr val="FFFFFF"/>
                </a:solidFill>
                <a:latin typeface="Roboto" pitchFamily="34" charset="0"/>
                <a:ea typeface="Roboto" pitchFamily="34" charset="-122"/>
                <a:cs typeface="Roboto" pitchFamily="34" charset="-120"/>
              </a:rPr>
              <a:t>02</a:t>
            </a:r>
            <a:endParaRPr lang="en-US" sz="1300" dirty="0"/>
          </a:p>
        </p:txBody>
      </p:sp>
      <p:sp>
        <p:nvSpPr>
          <p:cNvPr id="13" name="Text 11"/>
          <p:cNvSpPr/>
          <p:nvPr/>
        </p:nvSpPr>
        <p:spPr>
          <a:xfrm>
            <a:off x="3657600" y="3200400"/>
            <a:ext cx="2331720" cy="822960"/>
          </a:xfrm>
          <a:prstGeom prst="rect">
            <a:avLst/>
          </a:prstGeom>
          <a:noFill/>
          <a:ln/>
        </p:spPr>
        <p:txBody>
          <a:bodyPr wrap="square" rtlCol="0" anchor="ctr"/>
          <a:lstStyle/>
          <a:p>
            <a:pPr indent="0" marL="0">
              <a:buNone/>
            </a:pPr>
            <a:r>
              <a:rPr lang="en-US" sz="1400" b="1" dirty="0">
                <a:solidFill>
                  <a:srgbClr val="0A3454"/>
                </a:solidFill>
                <a:latin typeface="Roboto" pitchFamily="34" charset="0"/>
                <a:ea typeface="Roboto" pitchFamily="34" charset="-122"/>
                <a:cs typeface="Roboto" pitchFamily="34" charset="-120"/>
              </a:rPr>
              <a:t>Disorienting dilemma</a:t>
            </a:r>
            <a:endParaRPr lang="en-US" sz="1400" dirty="0"/>
          </a:p>
        </p:txBody>
      </p:sp>
      <p:sp>
        <p:nvSpPr>
          <p:cNvPr id="14" name="Text 12"/>
          <p:cNvSpPr/>
          <p:nvPr/>
        </p:nvSpPr>
        <p:spPr>
          <a:xfrm>
            <a:off x="3657600" y="4023360"/>
            <a:ext cx="2331720" cy="1737360"/>
          </a:xfrm>
          <a:prstGeom prst="rect">
            <a:avLst/>
          </a:prstGeom>
          <a:noFill/>
          <a:ln/>
        </p:spPr>
        <p:txBody>
          <a:bodyPr wrap="square" rtlCol="0" anchor="ctr"/>
          <a:lstStyle/>
          <a:p>
            <a:pPr indent="0" marL="0">
              <a:lnSpc>
                <a:spcPct val="140000"/>
              </a:lnSpc>
              <a:buNone/>
            </a:pPr>
            <a:r>
              <a:rPr lang="en-US" sz="1050" dirty="0">
                <a:solidFill>
                  <a:srgbClr val="404040"/>
                </a:solidFill>
                <a:latin typeface="Roboto" pitchFamily="34" charset="0"/>
                <a:ea typeface="Roboto" pitchFamily="34" charset="-122"/>
                <a:cs typeface="Roboto" pitchFamily="34" charset="-120"/>
              </a:rPr>
              <a:t>A live nonprofit experience challenges assumptions about who needs help and why. The gap between expectation and reality is the learning. [4]</a:t>
            </a:r>
            <a:endParaRPr lang="en-US" sz="1050" dirty="0"/>
          </a:p>
        </p:txBody>
      </p:sp>
      <p:sp>
        <p:nvSpPr>
          <p:cNvPr id="15" name="Shape 13"/>
          <p:cNvSpPr/>
          <p:nvPr/>
        </p:nvSpPr>
        <p:spPr>
          <a:xfrm>
            <a:off x="6309360" y="2194560"/>
            <a:ext cx="2697480" cy="3657600"/>
          </a:xfrm>
          <a:prstGeom prst="roundRect">
            <a:avLst>
              <a:gd name="adj" fmla="val 2712"/>
            </a:avLst>
          </a:prstGeom>
          <a:solidFill>
            <a:srgbClr val="F6F7F8"/>
          </a:solidFill>
          <a:ln w="6350">
            <a:solidFill>
              <a:srgbClr val="C2C2C6"/>
            </a:solidFill>
            <a:prstDash val="solid"/>
          </a:ln>
        </p:spPr>
      </p:sp>
      <p:sp>
        <p:nvSpPr>
          <p:cNvPr id="16" name="Shape 14"/>
          <p:cNvSpPr/>
          <p:nvPr/>
        </p:nvSpPr>
        <p:spPr>
          <a:xfrm>
            <a:off x="6537960" y="2423160"/>
            <a:ext cx="640080" cy="640080"/>
          </a:xfrm>
          <a:prstGeom prst="ellipse">
            <a:avLst/>
          </a:prstGeom>
          <a:solidFill>
            <a:srgbClr val="EC5C2A"/>
          </a:solidFill>
          <a:ln w="12700">
            <a:solidFill>
              <a:srgbClr val="EC5C2A"/>
            </a:solidFill>
            <a:prstDash val="solid"/>
          </a:ln>
        </p:spPr>
      </p:sp>
      <p:sp>
        <p:nvSpPr>
          <p:cNvPr id="17" name="Text 15"/>
          <p:cNvSpPr/>
          <p:nvPr/>
        </p:nvSpPr>
        <p:spPr>
          <a:xfrm>
            <a:off x="6537960" y="2423160"/>
            <a:ext cx="640080" cy="640080"/>
          </a:xfrm>
          <a:prstGeom prst="rect">
            <a:avLst/>
          </a:prstGeom>
          <a:noFill/>
          <a:ln/>
        </p:spPr>
        <p:txBody>
          <a:bodyPr wrap="square" rtlCol="0" anchor="ctr"/>
          <a:lstStyle/>
          <a:p>
            <a:pPr algn="ctr" indent="0" marL="0">
              <a:buNone/>
            </a:pPr>
            <a:r>
              <a:rPr lang="en-US" sz="1300" b="1" dirty="0">
                <a:solidFill>
                  <a:srgbClr val="FFFFFF"/>
                </a:solidFill>
                <a:latin typeface="Roboto" pitchFamily="34" charset="0"/>
                <a:ea typeface="Roboto" pitchFamily="34" charset="-122"/>
                <a:cs typeface="Roboto" pitchFamily="34" charset="-120"/>
              </a:rPr>
              <a:t>03</a:t>
            </a:r>
            <a:endParaRPr lang="en-US" sz="1300" dirty="0"/>
          </a:p>
        </p:txBody>
      </p:sp>
      <p:sp>
        <p:nvSpPr>
          <p:cNvPr id="18" name="Text 16"/>
          <p:cNvSpPr/>
          <p:nvPr/>
        </p:nvSpPr>
        <p:spPr>
          <a:xfrm>
            <a:off x="6537960" y="3200400"/>
            <a:ext cx="2331720" cy="822960"/>
          </a:xfrm>
          <a:prstGeom prst="rect">
            <a:avLst/>
          </a:prstGeom>
          <a:noFill/>
          <a:ln/>
        </p:spPr>
        <p:txBody>
          <a:bodyPr wrap="square" rtlCol="0" anchor="ctr"/>
          <a:lstStyle/>
          <a:p>
            <a:pPr indent="0" marL="0">
              <a:buNone/>
            </a:pPr>
            <a:r>
              <a:rPr lang="en-US" sz="1400" b="1" dirty="0">
                <a:solidFill>
                  <a:srgbClr val="0A3454"/>
                </a:solidFill>
                <a:latin typeface="Roboto" pitchFamily="34" charset="0"/>
                <a:ea typeface="Roboto" pitchFamily="34" charset="-122"/>
                <a:cs typeface="Roboto" pitchFamily="34" charset="-120"/>
              </a:rPr>
              <a:t>40-minute debrief window</a:t>
            </a:r>
            <a:endParaRPr lang="en-US" sz="1400" dirty="0"/>
          </a:p>
        </p:txBody>
      </p:sp>
      <p:sp>
        <p:nvSpPr>
          <p:cNvPr id="19" name="Text 17"/>
          <p:cNvSpPr/>
          <p:nvPr/>
        </p:nvSpPr>
        <p:spPr>
          <a:xfrm>
            <a:off x="6537960" y="4023360"/>
            <a:ext cx="2331720" cy="1737360"/>
          </a:xfrm>
          <a:prstGeom prst="rect">
            <a:avLst/>
          </a:prstGeom>
          <a:noFill/>
          <a:ln/>
        </p:spPr>
        <p:txBody>
          <a:bodyPr wrap="square" rtlCol="0" anchor="ctr"/>
          <a:lstStyle/>
          <a:p>
            <a:pPr indent="0" marL="0">
              <a:lnSpc>
                <a:spcPct val="140000"/>
              </a:lnSpc>
              <a:buNone/>
            </a:pPr>
            <a:r>
              <a:rPr lang="en-US" sz="1050" dirty="0">
                <a:solidFill>
                  <a:srgbClr val="404040"/>
                </a:solidFill>
                <a:latin typeface="Roboto" pitchFamily="34" charset="0"/>
                <a:ea typeface="Roboto" pitchFamily="34" charset="-122"/>
                <a:cs typeface="Roboto" pitchFamily="34" charset="-120"/>
              </a:rPr>
              <a:t>Structured reflection inside the memory consolidation window. Same-day debrief is a neurological design requirement, not a scheduling preference. [2]</a:t>
            </a:r>
            <a:endParaRPr lang="en-US" sz="1050" dirty="0"/>
          </a:p>
        </p:txBody>
      </p:sp>
      <p:sp>
        <p:nvSpPr>
          <p:cNvPr id="20" name="Shape 18"/>
          <p:cNvSpPr/>
          <p:nvPr/>
        </p:nvSpPr>
        <p:spPr>
          <a:xfrm>
            <a:off x="9189720" y="2194560"/>
            <a:ext cx="2697480" cy="3657600"/>
          </a:xfrm>
          <a:prstGeom prst="roundRect">
            <a:avLst>
              <a:gd name="adj" fmla="val 2712"/>
            </a:avLst>
          </a:prstGeom>
          <a:solidFill>
            <a:srgbClr val="F6F7F8"/>
          </a:solidFill>
          <a:ln w="6350">
            <a:solidFill>
              <a:srgbClr val="C2C2C6"/>
            </a:solidFill>
            <a:prstDash val="solid"/>
          </a:ln>
        </p:spPr>
      </p:sp>
      <p:sp>
        <p:nvSpPr>
          <p:cNvPr id="21" name="Shape 19"/>
          <p:cNvSpPr/>
          <p:nvPr/>
        </p:nvSpPr>
        <p:spPr>
          <a:xfrm>
            <a:off x="9418320" y="2423160"/>
            <a:ext cx="640080" cy="640080"/>
          </a:xfrm>
          <a:prstGeom prst="ellipse">
            <a:avLst/>
          </a:prstGeom>
          <a:solidFill>
            <a:srgbClr val="EC5C2A"/>
          </a:solidFill>
          <a:ln w="12700">
            <a:solidFill>
              <a:srgbClr val="EC5C2A"/>
            </a:solidFill>
            <a:prstDash val="solid"/>
          </a:ln>
        </p:spPr>
      </p:sp>
      <p:sp>
        <p:nvSpPr>
          <p:cNvPr id="22" name="Text 20"/>
          <p:cNvSpPr/>
          <p:nvPr/>
        </p:nvSpPr>
        <p:spPr>
          <a:xfrm>
            <a:off x="9418320" y="2423160"/>
            <a:ext cx="640080" cy="640080"/>
          </a:xfrm>
          <a:prstGeom prst="rect">
            <a:avLst/>
          </a:prstGeom>
          <a:noFill/>
          <a:ln/>
        </p:spPr>
        <p:txBody>
          <a:bodyPr wrap="square" rtlCol="0" anchor="ctr"/>
          <a:lstStyle/>
          <a:p>
            <a:pPr algn="ctr" indent="0" marL="0">
              <a:buNone/>
            </a:pPr>
            <a:r>
              <a:rPr lang="en-US" sz="1300" b="1" dirty="0">
                <a:solidFill>
                  <a:srgbClr val="FFFFFF"/>
                </a:solidFill>
                <a:latin typeface="Roboto" pitchFamily="34" charset="0"/>
                <a:ea typeface="Roboto" pitchFamily="34" charset="-122"/>
                <a:cs typeface="Roboto" pitchFamily="34" charset="-120"/>
              </a:rPr>
              <a:t>04</a:t>
            </a:r>
            <a:endParaRPr lang="en-US" sz="1300" dirty="0"/>
          </a:p>
        </p:txBody>
      </p:sp>
      <p:sp>
        <p:nvSpPr>
          <p:cNvPr id="23" name="Text 21"/>
          <p:cNvSpPr/>
          <p:nvPr/>
        </p:nvSpPr>
        <p:spPr>
          <a:xfrm>
            <a:off x="9418320" y="3200400"/>
            <a:ext cx="2331720" cy="822960"/>
          </a:xfrm>
          <a:prstGeom prst="rect">
            <a:avLst/>
          </a:prstGeom>
          <a:noFill/>
          <a:ln/>
        </p:spPr>
        <p:txBody>
          <a:bodyPr wrap="square" rtlCol="0" anchor="ctr"/>
          <a:lstStyle/>
          <a:p>
            <a:pPr indent="0" marL="0">
              <a:buNone/>
            </a:pPr>
            <a:r>
              <a:rPr lang="en-US" sz="1400" b="1" dirty="0">
                <a:solidFill>
                  <a:srgbClr val="0A3454"/>
                </a:solidFill>
                <a:latin typeface="Roboto" pitchFamily="34" charset="0"/>
                <a:ea typeface="Roboto" pitchFamily="34" charset="-122"/>
                <a:cs typeface="Roboto" pitchFamily="34" charset="-120"/>
              </a:rPr>
              <a:t>Cohort identity</a:t>
            </a:r>
            <a:endParaRPr lang="en-US" sz="1400" dirty="0"/>
          </a:p>
        </p:txBody>
      </p:sp>
      <p:sp>
        <p:nvSpPr>
          <p:cNvPr id="24" name="Text 22"/>
          <p:cNvSpPr/>
          <p:nvPr/>
        </p:nvSpPr>
        <p:spPr>
          <a:xfrm>
            <a:off x="9418320" y="4023360"/>
            <a:ext cx="2331720" cy="1737360"/>
          </a:xfrm>
          <a:prstGeom prst="rect">
            <a:avLst/>
          </a:prstGeom>
          <a:noFill/>
          <a:ln/>
        </p:spPr>
        <p:txBody>
          <a:bodyPr wrap="square" rtlCol="0" anchor="ctr"/>
          <a:lstStyle/>
          <a:p>
            <a:pPr indent="0" marL="0">
              <a:lnSpc>
                <a:spcPct val="140000"/>
              </a:lnSpc>
              <a:buNone/>
            </a:pPr>
            <a:r>
              <a:rPr lang="en-US" sz="1050" dirty="0">
                <a:solidFill>
                  <a:srgbClr val="404040"/>
                </a:solidFill>
                <a:latin typeface="Roboto" pitchFamily="34" charset="0"/>
                <a:ea typeface="Roboto" pitchFamily="34" charset="-122"/>
                <a:cs typeface="Roboto" pitchFamily="34" charset="-120"/>
              </a:rPr>
              <a:t>Cross-company peer group continues for 6 months. Shared identity amplifies behavioral commitment to the new practice. [6][8]</a:t>
            </a:r>
            <a:endParaRPr lang="en-US" sz="1050" dirty="0"/>
          </a:p>
        </p:txBody>
      </p:sp>
      <p:sp>
        <p:nvSpPr>
          <p:cNvPr id="25" name="Shape 23"/>
          <p:cNvSpPr/>
          <p:nvPr/>
        </p:nvSpPr>
        <p:spPr>
          <a:xfrm>
            <a:off x="548640" y="6355080"/>
            <a:ext cx="11094415" cy="0"/>
          </a:xfrm>
          <a:prstGeom prst="line">
            <a:avLst/>
          </a:prstGeom>
          <a:noFill/>
          <a:ln w="6350">
            <a:solidFill>
              <a:srgbClr val="C2C2C6"/>
            </a:solidFill>
            <a:prstDash val="solid"/>
          </a:ln>
        </p:spPr>
      </p:sp>
      <p:sp>
        <p:nvSpPr>
          <p:cNvPr id="26" name="Text 24"/>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27" name="Text 25"/>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WHAT TRAINED CHAMPIONS DO AT MICROSOFT</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600" b="1" dirty="0">
                <a:solidFill>
                  <a:srgbClr val="3C3F44"/>
                </a:solidFill>
                <a:latin typeface="Roboto" pitchFamily="34" charset="0"/>
                <a:ea typeface="Roboto" pitchFamily="34" charset="-122"/>
                <a:cs typeface="Roboto" pitchFamily="34" charset="-120"/>
              </a:rPr>
              <a:t>What trained champions do differently at Microsoft</a:t>
            </a:r>
            <a:endParaRPr lang="en-US" sz="26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Text 3"/>
          <p:cNvSpPr/>
          <p:nvPr/>
        </p:nvSpPr>
        <p:spPr>
          <a:xfrm>
            <a:off x="548640" y="2103120"/>
            <a:ext cx="10972800" cy="640080"/>
          </a:xfrm>
          <a:prstGeom prst="rect">
            <a:avLst/>
          </a:prstGeom>
          <a:noFill/>
          <a:ln/>
        </p:spPr>
        <p:txBody>
          <a:bodyPr wrap="square" rtlCol="0" anchor="ctr"/>
          <a:lstStyle/>
          <a:p>
            <a:pPr indent="0" marL="0">
              <a:lnSpc>
                <a:spcPct val="140000"/>
              </a:lnSpc>
              <a:buNone/>
            </a:pPr>
            <a:r>
              <a:rPr lang="en-US" sz="1300" i="1" dirty="0">
                <a:solidFill>
                  <a:srgbClr val="6B6B6F"/>
                </a:solidFill>
                <a:latin typeface="Roboto" pitchFamily="34" charset="0"/>
                <a:ea typeface="Roboto" pitchFamily="34" charset="-122"/>
                <a:cs typeface="Roboto" pitchFamily="34" charset="-120"/>
              </a:rPr>
              <a:t>Our investment will equip these champions to move beyond event coordination. They will be trained to design and facilitate experiences that intentionally build trust between managers and employees and foster connections across internal teams.</a:t>
            </a:r>
            <a:endParaRPr lang="en-US" sz="1300" dirty="0"/>
          </a:p>
        </p:txBody>
      </p:sp>
      <p:sp>
        <p:nvSpPr>
          <p:cNvPr id="6" name="Shape 4"/>
          <p:cNvSpPr/>
          <p:nvPr/>
        </p:nvSpPr>
        <p:spPr>
          <a:xfrm>
            <a:off x="548640" y="2926080"/>
            <a:ext cx="640080" cy="640080"/>
          </a:xfrm>
          <a:prstGeom prst="ellipse">
            <a:avLst/>
          </a:prstGeom>
          <a:solidFill>
            <a:srgbClr val="EC5C2A"/>
          </a:solidFill>
          <a:ln w="12700">
            <a:solidFill>
              <a:srgbClr val="EC5C2A"/>
            </a:solidFill>
            <a:prstDash val="solid"/>
          </a:ln>
        </p:spPr>
      </p:sp>
      <p:sp>
        <p:nvSpPr>
          <p:cNvPr id="7" name="Text 5"/>
          <p:cNvSpPr/>
          <p:nvPr/>
        </p:nvSpPr>
        <p:spPr>
          <a:xfrm>
            <a:off x="548640" y="2926080"/>
            <a:ext cx="640080" cy="640080"/>
          </a:xfrm>
          <a:prstGeom prst="rect">
            <a:avLst/>
          </a:prstGeom>
          <a:noFill/>
          <a:ln/>
        </p:spPr>
        <p:txBody>
          <a:bodyPr wrap="square" rtlCol="0" anchor="ctr"/>
          <a:lstStyle/>
          <a:p>
            <a:pPr algn="ctr" indent="0" marL="0">
              <a:buNone/>
            </a:pPr>
            <a:r>
              <a:rPr lang="en-US" sz="1300" b="1" dirty="0">
                <a:solidFill>
                  <a:srgbClr val="FFFFFF"/>
                </a:solidFill>
                <a:latin typeface="Roboto" pitchFamily="34" charset="0"/>
                <a:ea typeface="Roboto" pitchFamily="34" charset="-122"/>
                <a:cs typeface="Roboto" pitchFamily="34" charset="-120"/>
              </a:rPr>
              <a:t>01</a:t>
            </a:r>
            <a:endParaRPr lang="en-US" sz="1300" dirty="0"/>
          </a:p>
        </p:txBody>
      </p:sp>
      <p:sp>
        <p:nvSpPr>
          <p:cNvPr id="8" name="Text 6"/>
          <p:cNvSpPr/>
          <p:nvPr/>
        </p:nvSpPr>
        <p:spPr>
          <a:xfrm>
            <a:off x="1371600" y="2880360"/>
            <a:ext cx="10058400" cy="365760"/>
          </a:xfrm>
          <a:prstGeom prst="rect">
            <a:avLst/>
          </a:prstGeom>
          <a:noFill/>
          <a:ln/>
        </p:spPr>
        <p:txBody>
          <a:bodyPr wrap="square" rtlCol="0" anchor="ctr"/>
          <a:lstStyle/>
          <a:p>
            <a:pPr indent="0" marL="0">
              <a:buNone/>
            </a:pPr>
            <a:r>
              <a:rPr lang="en-US" sz="1400" b="1" dirty="0">
                <a:solidFill>
                  <a:srgbClr val="0A3454"/>
                </a:solidFill>
                <a:latin typeface="Roboto" pitchFamily="34" charset="0"/>
                <a:ea typeface="Roboto" pitchFamily="34" charset="-122"/>
                <a:cs typeface="Roboto" pitchFamily="34" charset="-120"/>
              </a:rPr>
              <a:t>They change how colleagues show up</a:t>
            </a:r>
            <a:endParaRPr lang="en-US" sz="1400" dirty="0"/>
          </a:p>
        </p:txBody>
      </p:sp>
      <p:sp>
        <p:nvSpPr>
          <p:cNvPr id="9" name="Text 7"/>
          <p:cNvSpPr/>
          <p:nvPr/>
        </p:nvSpPr>
        <p:spPr>
          <a:xfrm>
            <a:off x="1371600" y="3246120"/>
            <a:ext cx="10058400" cy="640080"/>
          </a:xfrm>
          <a:prstGeom prst="rect">
            <a:avLst/>
          </a:prstGeom>
          <a:noFill/>
          <a:ln/>
        </p:spPr>
        <p:txBody>
          <a:bodyPr wrap="square" rtlCol="0" anchor="ctr"/>
          <a:lstStyle/>
          <a:p>
            <a:pPr indent="0" marL="0">
              <a:lnSpc>
                <a:spcPct val="130000"/>
              </a:lnSpc>
              <a:buNone/>
            </a:pPr>
            <a:r>
              <a:rPr lang="en-US" sz="1100" dirty="0">
                <a:solidFill>
                  <a:srgbClr val="404040"/>
                </a:solidFill>
                <a:latin typeface="Roboto" pitchFamily="34" charset="0"/>
                <a:ea typeface="Roboto" pitchFamily="34" charset="-122"/>
                <a:cs typeface="Roboto" pitchFamily="34" charset="-120"/>
              </a:rPr>
              <a:t>A 5-minute brief reactivates the part of the brain that processes others as fully human [1]. Volunteers contribute at a higher level and come back. Direct beneficiary contact durably increases effort for over a month [10].</a:t>
            </a:r>
            <a:endParaRPr lang="en-US" sz="1100" dirty="0"/>
          </a:p>
        </p:txBody>
      </p:sp>
      <p:sp>
        <p:nvSpPr>
          <p:cNvPr id="10" name="Shape 8"/>
          <p:cNvSpPr/>
          <p:nvPr/>
        </p:nvSpPr>
        <p:spPr>
          <a:xfrm>
            <a:off x="548640" y="3931920"/>
            <a:ext cx="640080" cy="640080"/>
          </a:xfrm>
          <a:prstGeom prst="ellipse">
            <a:avLst/>
          </a:prstGeom>
          <a:solidFill>
            <a:srgbClr val="EC5C2A"/>
          </a:solidFill>
          <a:ln w="12700">
            <a:solidFill>
              <a:srgbClr val="EC5C2A"/>
            </a:solidFill>
            <a:prstDash val="solid"/>
          </a:ln>
        </p:spPr>
      </p:sp>
      <p:sp>
        <p:nvSpPr>
          <p:cNvPr id="11" name="Text 9"/>
          <p:cNvSpPr/>
          <p:nvPr/>
        </p:nvSpPr>
        <p:spPr>
          <a:xfrm>
            <a:off x="548640" y="3931920"/>
            <a:ext cx="640080" cy="640080"/>
          </a:xfrm>
          <a:prstGeom prst="rect">
            <a:avLst/>
          </a:prstGeom>
          <a:noFill/>
          <a:ln/>
        </p:spPr>
        <p:txBody>
          <a:bodyPr wrap="square" rtlCol="0" anchor="ctr"/>
          <a:lstStyle/>
          <a:p>
            <a:pPr algn="ctr" indent="0" marL="0">
              <a:buNone/>
            </a:pPr>
            <a:r>
              <a:rPr lang="en-US" sz="1300" b="1" dirty="0">
                <a:solidFill>
                  <a:srgbClr val="FFFFFF"/>
                </a:solidFill>
                <a:latin typeface="Roboto" pitchFamily="34" charset="0"/>
                <a:ea typeface="Roboto" pitchFamily="34" charset="-122"/>
                <a:cs typeface="Roboto" pitchFamily="34" charset="-120"/>
              </a:rPr>
              <a:t>02</a:t>
            </a:r>
            <a:endParaRPr lang="en-US" sz="1300" dirty="0"/>
          </a:p>
        </p:txBody>
      </p:sp>
      <p:sp>
        <p:nvSpPr>
          <p:cNvPr id="12" name="Text 10"/>
          <p:cNvSpPr/>
          <p:nvPr/>
        </p:nvSpPr>
        <p:spPr>
          <a:xfrm>
            <a:off x="1371600" y="3886200"/>
            <a:ext cx="10058400" cy="365760"/>
          </a:xfrm>
          <a:prstGeom prst="rect">
            <a:avLst/>
          </a:prstGeom>
          <a:noFill/>
          <a:ln/>
        </p:spPr>
        <p:txBody>
          <a:bodyPr wrap="square" rtlCol="0" anchor="ctr"/>
          <a:lstStyle/>
          <a:p>
            <a:pPr indent="0" marL="0">
              <a:buNone/>
            </a:pPr>
            <a:r>
              <a:rPr lang="en-US" sz="1400" b="1" dirty="0">
                <a:solidFill>
                  <a:srgbClr val="0A3454"/>
                </a:solidFill>
                <a:latin typeface="Roboto" pitchFamily="34" charset="0"/>
                <a:ea typeface="Roboto" pitchFamily="34" charset="-122"/>
                <a:cs typeface="Roboto" pitchFamily="34" charset="-120"/>
              </a:rPr>
              <a:t>They build real nonprofit partnerships</a:t>
            </a:r>
            <a:endParaRPr lang="en-US" sz="1400" dirty="0"/>
          </a:p>
        </p:txBody>
      </p:sp>
      <p:sp>
        <p:nvSpPr>
          <p:cNvPr id="13" name="Text 11"/>
          <p:cNvSpPr/>
          <p:nvPr/>
        </p:nvSpPr>
        <p:spPr>
          <a:xfrm>
            <a:off x="1371600" y="4251960"/>
            <a:ext cx="10058400" cy="640080"/>
          </a:xfrm>
          <a:prstGeom prst="rect">
            <a:avLst/>
          </a:prstGeom>
          <a:noFill/>
          <a:ln/>
        </p:spPr>
        <p:txBody>
          <a:bodyPr wrap="square" rtlCol="0" anchor="ctr"/>
          <a:lstStyle/>
          <a:p>
            <a:pPr indent="0" marL="0">
              <a:lnSpc>
                <a:spcPct val="130000"/>
              </a:lnSpc>
              <a:buNone/>
            </a:pPr>
            <a:r>
              <a:rPr lang="en-US" sz="1100" dirty="0">
                <a:solidFill>
                  <a:srgbClr val="404040"/>
                </a:solidFill>
                <a:latin typeface="Roboto" pitchFamily="34" charset="0"/>
                <a:ea typeface="Roboto" pitchFamily="34" charset="-122"/>
                <a:cs typeface="Roboto" pitchFamily="34" charset="-120"/>
              </a:rPr>
              <a:t>Trained champions scope projects WITH partners, not FOR them. They frame the experience so volunteers encounter the work as partners — meeting the conditions for positive intergroup contact [11][12].</a:t>
            </a:r>
            <a:endParaRPr lang="en-US" sz="1100" dirty="0"/>
          </a:p>
        </p:txBody>
      </p:sp>
      <p:sp>
        <p:nvSpPr>
          <p:cNvPr id="14" name="Shape 12"/>
          <p:cNvSpPr/>
          <p:nvPr/>
        </p:nvSpPr>
        <p:spPr>
          <a:xfrm>
            <a:off x="548640" y="4937760"/>
            <a:ext cx="640080" cy="640080"/>
          </a:xfrm>
          <a:prstGeom prst="ellipse">
            <a:avLst/>
          </a:prstGeom>
          <a:solidFill>
            <a:srgbClr val="EC5C2A"/>
          </a:solidFill>
          <a:ln w="12700">
            <a:solidFill>
              <a:srgbClr val="EC5C2A"/>
            </a:solidFill>
            <a:prstDash val="solid"/>
          </a:ln>
        </p:spPr>
      </p:sp>
      <p:sp>
        <p:nvSpPr>
          <p:cNvPr id="15" name="Text 13"/>
          <p:cNvSpPr/>
          <p:nvPr/>
        </p:nvSpPr>
        <p:spPr>
          <a:xfrm>
            <a:off x="548640" y="4937760"/>
            <a:ext cx="640080" cy="640080"/>
          </a:xfrm>
          <a:prstGeom prst="rect">
            <a:avLst/>
          </a:prstGeom>
          <a:noFill/>
          <a:ln/>
        </p:spPr>
        <p:txBody>
          <a:bodyPr wrap="square" rtlCol="0" anchor="ctr"/>
          <a:lstStyle/>
          <a:p>
            <a:pPr algn="ctr" indent="0" marL="0">
              <a:buNone/>
            </a:pPr>
            <a:r>
              <a:rPr lang="en-US" sz="1300" b="1" dirty="0">
                <a:solidFill>
                  <a:srgbClr val="FFFFFF"/>
                </a:solidFill>
                <a:latin typeface="Roboto" pitchFamily="34" charset="0"/>
                <a:ea typeface="Roboto" pitchFamily="34" charset="-122"/>
                <a:cs typeface="Roboto" pitchFamily="34" charset="-120"/>
              </a:rPr>
              <a:t>03</a:t>
            </a:r>
            <a:endParaRPr lang="en-US" sz="1300" dirty="0"/>
          </a:p>
        </p:txBody>
      </p:sp>
      <p:sp>
        <p:nvSpPr>
          <p:cNvPr id="16" name="Text 14"/>
          <p:cNvSpPr/>
          <p:nvPr/>
        </p:nvSpPr>
        <p:spPr>
          <a:xfrm>
            <a:off x="1371600" y="4892040"/>
            <a:ext cx="10058400" cy="365760"/>
          </a:xfrm>
          <a:prstGeom prst="rect">
            <a:avLst/>
          </a:prstGeom>
          <a:noFill/>
          <a:ln/>
        </p:spPr>
        <p:txBody>
          <a:bodyPr wrap="square" rtlCol="0" anchor="ctr"/>
          <a:lstStyle/>
          <a:p>
            <a:pPr indent="0" marL="0">
              <a:buNone/>
            </a:pPr>
            <a:r>
              <a:rPr lang="en-US" sz="1400" b="1" dirty="0">
                <a:solidFill>
                  <a:srgbClr val="0A3454"/>
                </a:solidFill>
                <a:latin typeface="Roboto" pitchFamily="34" charset="0"/>
                <a:ea typeface="Roboto" pitchFamily="34" charset="-122"/>
                <a:cs typeface="Roboto" pitchFamily="34" charset="-120"/>
              </a:rPr>
              <a:t>They turn a good day into a lasting shift</a:t>
            </a:r>
            <a:endParaRPr lang="en-US" sz="1400" dirty="0"/>
          </a:p>
        </p:txBody>
      </p:sp>
      <p:sp>
        <p:nvSpPr>
          <p:cNvPr id="17" name="Text 15"/>
          <p:cNvSpPr/>
          <p:nvPr/>
        </p:nvSpPr>
        <p:spPr>
          <a:xfrm>
            <a:off x="1371600" y="5257800"/>
            <a:ext cx="10058400" cy="640080"/>
          </a:xfrm>
          <a:prstGeom prst="rect">
            <a:avLst/>
          </a:prstGeom>
          <a:noFill/>
          <a:ln/>
        </p:spPr>
        <p:txBody>
          <a:bodyPr wrap="square" rtlCol="0" anchor="ctr"/>
          <a:lstStyle/>
          <a:p>
            <a:pPr indent="0" marL="0">
              <a:lnSpc>
                <a:spcPct val="130000"/>
              </a:lnSpc>
              <a:buNone/>
            </a:pPr>
            <a:r>
              <a:rPr lang="en-US" sz="1100" dirty="0">
                <a:solidFill>
                  <a:srgbClr val="404040"/>
                </a:solidFill>
                <a:latin typeface="Roboto" pitchFamily="34" charset="0"/>
                <a:ea typeface="Roboto" pitchFamily="34" charset="-122"/>
                <a:cs typeface="Roboto" pitchFamily="34" charset="-120"/>
              </a:rPr>
              <a:t>A structured debrief within 40 minutes [2] uses the gap between expectation and reality [4] as the mechanism for prosocial identity change [5] — a shift in how someone understands themselves.</a:t>
            </a:r>
            <a:endParaRPr lang="en-US" sz="1100" dirty="0"/>
          </a:p>
        </p:txBody>
      </p:sp>
      <p:sp>
        <p:nvSpPr>
          <p:cNvPr id="18" name="Shape 16"/>
          <p:cNvSpPr/>
          <p:nvPr/>
        </p:nvSpPr>
        <p:spPr>
          <a:xfrm>
            <a:off x="548640" y="6355080"/>
            <a:ext cx="11094415" cy="0"/>
          </a:xfrm>
          <a:prstGeom prst="line">
            <a:avLst/>
          </a:prstGeom>
          <a:noFill/>
          <a:ln w="6350">
            <a:solidFill>
              <a:srgbClr val="C2C2C6"/>
            </a:solidFill>
            <a:prstDash val="solid"/>
          </a:ln>
        </p:spPr>
      </p:sp>
      <p:sp>
        <p:nvSpPr>
          <p:cNvPr id="19" name="Text 17"/>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20" name="Text 18"/>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THREE AUDIENCES, THREE OUTCOMES</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600" b="1" dirty="0">
                <a:solidFill>
                  <a:srgbClr val="3C3F44"/>
                </a:solidFill>
                <a:latin typeface="Roboto" pitchFamily="34" charset="0"/>
                <a:ea typeface="Roboto" pitchFamily="34" charset="-122"/>
                <a:cs typeface="Roboto" pitchFamily="34" charset="-120"/>
              </a:rPr>
              <a:t>What changes for the employee, the company, and the community</a:t>
            </a:r>
            <a:endParaRPr lang="en-US" sz="26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Shape 3"/>
          <p:cNvSpPr/>
          <p:nvPr/>
        </p:nvSpPr>
        <p:spPr>
          <a:xfrm>
            <a:off x="548640" y="2194560"/>
            <a:ext cx="3657600" cy="4023360"/>
          </a:xfrm>
          <a:prstGeom prst="rect">
            <a:avLst/>
          </a:prstGeom>
          <a:solidFill>
            <a:srgbClr val="FFFFFF"/>
          </a:solidFill>
          <a:ln w="6350">
            <a:solidFill>
              <a:srgbClr val="C2C2C6"/>
            </a:solidFill>
            <a:prstDash val="solid"/>
          </a:ln>
        </p:spPr>
      </p:sp>
      <p:sp>
        <p:nvSpPr>
          <p:cNvPr id="6" name="Shape 4"/>
          <p:cNvSpPr/>
          <p:nvPr/>
        </p:nvSpPr>
        <p:spPr>
          <a:xfrm>
            <a:off x="822960" y="2423160"/>
            <a:ext cx="548640" cy="548640"/>
          </a:xfrm>
          <a:prstGeom prst="ellipse">
            <a:avLst/>
          </a:prstGeom>
          <a:solidFill>
            <a:srgbClr val="B8D8DC"/>
          </a:solidFill>
          <a:ln w="12700">
            <a:solidFill>
              <a:srgbClr val="B8D8DC"/>
            </a:solidFill>
            <a:prstDash val="solid"/>
          </a:ln>
        </p:spPr>
      </p:sp>
      <p:sp>
        <p:nvSpPr>
          <p:cNvPr id="7" name="Shape 5"/>
          <p:cNvSpPr/>
          <p:nvPr/>
        </p:nvSpPr>
        <p:spPr>
          <a:xfrm>
            <a:off x="932688" y="2532888"/>
            <a:ext cx="329184" cy="329184"/>
          </a:xfrm>
          <a:prstGeom prst="ellipse">
            <a:avLst/>
          </a:prstGeom>
          <a:solidFill>
            <a:srgbClr val="EC5C2A"/>
          </a:solidFill>
          <a:ln w="12700">
            <a:solidFill>
              <a:srgbClr val="EC5C2A"/>
            </a:solidFill>
            <a:prstDash val="solid"/>
          </a:ln>
        </p:spPr>
      </p:sp>
      <p:sp>
        <p:nvSpPr>
          <p:cNvPr id="8" name="Text 6"/>
          <p:cNvSpPr/>
          <p:nvPr/>
        </p:nvSpPr>
        <p:spPr>
          <a:xfrm>
            <a:off x="822960" y="3108960"/>
            <a:ext cx="3200400" cy="274320"/>
          </a:xfrm>
          <a:prstGeom prst="rect">
            <a:avLst/>
          </a:prstGeom>
          <a:noFill/>
          <a:ln/>
        </p:spPr>
        <p:txBody>
          <a:bodyPr wrap="square" rtlCol="0" anchor="ctr"/>
          <a:lstStyle/>
          <a:p>
            <a:pPr indent="0" marL="0">
              <a:buNone/>
            </a:pPr>
            <a:r>
              <a:rPr lang="en-US" sz="900" b="1" spc="400" kern="0" dirty="0">
                <a:solidFill>
                  <a:srgbClr val="EC5C2A"/>
                </a:solidFill>
                <a:latin typeface="Roboto Condensed" pitchFamily="34" charset="0"/>
                <a:ea typeface="Roboto Condensed" pitchFamily="34" charset="-122"/>
                <a:cs typeface="Roboto Condensed" pitchFamily="34" charset="-120"/>
              </a:rPr>
              <a:t>FOR THE EMPLOYEE</a:t>
            </a:r>
            <a:endParaRPr lang="en-US" sz="900" dirty="0"/>
          </a:p>
        </p:txBody>
      </p:sp>
      <p:sp>
        <p:nvSpPr>
          <p:cNvPr id="9" name="Text 7"/>
          <p:cNvSpPr/>
          <p:nvPr/>
        </p:nvSpPr>
        <p:spPr>
          <a:xfrm>
            <a:off x="822960" y="3383280"/>
            <a:ext cx="3200400" cy="548640"/>
          </a:xfrm>
          <a:prstGeom prst="rect">
            <a:avLst/>
          </a:prstGeom>
          <a:noFill/>
          <a:ln/>
        </p:spPr>
        <p:txBody>
          <a:bodyPr wrap="square" rtlCol="0" anchor="ctr"/>
          <a:lstStyle/>
          <a:p>
            <a:pPr indent="0" marL="0">
              <a:buNone/>
            </a:pPr>
            <a:r>
              <a:rPr lang="en-US" sz="1600" b="1" dirty="0">
                <a:solidFill>
                  <a:srgbClr val="0A3454"/>
                </a:solidFill>
                <a:latin typeface="Roboto" pitchFamily="34" charset="0"/>
                <a:ea typeface="Roboto" pitchFamily="34" charset="-122"/>
                <a:cs typeface="Roboto" pitchFamily="34" charset="-120"/>
              </a:rPr>
              <a:t>The person who attends</a:t>
            </a:r>
            <a:endParaRPr lang="en-US" sz="1600" dirty="0"/>
          </a:p>
        </p:txBody>
      </p:sp>
      <p:sp>
        <p:nvSpPr>
          <p:cNvPr id="10" name="Text 8"/>
          <p:cNvSpPr/>
          <p:nvPr/>
        </p:nvSpPr>
        <p:spPr>
          <a:xfrm>
            <a:off x="822960" y="4023360"/>
            <a:ext cx="3200400" cy="2103120"/>
          </a:xfrm>
          <a:prstGeom prst="rect">
            <a:avLst/>
          </a:prstGeom>
          <a:noFill/>
          <a:ln/>
        </p:spPr>
        <p:txBody>
          <a:bodyPr wrap="square" rtlCol="0" anchor="ctr"/>
          <a:lstStyle/>
          <a:p>
            <a:pPr indent="0" marL="0">
              <a:lnSpc>
                <a:spcPct val="140000"/>
              </a:lnSpc>
              <a:buNone/>
            </a:pPr>
            <a:r>
              <a:rPr lang="en-US" sz="1100" dirty="0">
                <a:solidFill>
                  <a:srgbClr val="404040"/>
                </a:solidFill>
                <a:latin typeface="Roboto" pitchFamily="34" charset="0"/>
                <a:ea typeface="Roboto" pitchFamily="34" charset="-122"/>
                <a:cs typeface="Roboto" pitchFamily="34" charset="-120"/>
              </a:rPr>
              <a:t>Prosocial identity change [5] generalizes across life domains [13]. Employees move from 'I did a good thing' to 'this is part of who I am'. The shift persists because it is identity-level, not task-level.</a:t>
            </a:r>
            <a:endParaRPr lang="en-US" sz="1100" dirty="0"/>
          </a:p>
        </p:txBody>
      </p:sp>
      <p:sp>
        <p:nvSpPr>
          <p:cNvPr id="11" name="Shape 9"/>
          <p:cNvSpPr/>
          <p:nvPr/>
        </p:nvSpPr>
        <p:spPr>
          <a:xfrm>
            <a:off x="4434840" y="2194560"/>
            <a:ext cx="3657600" cy="4023360"/>
          </a:xfrm>
          <a:prstGeom prst="rect">
            <a:avLst/>
          </a:prstGeom>
          <a:solidFill>
            <a:srgbClr val="FFFFFF"/>
          </a:solidFill>
          <a:ln w="6350">
            <a:solidFill>
              <a:srgbClr val="C2C2C6"/>
            </a:solidFill>
            <a:prstDash val="solid"/>
          </a:ln>
        </p:spPr>
      </p:sp>
      <p:sp>
        <p:nvSpPr>
          <p:cNvPr id="12" name="Shape 10"/>
          <p:cNvSpPr/>
          <p:nvPr/>
        </p:nvSpPr>
        <p:spPr>
          <a:xfrm>
            <a:off x="4709160" y="2423160"/>
            <a:ext cx="548640" cy="548640"/>
          </a:xfrm>
          <a:prstGeom prst="ellipse">
            <a:avLst/>
          </a:prstGeom>
          <a:solidFill>
            <a:srgbClr val="B8D8DC"/>
          </a:solidFill>
          <a:ln w="12700">
            <a:solidFill>
              <a:srgbClr val="B8D8DC"/>
            </a:solidFill>
            <a:prstDash val="solid"/>
          </a:ln>
        </p:spPr>
      </p:sp>
      <p:sp>
        <p:nvSpPr>
          <p:cNvPr id="13" name="Shape 11"/>
          <p:cNvSpPr/>
          <p:nvPr/>
        </p:nvSpPr>
        <p:spPr>
          <a:xfrm>
            <a:off x="4818888" y="2532888"/>
            <a:ext cx="329184" cy="329184"/>
          </a:xfrm>
          <a:prstGeom prst="ellipse">
            <a:avLst/>
          </a:prstGeom>
          <a:solidFill>
            <a:srgbClr val="EC5C2A"/>
          </a:solidFill>
          <a:ln w="12700">
            <a:solidFill>
              <a:srgbClr val="EC5C2A"/>
            </a:solidFill>
            <a:prstDash val="solid"/>
          </a:ln>
        </p:spPr>
      </p:sp>
      <p:sp>
        <p:nvSpPr>
          <p:cNvPr id="14" name="Text 12"/>
          <p:cNvSpPr/>
          <p:nvPr/>
        </p:nvSpPr>
        <p:spPr>
          <a:xfrm>
            <a:off x="4709160" y="3108960"/>
            <a:ext cx="3200400" cy="274320"/>
          </a:xfrm>
          <a:prstGeom prst="rect">
            <a:avLst/>
          </a:prstGeom>
          <a:noFill/>
          <a:ln/>
        </p:spPr>
        <p:txBody>
          <a:bodyPr wrap="square" rtlCol="0" anchor="ctr"/>
          <a:lstStyle/>
          <a:p>
            <a:pPr indent="0" marL="0">
              <a:buNone/>
            </a:pPr>
            <a:r>
              <a:rPr lang="en-US" sz="900" b="1" spc="400" kern="0" dirty="0">
                <a:solidFill>
                  <a:srgbClr val="EC5C2A"/>
                </a:solidFill>
                <a:latin typeface="Roboto Condensed" pitchFamily="34" charset="0"/>
                <a:ea typeface="Roboto Condensed" pitchFamily="34" charset="-122"/>
                <a:cs typeface="Roboto Condensed" pitchFamily="34" charset="-120"/>
              </a:rPr>
              <a:t>FOR THE COMPANY</a:t>
            </a:r>
            <a:endParaRPr lang="en-US" sz="900" dirty="0"/>
          </a:p>
        </p:txBody>
      </p:sp>
      <p:sp>
        <p:nvSpPr>
          <p:cNvPr id="15" name="Text 13"/>
          <p:cNvSpPr/>
          <p:nvPr/>
        </p:nvSpPr>
        <p:spPr>
          <a:xfrm>
            <a:off x="4709160" y="3383280"/>
            <a:ext cx="3200400" cy="548640"/>
          </a:xfrm>
          <a:prstGeom prst="rect">
            <a:avLst/>
          </a:prstGeom>
          <a:noFill/>
          <a:ln/>
        </p:spPr>
        <p:txBody>
          <a:bodyPr wrap="square" rtlCol="0" anchor="ctr"/>
          <a:lstStyle/>
          <a:p>
            <a:pPr indent="0" marL="0">
              <a:buNone/>
            </a:pPr>
            <a:r>
              <a:rPr lang="en-US" sz="1600" b="1" dirty="0">
                <a:solidFill>
                  <a:srgbClr val="0A3454"/>
                </a:solidFill>
                <a:latin typeface="Roboto" pitchFamily="34" charset="0"/>
                <a:ea typeface="Roboto" pitchFamily="34" charset="-122"/>
                <a:cs typeface="Roboto" pitchFamily="34" charset="-120"/>
              </a:rPr>
              <a:t>The organization that invests</a:t>
            </a:r>
            <a:endParaRPr lang="en-US" sz="1600" dirty="0"/>
          </a:p>
        </p:txBody>
      </p:sp>
      <p:sp>
        <p:nvSpPr>
          <p:cNvPr id="16" name="Text 14"/>
          <p:cNvSpPr/>
          <p:nvPr/>
        </p:nvSpPr>
        <p:spPr>
          <a:xfrm>
            <a:off x="4709160" y="4023360"/>
            <a:ext cx="3200400" cy="2103120"/>
          </a:xfrm>
          <a:prstGeom prst="rect">
            <a:avLst/>
          </a:prstGeom>
          <a:noFill/>
          <a:ln/>
        </p:spPr>
        <p:txBody>
          <a:bodyPr wrap="square" rtlCol="0" anchor="ctr"/>
          <a:lstStyle/>
          <a:p>
            <a:pPr indent="0" marL="0">
              <a:lnSpc>
                <a:spcPct val="140000"/>
              </a:lnSpc>
              <a:buNone/>
            </a:pPr>
            <a:r>
              <a:rPr lang="en-US" sz="1100" dirty="0">
                <a:solidFill>
                  <a:srgbClr val="404040"/>
                </a:solidFill>
                <a:latin typeface="Roboto" pitchFamily="34" charset="0"/>
                <a:ea typeface="Roboto" pitchFamily="34" charset="-122"/>
                <a:cs typeface="Roboto" pitchFamily="34" charset="-120"/>
              </a:rPr>
              <a:t>When prosocial identity is supported by the employer, the company becomes associated with that part of the self-concept [6]. Brand perception built on internalized identity is qualitatively different from perception built on messaging.</a:t>
            </a:r>
            <a:endParaRPr lang="en-US" sz="1100" dirty="0"/>
          </a:p>
        </p:txBody>
      </p:sp>
      <p:sp>
        <p:nvSpPr>
          <p:cNvPr id="17" name="Shape 15"/>
          <p:cNvSpPr/>
          <p:nvPr/>
        </p:nvSpPr>
        <p:spPr>
          <a:xfrm>
            <a:off x="8321040" y="2194560"/>
            <a:ext cx="3657600" cy="4023360"/>
          </a:xfrm>
          <a:prstGeom prst="rect">
            <a:avLst/>
          </a:prstGeom>
          <a:solidFill>
            <a:srgbClr val="FFFFFF"/>
          </a:solidFill>
          <a:ln w="6350">
            <a:solidFill>
              <a:srgbClr val="C2C2C6"/>
            </a:solidFill>
            <a:prstDash val="solid"/>
          </a:ln>
        </p:spPr>
      </p:sp>
      <p:sp>
        <p:nvSpPr>
          <p:cNvPr id="18" name="Shape 16"/>
          <p:cNvSpPr/>
          <p:nvPr/>
        </p:nvSpPr>
        <p:spPr>
          <a:xfrm>
            <a:off x="8595360" y="2423160"/>
            <a:ext cx="548640" cy="548640"/>
          </a:xfrm>
          <a:prstGeom prst="ellipse">
            <a:avLst/>
          </a:prstGeom>
          <a:solidFill>
            <a:srgbClr val="B8D8DC"/>
          </a:solidFill>
          <a:ln w="12700">
            <a:solidFill>
              <a:srgbClr val="B8D8DC"/>
            </a:solidFill>
            <a:prstDash val="solid"/>
          </a:ln>
        </p:spPr>
      </p:sp>
      <p:sp>
        <p:nvSpPr>
          <p:cNvPr id="19" name="Shape 17"/>
          <p:cNvSpPr/>
          <p:nvPr/>
        </p:nvSpPr>
        <p:spPr>
          <a:xfrm>
            <a:off x="8705088" y="2532888"/>
            <a:ext cx="329184" cy="329184"/>
          </a:xfrm>
          <a:prstGeom prst="ellipse">
            <a:avLst/>
          </a:prstGeom>
          <a:solidFill>
            <a:srgbClr val="EC5C2A"/>
          </a:solidFill>
          <a:ln w="12700">
            <a:solidFill>
              <a:srgbClr val="EC5C2A"/>
            </a:solidFill>
            <a:prstDash val="solid"/>
          </a:ln>
        </p:spPr>
      </p:sp>
      <p:sp>
        <p:nvSpPr>
          <p:cNvPr id="20" name="Text 18"/>
          <p:cNvSpPr/>
          <p:nvPr/>
        </p:nvSpPr>
        <p:spPr>
          <a:xfrm>
            <a:off x="8595360" y="3108960"/>
            <a:ext cx="3200400" cy="274320"/>
          </a:xfrm>
          <a:prstGeom prst="rect">
            <a:avLst/>
          </a:prstGeom>
          <a:noFill/>
          <a:ln/>
        </p:spPr>
        <p:txBody>
          <a:bodyPr wrap="square" rtlCol="0" anchor="ctr"/>
          <a:lstStyle/>
          <a:p>
            <a:pPr indent="0" marL="0">
              <a:buNone/>
            </a:pPr>
            <a:r>
              <a:rPr lang="en-US" sz="900" b="1" spc="400" kern="0" dirty="0">
                <a:solidFill>
                  <a:srgbClr val="EC5C2A"/>
                </a:solidFill>
                <a:latin typeface="Roboto Condensed" pitchFamily="34" charset="0"/>
                <a:ea typeface="Roboto Condensed" pitchFamily="34" charset="-122"/>
                <a:cs typeface="Roboto Condensed" pitchFamily="34" charset="-120"/>
              </a:rPr>
              <a:t>FOR THE COMMUNITY</a:t>
            </a:r>
            <a:endParaRPr lang="en-US" sz="900" dirty="0"/>
          </a:p>
        </p:txBody>
      </p:sp>
      <p:sp>
        <p:nvSpPr>
          <p:cNvPr id="21" name="Text 19"/>
          <p:cNvSpPr/>
          <p:nvPr/>
        </p:nvSpPr>
        <p:spPr>
          <a:xfrm>
            <a:off x="8595360" y="3383280"/>
            <a:ext cx="3200400" cy="548640"/>
          </a:xfrm>
          <a:prstGeom prst="rect">
            <a:avLst/>
          </a:prstGeom>
          <a:noFill/>
          <a:ln/>
        </p:spPr>
        <p:txBody>
          <a:bodyPr wrap="square" rtlCol="0" anchor="ctr"/>
          <a:lstStyle/>
          <a:p>
            <a:pPr indent="0" marL="0">
              <a:buNone/>
            </a:pPr>
            <a:r>
              <a:rPr lang="en-US" sz="1600" b="1" dirty="0">
                <a:solidFill>
                  <a:srgbClr val="0A3454"/>
                </a:solidFill>
                <a:latin typeface="Roboto" pitchFamily="34" charset="0"/>
                <a:ea typeface="Roboto" pitchFamily="34" charset="-122"/>
                <a:cs typeface="Roboto" pitchFamily="34" charset="-120"/>
              </a:rPr>
              <a:t>The nonprofits served</a:t>
            </a:r>
            <a:endParaRPr lang="en-US" sz="1600" dirty="0"/>
          </a:p>
        </p:txBody>
      </p:sp>
      <p:sp>
        <p:nvSpPr>
          <p:cNvPr id="22" name="Text 20"/>
          <p:cNvSpPr/>
          <p:nvPr/>
        </p:nvSpPr>
        <p:spPr>
          <a:xfrm>
            <a:off x="8595360" y="4023360"/>
            <a:ext cx="3200400" cy="2103120"/>
          </a:xfrm>
          <a:prstGeom prst="rect">
            <a:avLst/>
          </a:prstGeom>
          <a:noFill/>
          <a:ln/>
        </p:spPr>
        <p:txBody>
          <a:bodyPr wrap="square" rtlCol="0" anchor="ctr"/>
          <a:lstStyle/>
          <a:p>
            <a:pPr indent="0" marL="0">
              <a:lnSpc>
                <a:spcPct val="140000"/>
              </a:lnSpc>
              <a:buNone/>
            </a:pPr>
            <a:r>
              <a:rPr lang="en-US" sz="1100" dirty="0">
                <a:solidFill>
                  <a:srgbClr val="404040"/>
                </a:solidFill>
                <a:latin typeface="Roboto" pitchFamily="34" charset="0"/>
                <a:ea typeface="Roboto" pitchFamily="34" charset="-122"/>
                <a:cs typeface="Roboto" pitchFamily="34" charset="-120"/>
              </a:rPr>
              <a:t>Projects scoped around actual need [11]. Volunteers oriented toward the work. Reciprocal, recurring relationships [12] that produce sustained connection rather than photo opportunities.</a:t>
            </a:r>
            <a:endParaRPr lang="en-US" sz="1100" dirty="0"/>
          </a:p>
        </p:txBody>
      </p:sp>
      <p:sp>
        <p:nvSpPr>
          <p:cNvPr id="23" name="Shape 21"/>
          <p:cNvSpPr/>
          <p:nvPr/>
        </p:nvSpPr>
        <p:spPr>
          <a:xfrm>
            <a:off x="548640" y="6355080"/>
            <a:ext cx="11094415" cy="0"/>
          </a:xfrm>
          <a:prstGeom prst="line">
            <a:avLst/>
          </a:prstGeom>
          <a:noFill/>
          <a:ln w="6350">
            <a:solidFill>
              <a:srgbClr val="C2C2C6"/>
            </a:solidFill>
            <a:prstDash val="solid"/>
          </a:ln>
        </p:spPr>
      </p:sp>
      <p:sp>
        <p:nvSpPr>
          <p:cNvPr id="24" name="Text 22"/>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25" name="Text 23"/>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RIPPLE EFFECT AT SCALE</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400" b="1" dirty="0">
                <a:solidFill>
                  <a:srgbClr val="3C3F44"/>
                </a:solidFill>
                <a:latin typeface="Roboto" pitchFamily="34" charset="0"/>
                <a:ea typeface="Roboto" pitchFamily="34" charset="-122"/>
                <a:cs typeface="Roboto" pitchFamily="34" charset="-120"/>
              </a:rPr>
              <a:t>From a small cohort, a new model for measurable impact and inclusion.</a:t>
            </a:r>
            <a:endParaRPr lang="en-US" sz="24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Text 3"/>
          <p:cNvSpPr/>
          <p:nvPr/>
        </p:nvSpPr>
        <p:spPr>
          <a:xfrm>
            <a:off x="548640" y="2103120"/>
            <a:ext cx="5669280" cy="3840480"/>
          </a:xfrm>
          <a:prstGeom prst="rect">
            <a:avLst/>
          </a:prstGeom>
          <a:noFill/>
          <a:ln/>
        </p:spPr>
        <p:txBody>
          <a:bodyPr wrap="square" rtlCol="0" anchor="ctr"/>
          <a:lstStyle/>
          <a:p>
            <a:pPr indent="0" marL="0">
              <a:lnSpc>
                <a:spcPct val="150000"/>
              </a:lnSpc>
              <a:buNone/>
            </a:pPr>
            <a:r>
              <a:rPr lang="en-US" sz="1300" dirty="0">
                <a:solidFill>
                  <a:srgbClr val="404040"/>
                </a:solidFill>
                <a:latin typeface="Roboto" pitchFamily="34" charset="0"/>
                <a:ea typeface="Roboto" pitchFamily="34" charset="-122"/>
                <a:cs typeface="Roboto" pitchFamily="34" charset="-120"/>
              </a:rPr>
              <a:t>This initial team of six will return with a repeatable framework for Transformative Volunteering. They will apply this to their own projects and also become internal models for our wider champion community. This creates a scalable way to diffuse these skills throughout our existing global network, shifting our focus from pure quantity to measurable quality.</a:t>
            </a:r>
            <a:endParaRPr lang="en-US" sz="1300" dirty="0"/>
          </a:p>
        </p:txBody>
      </p:sp>
      <p:sp>
        <p:nvSpPr>
          <p:cNvPr id="6" name="Shape 4"/>
          <p:cNvSpPr/>
          <p:nvPr/>
        </p:nvSpPr>
        <p:spPr>
          <a:xfrm>
            <a:off x="6583680" y="2194560"/>
            <a:ext cx="5120640" cy="3657600"/>
          </a:xfrm>
          <a:prstGeom prst="rect">
            <a:avLst/>
          </a:prstGeom>
          <a:solidFill>
            <a:srgbClr val="F6F7F8"/>
          </a:solidFill>
          <a:ln w="6350">
            <a:solidFill>
              <a:srgbClr val="C2C2C6"/>
            </a:solidFill>
            <a:prstDash val="solid"/>
          </a:ln>
        </p:spPr>
      </p:sp>
      <p:sp>
        <p:nvSpPr>
          <p:cNvPr id="7" name="Text 5"/>
          <p:cNvSpPr/>
          <p:nvPr/>
        </p:nvSpPr>
        <p:spPr>
          <a:xfrm>
            <a:off x="6766560" y="2331720"/>
            <a:ext cx="4754880" cy="274320"/>
          </a:xfrm>
          <a:prstGeom prst="rect">
            <a:avLst/>
          </a:prstGeom>
          <a:noFill/>
          <a:ln/>
        </p:spPr>
        <p:txBody>
          <a:bodyPr wrap="square" rtlCol="0" anchor="ctr"/>
          <a:lstStyle/>
          <a:p>
            <a:pPr indent="0" marL="0">
              <a:buNone/>
            </a:pPr>
            <a:r>
              <a:rPr lang="en-US" sz="900" b="1" spc="400" kern="0" dirty="0">
                <a:solidFill>
                  <a:srgbClr val="EC5C2A"/>
                </a:solidFill>
                <a:latin typeface="Roboto Condensed" pitchFamily="34" charset="0"/>
                <a:ea typeface="Roboto Condensed" pitchFamily="34" charset="-122"/>
                <a:cs typeface="Roboto Condensed" pitchFamily="34" charset="-120"/>
              </a:rPr>
              <a:t>EVENTS TOUCHED PER YEAR</a:t>
            </a:r>
            <a:endParaRPr lang="en-US" sz="900" dirty="0"/>
          </a:p>
        </p:txBody>
      </p:sp>
      <p:sp>
        <p:nvSpPr>
          <p:cNvPr id="8" name="Shape 6"/>
          <p:cNvSpPr/>
          <p:nvPr/>
        </p:nvSpPr>
        <p:spPr>
          <a:xfrm>
            <a:off x="7040880" y="5210937"/>
            <a:ext cx="548640" cy="92583"/>
          </a:xfrm>
          <a:prstGeom prst="rect">
            <a:avLst/>
          </a:prstGeom>
          <a:solidFill>
            <a:srgbClr val="7FB5C2"/>
          </a:solidFill>
          <a:ln w="12700">
            <a:solidFill>
              <a:srgbClr val="7FB5C2"/>
            </a:solidFill>
            <a:prstDash val="solid"/>
          </a:ln>
        </p:spPr>
      </p:sp>
      <p:sp>
        <p:nvSpPr>
          <p:cNvPr id="9" name="Shape 7"/>
          <p:cNvSpPr/>
          <p:nvPr/>
        </p:nvSpPr>
        <p:spPr>
          <a:xfrm>
            <a:off x="7680960" y="4748022"/>
            <a:ext cx="548640" cy="555498"/>
          </a:xfrm>
          <a:prstGeom prst="rect">
            <a:avLst/>
          </a:prstGeom>
          <a:solidFill>
            <a:srgbClr val="EC5C2A"/>
          </a:solidFill>
          <a:ln w="12700">
            <a:solidFill>
              <a:srgbClr val="EC5C2A"/>
            </a:solidFill>
            <a:prstDash val="solid"/>
          </a:ln>
        </p:spPr>
      </p:sp>
      <p:sp>
        <p:nvSpPr>
          <p:cNvPr id="10" name="Text 8"/>
          <p:cNvSpPr/>
          <p:nvPr/>
        </p:nvSpPr>
        <p:spPr>
          <a:xfrm>
            <a:off x="6858000" y="5349240"/>
            <a:ext cx="1554480" cy="274320"/>
          </a:xfrm>
          <a:prstGeom prst="rect">
            <a:avLst/>
          </a:prstGeom>
          <a:noFill/>
          <a:ln/>
        </p:spPr>
        <p:txBody>
          <a:bodyPr wrap="square" rtlCol="0" anchor="ctr"/>
          <a:lstStyle/>
          <a:p>
            <a:pPr algn="ctr" indent="0" marL="0">
              <a:buNone/>
            </a:pPr>
            <a:r>
              <a:rPr lang="en-US" sz="1000" b="1" dirty="0">
                <a:solidFill>
                  <a:srgbClr val="0A3454"/>
                </a:solidFill>
                <a:latin typeface="Roboto Condensed" pitchFamily="34" charset="0"/>
                <a:ea typeface="Roboto Condensed" pitchFamily="34" charset="-122"/>
                <a:cs typeface="Roboto Condensed" pitchFamily="34" charset="-120"/>
              </a:rPr>
              <a:t>6-pack</a:t>
            </a:r>
            <a:endParaRPr lang="en-US" sz="1000" dirty="0"/>
          </a:p>
        </p:txBody>
      </p:sp>
      <p:sp>
        <p:nvSpPr>
          <p:cNvPr id="11" name="Text 9"/>
          <p:cNvSpPr/>
          <p:nvPr/>
        </p:nvSpPr>
        <p:spPr>
          <a:xfrm>
            <a:off x="7680960" y="4473702"/>
            <a:ext cx="548640" cy="274320"/>
          </a:xfrm>
          <a:prstGeom prst="rect">
            <a:avLst/>
          </a:prstGeom>
          <a:noFill/>
          <a:ln/>
        </p:spPr>
        <p:txBody>
          <a:bodyPr wrap="square" rtlCol="0" anchor="ctr"/>
          <a:lstStyle/>
          <a:p>
            <a:pPr algn="ctr" indent="0" marL="0">
              <a:buNone/>
            </a:pPr>
            <a:r>
              <a:rPr lang="en-US" sz="1000" b="1" dirty="0">
                <a:solidFill>
                  <a:srgbClr val="EC5C2A"/>
                </a:solidFill>
                <a:latin typeface="Roboto" pitchFamily="34" charset="0"/>
                <a:ea typeface="Roboto" pitchFamily="34" charset="-122"/>
                <a:cs typeface="Roboto" pitchFamily="34" charset="-120"/>
              </a:rPr>
              <a:t>180</a:t>
            </a:r>
            <a:endParaRPr lang="en-US" sz="1000" dirty="0"/>
          </a:p>
        </p:txBody>
      </p:sp>
      <p:sp>
        <p:nvSpPr>
          <p:cNvPr id="12" name="Shape 10"/>
          <p:cNvSpPr/>
          <p:nvPr/>
        </p:nvSpPr>
        <p:spPr>
          <a:xfrm>
            <a:off x="8595360" y="5118354"/>
            <a:ext cx="548640" cy="185166"/>
          </a:xfrm>
          <a:prstGeom prst="rect">
            <a:avLst/>
          </a:prstGeom>
          <a:solidFill>
            <a:srgbClr val="7FB5C2"/>
          </a:solidFill>
          <a:ln w="12700">
            <a:solidFill>
              <a:srgbClr val="7FB5C2"/>
            </a:solidFill>
            <a:prstDash val="solid"/>
          </a:ln>
        </p:spPr>
      </p:sp>
      <p:sp>
        <p:nvSpPr>
          <p:cNvPr id="13" name="Shape 11"/>
          <p:cNvSpPr/>
          <p:nvPr/>
        </p:nvSpPr>
        <p:spPr>
          <a:xfrm>
            <a:off x="9235440" y="4007358"/>
            <a:ext cx="548640" cy="1296162"/>
          </a:xfrm>
          <a:prstGeom prst="rect">
            <a:avLst/>
          </a:prstGeom>
          <a:solidFill>
            <a:srgbClr val="EC5C2A"/>
          </a:solidFill>
          <a:ln w="12700">
            <a:solidFill>
              <a:srgbClr val="EC5C2A"/>
            </a:solidFill>
            <a:prstDash val="solid"/>
          </a:ln>
        </p:spPr>
      </p:sp>
      <p:sp>
        <p:nvSpPr>
          <p:cNvPr id="14" name="Text 12"/>
          <p:cNvSpPr/>
          <p:nvPr/>
        </p:nvSpPr>
        <p:spPr>
          <a:xfrm>
            <a:off x="8412480" y="5349240"/>
            <a:ext cx="1554480" cy="274320"/>
          </a:xfrm>
          <a:prstGeom prst="rect">
            <a:avLst/>
          </a:prstGeom>
          <a:noFill/>
          <a:ln/>
        </p:spPr>
        <p:txBody>
          <a:bodyPr wrap="square" rtlCol="0" anchor="ctr"/>
          <a:lstStyle/>
          <a:p>
            <a:pPr algn="ctr" indent="0" marL="0">
              <a:buNone/>
            </a:pPr>
            <a:r>
              <a:rPr lang="en-US" sz="1000" b="1" dirty="0">
                <a:solidFill>
                  <a:srgbClr val="0A3454"/>
                </a:solidFill>
                <a:latin typeface="Roboto Condensed" pitchFamily="34" charset="0"/>
                <a:ea typeface="Roboto Condensed" pitchFamily="34" charset="-122"/>
                <a:cs typeface="Roboto Condensed" pitchFamily="34" charset="-120"/>
              </a:rPr>
              <a:t>12-pack</a:t>
            </a:r>
            <a:endParaRPr lang="en-US" sz="1000" dirty="0"/>
          </a:p>
        </p:txBody>
      </p:sp>
      <p:sp>
        <p:nvSpPr>
          <p:cNvPr id="15" name="Text 13"/>
          <p:cNvSpPr/>
          <p:nvPr/>
        </p:nvSpPr>
        <p:spPr>
          <a:xfrm>
            <a:off x="9235440" y="3733038"/>
            <a:ext cx="548640" cy="274320"/>
          </a:xfrm>
          <a:prstGeom prst="rect">
            <a:avLst/>
          </a:prstGeom>
          <a:noFill/>
          <a:ln/>
        </p:spPr>
        <p:txBody>
          <a:bodyPr wrap="square" rtlCol="0" anchor="ctr"/>
          <a:lstStyle/>
          <a:p>
            <a:pPr algn="ctr" indent="0" marL="0">
              <a:buNone/>
            </a:pPr>
            <a:r>
              <a:rPr lang="en-US" sz="1000" b="1" dirty="0">
                <a:solidFill>
                  <a:srgbClr val="EC5C2A"/>
                </a:solidFill>
                <a:latin typeface="Roboto" pitchFamily="34" charset="0"/>
                <a:ea typeface="Roboto" pitchFamily="34" charset="-122"/>
                <a:cs typeface="Roboto" pitchFamily="34" charset="-120"/>
              </a:rPr>
              <a:t>420</a:t>
            </a:r>
            <a:endParaRPr lang="en-US" sz="1000" dirty="0"/>
          </a:p>
        </p:txBody>
      </p:sp>
      <p:sp>
        <p:nvSpPr>
          <p:cNvPr id="16" name="Shape 14"/>
          <p:cNvSpPr/>
          <p:nvPr/>
        </p:nvSpPr>
        <p:spPr>
          <a:xfrm>
            <a:off x="10149840" y="5025771"/>
            <a:ext cx="548640" cy="277749"/>
          </a:xfrm>
          <a:prstGeom prst="rect">
            <a:avLst/>
          </a:prstGeom>
          <a:solidFill>
            <a:srgbClr val="7FB5C2"/>
          </a:solidFill>
          <a:ln w="12700">
            <a:solidFill>
              <a:srgbClr val="7FB5C2"/>
            </a:solidFill>
            <a:prstDash val="solid"/>
          </a:ln>
        </p:spPr>
      </p:sp>
      <p:sp>
        <p:nvSpPr>
          <p:cNvPr id="17" name="Shape 15"/>
          <p:cNvSpPr/>
          <p:nvPr/>
        </p:nvSpPr>
        <p:spPr>
          <a:xfrm>
            <a:off x="10789920" y="3081528"/>
            <a:ext cx="548640" cy="2221992"/>
          </a:xfrm>
          <a:prstGeom prst="rect">
            <a:avLst/>
          </a:prstGeom>
          <a:solidFill>
            <a:srgbClr val="EC5C2A"/>
          </a:solidFill>
          <a:ln w="12700">
            <a:solidFill>
              <a:srgbClr val="EC5C2A"/>
            </a:solidFill>
            <a:prstDash val="solid"/>
          </a:ln>
        </p:spPr>
      </p:sp>
      <p:sp>
        <p:nvSpPr>
          <p:cNvPr id="18" name="Text 16"/>
          <p:cNvSpPr/>
          <p:nvPr/>
        </p:nvSpPr>
        <p:spPr>
          <a:xfrm>
            <a:off x="9966960" y="5349240"/>
            <a:ext cx="1554480" cy="274320"/>
          </a:xfrm>
          <a:prstGeom prst="rect">
            <a:avLst/>
          </a:prstGeom>
          <a:noFill/>
          <a:ln/>
        </p:spPr>
        <p:txBody>
          <a:bodyPr wrap="square" rtlCol="0" anchor="ctr"/>
          <a:lstStyle/>
          <a:p>
            <a:pPr algn="ctr" indent="0" marL="0">
              <a:buNone/>
            </a:pPr>
            <a:r>
              <a:rPr lang="en-US" sz="1000" b="1" dirty="0">
                <a:solidFill>
                  <a:srgbClr val="0A3454"/>
                </a:solidFill>
                <a:latin typeface="Roboto Condensed" pitchFamily="34" charset="0"/>
                <a:ea typeface="Roboto Condensed" pitchFamily="34" charset="-122"/>
                <a:cs typeface="Roboto Condensed" pitchFamily="34" charset="-120"/>
              </a:rPr>
              <a:t>18-pack</a:t>
            </a:r>
            <a:endParaRPr lang="en-US" sz="1000" dirty="0"/>
          </a:p>
        </p:txBody>
      </p:sp>
      <p:sp>
        <p:nvSpPr>
          <p:cNvPr id="19" name="Text 17"/>
          <p:cNvSpPr/>
          <p:nvPr/>
        </p:nvSpPr>
        <p:spPr>
          <a:xfrm>
            <a:off x="10789920" y="2807208"/>
            <a:ext cx="548640" cy="274320"/>
          </a:xfrm>
          <a:prstGeom prst="rect">
            <a:avLst/>
          </a:prstGeom>
          <a:noFill/>
          <a:ln/>
        </p:spPr>
        <p:txBody>
          <a:bodyPr wrap="square" rtlCol="0" anchor="ctr"/>
          <a:lstStyle/>
          <a:p>
            <a:pPr algn="ctr" indent="0" marL="0">
              <a:buNone/>
            </a:pPr>
            <a:r>
              <a:rPr lang="en-US" sz="1000" b="1" dirty="0">
                <a:solidFill>
                  <a:srgbClr val="EC5C2A"/>
                </a:solidFill>
                <a:latin typeface="Roboto" pitchFamily="34" charset="0"/>
                <a:ea typeface="Roboto" pitchFamily="34" charset="-122"/>
                <a:cs typeface="Roboto" pitchFamily="34" charset="-120"/>
              </a:rPr>
              <a:t>720</a:t>
            </a:r>
            <a:endParaRPr lang="en-US" sz="1000" dirty="0"/>
          </a:p>
        </p:txBody>
      </p:sp>
      <p:sp>
        <p:nvSpPr>
          <p:cNvPr id="20" name="Shape 18"/>
          <p:cNvSpPr/>
          <p:nvPr/>
        </p:nvSpPr>
        <p:spPr>
          <a:xfrm>
            <a:off x="6858000" y="5486400"/>
            <a:ext cx="182880" cy="137160"/>
          </a:xfrm>
          <a:prstGeom prst="rect">
            <a:avLst/>
          </a:prstGeom>
          <a:solidFill>
            <a:srgbClr val="7FB5C2"/>
          </a:solidFill>
          <a:ln w="12700">
            <a:solidFill>
              <a:srgbClr val="7FB5C2"/>
            </a:solidFill>
            <a:prstDash val="solid"/>
          </a:ln>
        </p:spPr>
      </p:sp>
      <p:sp>
        <p:nvSpPr>
          <p:cNvPr id="21" name="Text 19"/>
          <p:cNvSpPr/>
          <p:nvPr/>
        </p:nvSpPr>
        <p:spPr>
          <a:xfrm>
            <a:off x="7086600" y="5440680"/>
            <a:ext cx="1828800" cy="228600"/>
          </a:xfrm>
          <a:prstGeom prst="rect">
            <a:avLst/>
          </a:prstGeom>
          <a:noFill/>
          <a:ln/>
        </p:spPr>
        <p:txBody>
          <a:bodyPr wrap="square" rtlCol="0" anchor="ctr"/>
          <a:lstStyle/>
          <a:p>
            <a:pPr indent="0" marL="0">
              <a:buNone/>
            </a:pPr>
            <a:r>
              <a:rPr lang="en-US" sz="900" dirty="0">
                <a:solidFill>
                  <a:srgbClr val="6B6B6F"/>
                </a:solidFill>
                <a:latin typeface="Roboto Condensed" pitchFamily="34" charset="0"/>
                <a:ea typeface="Roboto Condensed" pitchFamily="34" charset="-122"/>
                <a:cs typeface="Roboto Condensed" pitchFamily="34" charset="-120"/>
              </a:rPr>
              <a:t>Untrained champion</a:t>
            </a:r>
            <a:endParaRPr lang="en-US" sz="900" dirty="0"/>
          </a:p>
        </p:txBody>
      </p:sp>
      <p:sp>
        <p:nvSpPr>
          <p:cNvPr id="22" name="Shape 20"/>
          <p:cNvSpPr/>
          <p:nvPr/>
        </p:nvSpPr>
        <p:spPr>
          <a:xfrm>
            <a:off x="8961120" y="5486400"/>
            <a:ext cx="182880" cy="137160"/>
          </a:xfrm>
          <a:prstGeom prst="rect">
            <a:avLst/>
          </a:prstGeom>
          <a:solidFill>
            <a:srgbClr val="EC5C2A"/>
          </a:solidFill>
          <a:ln w="12700">
            <a:solidFill>
              <a:srgbClr val="EC5C2A"/>
            </a:solidFill>
            <a:prstDash val="solid"/>
          </a:ln>
        </p:spPr>
      </p:sp>
      <p:sp>
        <p:nvSpPr>
          <p:cNvPr id="23" name="Text 21"/>
          <p:cNvSpPr/>
          <p:nvPr/>
        </p:nvSpPr>
        <p:spPr>
          <a:xfrm>
            <a:off x="9189720" y="5440680"/>
            <a:ext cx="1828800" cy="228600"/>
          </a:xfrm>
          <a:prstGeom prst="rect">
            <a:avLst/>
          </a:prstGeom>
          <a:noFill/>
          <a:ln/>
        </p:spPr>
        <p:txBody>
          <a:bodyPr wrap="square" rtlCol="0" anchor="ctr"/>
          <a:lstStyle/>
          <a:p>
            <a:pPr indent="0" marL="0">
              <a:buNone/>
            </a:pPr>
            <a:r>
              <a:rPr lang="en-US" sz="900" dirty="0">
                <a:solidFill>
                  <a:srgbClr val="6B6B6F"/>
                </a:solidFill>
                <a:latin typeface="Roboto Condensed" pitchFamily="34" charset="0"/>
                <a:ea typeface="Roboto Condensed" pitchFamily="34" charset="-122"/>
                <a:cs typeface="Roboto Condensed" pitchFamily="34" charset="-120"/>
              </a:rPr>
              <a:t>Trained champion</a:t>
            </a:r>
            <a:endParaRPr lang="en-US" sz="900" dirty="0"/>
          </a:p>
        </p:txBody>
      </p:sp>
      <p:sp>
        <p:nvSpPr>
          <p:cNvPr id="24" name="Shape 22"/>
          <p:cNvSpPr/>
          <p:nvPr/>
        </p:nvSpPr>
        <p:spPr>
          <a:xfrm>
            <a:off x="548640" y="6355080"/>
            <a:ext cx="11094415" cy="0"/>
          </a:xfrm>
          <a:prstGeom prst="line">
            <a:avLst/>
          </a:prstGeom>
          <a:noFill/>
          <a:ln w="6350">
            <a:solidFill>
              <a:srgbClr val="C2C2C6"/>
            </a:solidFill>
            <a:prstDash val="solid"/>
          </a:ln>
        </p:spPr>
      </p:sp>
      <p:sp>
        <p:nvSpPr>
          <p:cNvPr id="25" name="Text 23"/>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26" name="Text 24"/>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7F8"/>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THE CAMPUS</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800" b="1" dirty="0">
                <a:solidFill>
                  <a:srgbClr val="3C3F44"/>
                </a:solidFill>
                <a:latin typeface="Roboto" pitchFamily="34" charset="0"/>
                <a:ea typeface="Roboto" pitchFamily="34" charset="-122"/>
                <a:cs typeface="Roboto" pitchFamily="34" charset="-120"/>
              </a:rPr>
              <a:t>Two days, designed end-to-end</a:t>
            </a:r>
            <a:endParaRPr lang="en-US" sz="28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Shape 3"/>
          <p:cNvSpPr/>
          <p:nvPr/>
        </p:nvSpPr>
        <p:spPr>
          <a:xfrm>
            <a:off x="548640" y="2194560"/>
            <a:ext cx="1371600" cy="1828800"/>
          </a:xfrm>
          <a:prstGeom prst="rect">
            <a:avLst/>
          </a:prstGeom>
          <a:solidFill>
            <a:srgbClr val="0A3454"/>
          </a:solidFill>
          <a:ln w="12700">
            <a:solidFill>
              <a:srgbClr val="0A3454"/>
            </a:solidFill>
            <a:prstDash val="solid"/>
          </a:ln>
        </p:spPr>
      </p:sp>
      <p:sp>
        <p:nvSpPr>
          <p:cNvPr id="6" name="Text 4"/>
          <p:cNvSpPr/>
          <p:nvPr/>
        </p:nvSpPr>
        <p:spPr>
          <a:xfrm>
            <a:off x="548640" y="2377440"/>
            <a:ext cx="1371600" cy="365760"/>
          </a:xfrm>
          <a:prstGeom prst="rect">
            <a:avLst/>
          </a:prstGeom>
          <a:noFill/>
          <a:ln/>
        </p:spPr>
        <p:txBody>
          <a:bodyPr wrap="square" rtlCol="0" anchor="ctr"/>
          <a:lstStyle/>
          <a:p>
            <a:pPr algn="ctr" indent="0" marL="0">
              <a:buNone/>
            </a:pPr>
            <a:r>
              <a:rPr lang="en-US" sz="1400" b="1" spc="400" kern="0" dirty="0">
                <a:solidFill>
                  <a:srgbClr val="EC5C2A"/>
                </a:solidFill>
                <a:latin typeface="Roboto" pitchFamily="34" charset="0"/>
                <a:ea typeface="Roboto" pitchFamily="34" charset="-122"/>
                <a:cs typeface="Roboto" pitchFamily="34" charset="-120"/>
              </a:rPr>
              <a:t>DAY 1</a:t>
            </a:r>
            <a:endParaRPr lang="en-US" sz="1400" dirty="0"/>
          </a:p>
        </p:txBody>
      </p:sp>
      <p:sp>
        <p:nvSpPr>
          <p:cNvPr id="7" name="Text 5"/>
          <p:cNvSpPr/>
          <p:nvPr/>
        </p:nvSpPr>
        <p:spPr>
          <a:xfrm>
            <a:off x="548640" y="2834640"/>
            <a:ext cx="1371600" cy="1097280"/>
          </a:xfrm>
          <a:prstGeom prst="rect">
            <a:avLst/>
          </a:prstGeom>
          <a:noFill/>
          <a:ln/>
        </p:spPr>
        <p:txBody>
          <a:bodyPr wrap="square" rtlCol="0" anchor="ctr"/>
          <a:lstStyle/>
          <a:p>
            <a:pPr algn="ctr" indent="0" marL="0">
              <a:lnSpc>
                <a:spcPct val="130000"/>
              </a:lnSpc>
              <a:buNone/>
            </a:pPr>
            <a:r>
              <a:rPr lang="en-US" sz="1100" i="1" dirty="0">
                <a:solidFill>
                  <a:srgbClr val="B8D8DC"/>
                </a:solidFill>
                <a:latin typeface="Roboto" pitchFamily="34" charset="0"/>
                <a:ea typeface="Roboto" pitchFamily="34" charset="-122"/>
                <a:cs typeface="Roboto" pitchFamily="34" charset="-120"/>
              </a:rPr>
              <a:t>Brief, experience, debrief — live</a:t>
            </a:r>
            <a:endParaRPr lang="en-US" sz="1100" dirty="0"/>
          </a:p>
        </p:txBody>
      </p:sp>
      <p:sp>
        <p:nvSpPr>
          <p:cNvPr id="8" name="Shape 6"/>
          <p:cNvSpPr/>
          <p:nvPr/>
        </p:nvSpPr>
        <p:spPr>
          <a:xfrm>
            <a:off x="2103120" y="2194560"/>
            <a:ext cx="3108960" cy="1828800"/>
          </a:xfrm>
          <a:prstGeom prst="rect">
            <a:avLst/>
          </a:prstGeom>
          <a:solidFill>
            <a:srgbClr val="FFFFFF"/>
          </a:solidFill>
          <a:ln w="6350">
            <a:solidFill>
              <a:srgbClr val="C2C2C6"/>
            </a:solidFill>
            <a:prstDash val="solid"/>
          </a:ln>
        </p:spPr>
      </p:sp>
      <p:sp>
        <p:nvSpPr>
          <p:cNvPr id="9" name="Text 7"/>
          <p:cNvSpPr/>
          <p:nvPr/>
        </p:nvSpPr>
        <p:spPr>
          <a:xfrm>
            <a:off x="2286000" y="2377440"/>
            <a:ext cx="2743200" cy="274320"/>
          </a:xfrm>
          <a:prstGeom prst="rect">
            <a:avLst/>
          </a:prstGeom>
          <a:noFill/>
          <a:ln/>
        </p:spPr>
        <p:txBody>
          <a:bodyPr wrap="square" rtlCol="0" anchor="ctr"/>
          <a:lstStyle/>
          <a:p>
            <a:pPr indent="0" marL="0">
              <a:buNone/>
            </a:pPr>
            <a:r>
              <a:rPr lang="en-US" sz="900" b="1" spc="300" kern="0" dirty="0">
                <a:solidFill>
                  <a:srgbClr val="EC5C2A"/>
                </a:solidFill>
                <a:latin typeface="Roboto Condensed" pitchFamily="34" charset="0"/>
                <a:ea typeface="Roboto Condensed" pitchFamily="34" charset="-122"/>
                <a:cs typeface="Roboto Condensed" pitchFamily="34" charset="-120"/>
              </a:rPr>
              <a:t>MORNING</a:t>
            </a:r>
            <a:endParaRPr lang="en-US" sz="900" dirty="0"/>
          </a:p>
        </p:txBody>
      </p:sp>
      <p:sp>
        <p:nvSpPr>
          <p:cNvPr id="10" name="Text 8"/>
          <p:cNvSpPr/>
          <p:nvPr/>
        </p:nvSpPr>
        <p:spPr>
          <a:xfrm>
            <a:off x="2286000" y="2697480"/>
            <a:ext cx="2743200" cy="457200"/>
          </a:xfrm>
          <a:prstGeom prst="rect">
            <a:avLst/>
          </a:prstGeom>
          <a:noFill/>
          <a:ln/>
        </p:spPr>
        <p:txBody>
          <a:bodyPr wrap="square" rtlCol="0" anchor="ctr"/>
          <a:lstStyle/>
          <a:p>
            <a:pPr indent="0" marL="0">
              <a:buNone/>
            </a:pPr>
            <a:r>
              <a:rPr lang="en-US" sz="1300" b="1" dirty="0">
                <a:solidFill>
                  <a:srgbClr val="0A3454"/>
                </a:solidFill>
                <a:latin typeface="Roboto" pitchFamily="34" charset="0"/>
                <a:ea typeface="Roboto" pitchFamily="34" charset="-122"/>
                <a:cs typeface="Roboto" pitchFamily="34" charset="-120"/>
              </a:rPr>
              <a:t>Brief masterclass</a:t>
            </a:r>
            <a:endParaRPr lang="en-US" sz="1300" dirty="0"/>
          </a:p>
        </p:txBody>
      </p:sp>
      <p:sp>
        <p:nvSpPr>
          <p:cNvPr id="11" name="Text 9"/>
          <p:cNvSpPr/>
          <p:nvPr/>
        </p:nvSpPr>
        <p:spPr>
          <a:xfrm>
            <a:off x="2286000" y="3200400"/>
            <a:ext cx="2743200" cy="777240"/>
          </a:xfrm>
          <a:prstGeom prst="rect">
            <a:avLst/>
          </a:prstGeom>
          <a:noFill/>
          <a:ln/>
        </p:spPr>
        <p:txBody>
          <a:bodyPr wrap="square" rtlCol="0" anchor="ctr"/>
          <a:lstStyle/>
          <a:p>
            <a:pPr indent="0" marL="0">
              <a:lnSpc>
                <a:spcPct val="130000"/>
              </a:lnSpc>
              <a:buNone/>
            </a:pPr>
            <a:r>
              <a:rPr lang="en-US" sz="1000" dirty="0">
                <a:solidFill>
                  <a:srgbClr val="404040"/>
                </a:solidFill>
                <a:latin typeface="Roboto" pitchFamily="34" charset="0"/>
                <a:ea typeface="Roboto" pitchFamily="34" charset="-122"/>
                <a:cs typeface="Roboto" pitchFamily="34" charset="-120"/>
              </a:rPr>
              <a:t>Frame, connect, set conditions for transformation.</a:t>
            </a:r>
            <a:endParaRPr lang="en-US" sz="1000" dirty="0"/>
          </a:p>
        </p:txBody>
      </p:sp>
      <p:sp>
        <p:nvSpPr>
          <p:cNvPr id="12" name="Shape 10"/>
          <p:cNvSpPr/>
          <p:nvPr/>
        </p:nvSpPr>
        <p:spPr>
          <a:xfrm>
            <a:off x="5394960" y="2194560"/>
            <a:ext cx="3108960" cy="1828800"/>
          </a:xfrm>
          <a:prstGeom prst="rect">
            <a:avLst/>
          </a:prstGeom>
          <a:solidFill>
            <a:srgbClr val="FFFFFF"/>
          </a:solidFill>
          <a:ln w="6350">
            <a:solidFill>
              <a:srgbClr val="C2C2C6"/>
            </a:solidFill>
            <a:prstDash val="solid"/>
          </a:ln>
        </p:spPr>
      </p:sp>
      <p:sp>
        <p:nvSpPr>
          <p:cNvPr id="13" name="Text 11"/>
          <p:cNvSpPr/>
          <p:nvPr/>
        </p:nvSpPr>
        <p:spPr>
          <a:xfrm>
            <a:off x="5577840" y="2377440"/>
            <a:ext cx="2743200" cy="274320"/>
          </a:xfrm>
          <a:prstGeom prst="rect">
            <a:avLst/>
          </a:prstGeom>
          <a:noFill/>
          <a:ln/>
        </p:spPr>
        <p:txBody>
          <a:bodyPr wrap="square" rtlCol="0" anchor="ctr"/>
          <a:lstStyle/>
          <a:p>
            <a:pPr indent="0" marL="0">
              <a:buNone/>
            </a:pPr>
            <a:r>
              <a:rPr lang="en-US" sz="900" b="1" spc="300" kern="0" dirty="0">
                <a:solidFill>
                  <a:srgbClr val="EC5C2A"/>
                </a:solidFill>
                <a:latin typeface="Roboto Condensed" pitchFamily="34" charset="0"/>
                <a:ea typeface="Roboto Condensed" pitchFamily="34" charset="-122"/>
                <a:cs typeface="Roboto Condensed" pitchFamily="34" charset="-120"/>
              </a:rPr>
              <a:t>MIDDAY</a:t>
            </a:r>
            <a:endParaRPr lang="en-US" sz="900" dirty="0"/>
          </a:p>
        </p:txBody>
      </p:sp>
      <p:sp>
        <p:nvSpPr>
          <p:cNvPr id="14" name="Text 12"/>
          <p:cNvSpPr/>
          <p:nvPr/>
        </p:nvSpPr>
        <p:spPr>
          <a:xfrm>
            <a:off x="5577840" y="2697480"/>
            <a:ext cx="2743200" cy="457200"/>
          </a:xfrm>
          <a:prstGeom prst="rect">
            <a:avLst/>
          </a:prstGeom>
          <a:noFill/>
          <a:ln/>
        </p:spPr>
        <p:txBody>
          <a:bodyPr wrap="square" rtlCol="0" anchor="ctr"/>
          <a:lstStyle/>
          <a:p>
            <a:pPr indent="0" marL="0">
              <a:buNone/>
            </a:pPr>
            <a:r>
              <a:rPr lang="en-US" sz="1300" b="1" dirty="0">
                <a:solidFill>
                  <a:srgbClr val="0A3454"/>
                </a:solidFill>
                <a:latin typeface="Roboto" pitchFamily="34" charset="0"/>
                <a:ea typeface="Roboto" pitchFamily="34" charset="-122"/>
                <a:cs typeface="Roboto" pitchFamily="34" charset="-120"/>
              </a:rPr>
              <a:t>Live nonprofit experience</a:t>
            </a:r>
            <a:endParaRPr lang="en-US" sz="1300" dirty="0"/>
          </a:p>
        </p:txBody>
      </p:sp>
      <p:sp>
        <p:nvSpPr>
          <p:cNvPr id="15" name="Text 13"/>
          <p:cNvSpPr/>
          <p:nvPr/>
        </p:nvSpPr>
        <p:spPr>
          <a:xfrm>
            <a:off x="5577840" y="3200400"/>
            <a:ext cx="2743200" cy="777240"/>
          </a:xfrm>
          <a:prstGeom prst="rect">
            <a:avLst/>
          </a:prstGeom>
          <a:noFill/>
          <a:ln/>
        </p:spPr>
        <p:txBody>
          <a:bodyPr wrap="square" rtlCol="0" anchor="ctr"/>
          <a:lstStyle/>
          <a:p>
            <a:pPr indent="0" marL="0">
              <a:lnSpc>
                <a:spcPct val="130000"/>
              </a:lnSpc>
              <a:buNone/>
            </a:pPr>
            <a:r>
              <a:rPr lang="en-US" sz="1000" dirty="0">
                <a:solidFill>
                  <a:srgbClr val="404040"/>
                </a:solidFill>
                <a:latin typeface="Roboto" pitchFamily="34" charset="0"/>
                <a:ea typeface="Roboto" pitchFamily="34" charset="-122"/>
                <a:cs typeface="Roboto" pitchFamily="34" charset="-120"/>
              </a:rPr>
              <a:t>Real volunteer work with a partner organization.</a:t>
            </a:r>
            <a:endParaRPr lang="en-US" sz="1000" dirty="0"/>
          </a:p>
        </p:txBody>
      </p:sp>
      <p:sp>
        <p:nvSpPr>
          <p:cNvPr id="16" name="Shape 14"/>
          <p:cNvSpPr/>
          <p:nvPr/>
        </p:nvSpPr>
        <p:spPr>
          <a:xfrm>
            <a:off x="8686800" y="2194560"/>
            <a:ext cx="3108960" cy="1828800"/>
          </a:xfrm>
          <a:prstGeom prst="rect">
            <a:avLst/>
          </a:prstGeom>
          <a:solidFill>
            <a:srgbClr val="FFFFFF"/>
          </a:solidFill>
          <a:ln w="6350">
            <a:solidFill>
              <a:srgbClr val="C2C2C6"/>
            </a:solidFill>
            <a:prstDash val="solid"/>
          </a:ln>
        </p:spPr>
      </p:sp>
      <p:sp>
        <p:nvSpPr>
          <p:cNvPr id="17" name="Text 15"/>
          <p:cNvSpPr/>
          <p:nvPr/>
        </p:nvSpPr>
        <p:spPr>
          <a:xfrm>
            <a:off x="8869680" y="2377440"/>
            <a:ext cx="2743200" cy="274320"/>
          </a:xfrm>
          <a:prstGeom prst="rect">
            <a:avLst/>
          </a:prstGeom>
          <a:noFill/>
          <a:ln/>
        </p:spPr>
        <p:txBody>
          <a:bodyPr wrap="square" rtlCol="0" anchor="ctr"/>
          <a:lstStyle/>
          <a:p>
            <a:pPr indent="0" marL="0">
              <a:buNone/>
            </a:pPr>
            <a:r>
              <a:rPr lang="en-US" sz="900" b="1" spc="300" kern="0" dirty="0">
                <a:solidFill>
                  <a:srgbClr val="EC5C2A"/>
                </a:solidFill>
                <a:latin typeface="Roboto Condensed" pitchFamily="34" charset="0"/>
                <a:ea typeface="Roboto Condensed" pitchFamily="34" charset="-122"/>
                <a:cs typeface="Roboto Condensed" pitchFamily="34" charset="-120"/>
              </a:rPr>
              <a:t>AFTERNOON</a:t>
            </a:r>
            <a:endParaRPr lang="en-US" sz="900" dirty="0"/>
          </a:p>
        </p:txBody>
      </p:sp>
      <p:sp>
        <p:nvSpPr>
          <p:cNvPr id="18" name="Text 16"/>
          <p:cNvSpPr/>
          <p:nvPr/>
        </p:nvSpPr>
        <p:spPr>
          <a:xfrm>
            <a:off x="8869680" y="2697480"/>
            <a:ext cx="2743200" cy="457200"/>
          </a:xfrm>
          <a:prstGeom prst="rect">
            <a:avLst/>
          </a:prstGeom>
          <a:noFill/>
          <a:ln/>
        </p:spPr>
        <p:txBody>
          <a:bodyPr wrap="square" rtlCol="0" anchor="ctr"/>
          <a:lstStyle/>
          <a:p>
            <a:pPr indent="0" marL="0">
              <a:buNone/>
            </a:pPr>
            <a:r>
              <a:rPr lang="en-US" sz="1300" b="1" dirty="0">
                <a:solidFill>
                  <a:srgbClr val="0A3454"/>
                </a:solidFill>
                <a:latin typeface="Roboto" pitchFamily="34" charset="0"/>
                <a:ea typeface="Roboto" pitchFamily="34" charset="-122"/>
                <a:cs typeface="Roboto" pitchFamily="34" charset="-120"/>
              </a:rPr>
              <a:t>40-minute debrief</a:t>
            </a:r>
            <a:endParaRPr lang="en-US" sz="1300" dirty="0"/>
          </a:p>
        </p:txBody>
      </p:sp>
      <p:sp>
        <p:nvSpPr>
          <p:cNvPr id="19" name="Text 17"/>
          <p:cNvSpPr/>
          <p:nvPr/>
        </p:nvSpPr>
        <p:spPr>
          <a:xfrm>
            <a:off x="8869680" y="3200400"/>
            <a:ext cx="2743200" cy="777240"/>
          </a:xfrm>
          <a:prstGeom prst="rect">
            <a:avLst/>
          </a:prstGeom>
          <a:noFill/>
          <a:ln/>
        </p:spPr>
        <p:txBody>
          <a:bodyPr wrap="square" rtlCol="0" anchor="ctr"/>
          <a:lstStyle/>
          <a:p>
            <a:pPr indent="0" marL="0">
              <a:lnSpc>
                <a:spcPct val="130000"/>
              </a:lnSpc>
              <a:buNone/>
            </a:pPr>
            <a:r>
              <a:rPr lang="en-US" sz="1000" dirty="0">
                <a:solidFill>
                  <a:srgbClr val="404040"/>
                </a:solidFill>
                <a:latin typeface="Roboto" pitchFamily="34" charset="0"/>
                <a:ea typeface="Roboto" pitchFamily="34" charset="-122"/>
                <a:cs typeface="Roboto" pitchFamily="34" charset="-120"/>
              </a:rPr>
              <a:t>Structured reflection in the consolidation window.</a:t>
            </a:r>
            <a:endParaRPr lang="en-US" sz="1000" dirty="0"/>
          </a:p>
        </p:txBody>
      </p:sp>
      <p:sp>
        <p:nvSpPr>
          <p:cNvPr id="20" name="Shape 18"/>
          <p:cNvSpPr/>
          <p:nvPr/>
        </p:nvSpPr>
        <p:spPr>
          <a:xfrm>
            <a:off x="548640" y="4389120"/>
            <a:ext cx="1371600" cy="1828800"/>
          </a:xfrm>
          <a:prstGeom prst="rect">
            <a:avLst/>
          </a:prstGeom>
          <a:solidFill>
            <a:srgbClr val="0A3454"/>
          </a:solidFill>
          <a:ln w="12700">
            <a:solidFill>
              <a:srgbClr val="0A3454"/>
            </a:solidFill>
            <a:prstDash val="solid"/>
          </a:ln>
        </p:spPr>
      </p:sp>
      <p:sp>
        <p:nvSpPr>
          <p:cNvPr id="21" name="Text 19"/>
          <p:cNvSpPr/>
          <p:nvPr/>
        </p:nvSpPr>
        <p:spPr>
          <a:xfrm>
            <a:off x="548640" y="4572000"/>
            <a:ext cx="1371600" cy="365760"/>
          </a:xfrm>
          <a:prstGeom prst="rect">
            <a:avLst/>
          </a:prstGeom>
          <a:noFill/>
          <a:ln/>
        </p:spPr>
        <p:txBody>
          <a:bodyPr wrap="square" rtlCol="0" anchor="ctr"/>
          <a:lstStyle/>
          <a:p>
            <a:pPr algn="ctr" indent="0" marL="0">
              <a:buNone/>
            </a:pPr>
            <a:r>
              <a:rPr lang="en-US" sz="1400" b="1" spc="400" kern="0" dirty="0">
                <a:solidFill>
                  <a:srgbClr val="EC5C2A"/>
                </a:solidFill>
                <a:latin typeface="Roboto" pitchFamily="34" charset="0"/>
                <a:ea typeface="Roboto" pitchFamily="34" charset="-122"/>
                <a:cs typeface="Roboto" pitchFamily="34" charset="-120"/>
              </a:rPr>
              <a:t>DAY 2</a:t>
            </a:r>
            <a:endParaRPr lang="en-US" sz="1400" dirty="0"/>
          </a:p>
        </p:txBody>
      </p:sp>
      <p:sp>
        <p:nvSpPr>
          <p:cNvPr id="22" name="Text 20"/>
          <p:cNvSpPr/>
          <p:nvPr/>
        </p:nvSpPr>
        <p:spPr>
          <a:xfrm>
            <a:off x="548640" y="5029200"/>
            <a:ext cx="1371600" cy="1097280"/>
          </a:xfrm>
          <a:prstGeom prst="rect">
            <a:avLst/>
          </a:prstGeom>
          <a:noFill/>
          <a:ln/>
        </p:spPr>
        <p:txBody>
          <a:bodyPr wrap="square" rtlCol="0" anchor="ctr"/>
          <a:lstStyle/>
          <a:p>
            <a:pPr algn="ctr" indent="0" marL="0">
              <a:lnSpc>
                <a:spcPct val="130000"/>
              </a:lnSpc>
              <a:buNone/>
            </a:pPr>
            <a:r>
              <a:rPr lang="en-US" sz="1100" i="1" dirty="0">
                <a:solidFill>
                  <a:srgbClr val="B8D8DC"/>
                </a:solidFill>
                <a:latin typeface="Roboto" pitchFamily="34" charset="0"/>
                <a:ea typeface="Roboto" pitchFamily="34" charset="-122"/>
                <a:cs typeface="Roboto" pitchFamily="34" charset="-120"/>
              </a:rPr>
              <a:t>Design, practice, commit</a:t>
            </a:r>
            <a:endParaRPr lang="en-US" sz="1100" dirty="0"/>
          </a:p>
        </p:txBody>
      </p:sp>
      <p:sp>
        <p:nvSpPr>
          <p:cNvPr id="23" name="Shape 21"/>
          <p:cNvSpPr/>
          <p:nvPr/>
        </p:nvSpPr>
        <p:spPr>
          <a:xfrm>
            <a:off x="2103120" y="4389120"/>
            <a:ext cx="3108960" cy="1828800"/>
          </a:xfrm>
          <a:prstGeom prst="rect">
            <a:avLst/>
          </a:prstGeom>
          <a:solidFill>
            <a:srgbClr val="FFFFFF"/>
          </a:solidFill>
          <a:ln w="6350">
            <a:solidFill>
              <a:srgbClr val="C2C2C6"/>
            </a:solidFill>
            <a:prstDash val="solid"/>
          </a:ln>
        </p:spPr>
      </p:sp>
      <p:sp>
        <p:nvSpPr>
          <p:cNvPr id="24" name="Text 22"/>
          <p:cNvSpPr/>
          <p:nvPr/>
        </p:nvSpPr>
        <p:spPr>
          <a:xfrm>
            <a:off x="2286000" y="4572000"/>
            <a:ext cx="2743200" cy="274320"/>
          </a:xfrm>
          <a:prstGeom prst="rect">
            <a:avLst/>
          </a:prstGeom>
          <a:noFill/>
          <a:ln/>
        </p:spPr>
        <p:txBody>
          <a:bodyPr wrap="square" rtlCol="0" anchor="ctr"/>
          <a:lstStyle/>
          <a:p>
            <a:pPr indent="0" marL="0">
              <a:buNone/>
            </a:pPr>
            <a:r>
              <a:rPr lang="en-US" sz="900" b="1" spc="300" kern="0" dirty="0">
                <a:solidFill>
                  <a:srgbClr val="EC5C2A"/>
                </a:solidFill>
                <a:latin typeface="Roboto Condensed" pitchFamily="34" charset="0"/>
                <a:ea typeface="Roboto Condensed" pitchFamily="34" charset="-122"/>
                <a:cs typeface="Roboto Condensed" pitchFamily="34" charset="-120"/>
              </a:rPr>
              <a:t>MORNING</a:t>
            </a:r>
            <a:endParaRPr lang="en-US" sz="900" dirty="0"/>
          </a:p>
        </p:txBody>
      </p:sp>
      <p:sp>
        <p:nvSpPr>
          <p:cNvPr id="25" name="Text 23"/>
          <p:cNvSpPr/>
          <p:nvPr/>
        </p:nvSpPr>
        <p:spPr>
          <a:xfrm>
            <a:off x="2286000" y="4892040"/>
            <a:ext cx="2743200" cy="457200"/>
          </a:xfrm>
          <a:prstGeom prst="rect">
            <a:avLst/>
          </a:prstGeom>
          <a:noFill/>
          <a:ln/>
        </p:spPr>
        <p:txBody>
          <a:bodyPr wrap="square" rtlCol="0" anchor="ctr"/>
          <a:lstStyle/>
          <a:p>
            <a:pPr indent="0" marL="0">
              <a:buNone/>
            </a:pPr>
            <a:r>
              <a:rPr lang="en-US" sz="1300" b="1" dirty="0">
                <a:solidFill>
                  <a:srgbClr val="0A3454"/>
                </a:solidFill>
                <a:latin typeface="Roboto" pitchFamily="34" charset="0"/>
                <a:ea typeface="Roboto" pitchFamily="34" charset="-122"/>
                <a:cs typeface="Roboto" pitchFamily="34" charset="-120"/>
              </a:rPr>
              <a:t>Design workshop</a:t>
            </a:r>
            <a:endParaRPr lang="en-US" sz="1300" dirty="0"/>
          </a:p>
        </p:txBody>
      </p:sp>
      <p:sp>
        <p:nvSpPr>
          <p:cNvPr id="26" name="Text 24"/>
          <p:cNvSpPr/>
          <p:nvPr/>
        </p:nvSpPr>
        <p:spPr>
          <a:xfrm>
            <a:off x="2286000" y="5394960"/>
            <a:ext cx="2743200" cy="777240"/>
          </a:xfrm>
          <a:prstGeom prst="rect">
            <a:avLst/>
          </a:prstGeom>
          <a:noFill/>
          <a:ln/>
        </p:spPr>
        <p:txBody>
          <a:bodyPr wrap="square" rtlCol="0" anchor="ctr"/>
          <a:lstStyle/>
          <a:p>
            <a:pPr indent="0" marL="0">
              <a:lnSpc>
                <a:spcPct val="130000"/>
              </a:lnSpc>
              <a:buNone/>
            </a:pPr>
            <a:r>
              <a:rPr lang="en-US" sz="1000" dirty="0">
                <a:solidFill>
                  <a:srgbClr val="404040"/>
                </a:solidFill>
                <a:latin typeface="Roboto" pitchFamily="34" charset="0"/>
                <a:ea typeface="Roboto" pitchFamily="34" charset="-122"/>
                <a:cs typeface="Roboto" pitchFamily="34" charset="-120"/>
              </a:rPr>
              <a:t>Build experiences for your own program, with peers.</a:t>
            </a:r>
            <a:endParaRPr lang="en-US" sz="1000" dirty="0"/>
          </a:p>
        </p:txBody>
      </p:sp>
      <p:sp>
        <p:nvSpPr>
          <p:cNvPr id="27" name="Shape 25"/>
          <p:cNvSpPr/>
          <p:nvPr/>
        </p:nvSpPr>
        <p:spPr>
          <a:xfrm>
            <a:off x="5394960" y="4389120"/>
            <a:ext cx="3108960" cy="1828800"/>
          </a:xfrm>
          <a:prstGeom prst="rect">
            <a:avLst/>
          </a:prstGeom>
          <a:solidFill>
            <a:srgbClr val="FFFFFF"/>
          </a:solidFill>
          <a:ln w="6350">
            <a:solidFill>
              <a:srgbClr val="C2C2C6"/>
            </a:solidFill>
            <a:prstDash val="solid"/>
          </a:ln>
        </p:spPr>
      </p:sp>
      <p:sp>
        <p:nvSpPr>
          <p:cNvPr id="28" name="Text 26"/>
          <p:cNvSpPr/>
          <p:nvPr/>
        </p:nvSpPr>
        <p:spPr>
          <a:xfrm>
            <a:off x="5577840" y="4572000"/>
            <a:ext cx="2743200" cy="274320"/>
          </a:xfrm>
          <a:prstGeom prst="rect">
            <a:avLst/>
          </a:prstGeom>
          <a:noFill/>
          <a:ln/>
        </p:spPr>
        <p:txBody>
          <a:bodyPr wrap="square" rtlCol="0" anchor="ctr"/>
          <a:lstStyle/>
          <a:p>
            <a:pPr indent="0" marL="0">
              <a:buNone/>
            </a:pPr>
            <a:r>
              <a:rPr lang="en-US" sz="900" b="1" spc="300" kern="0" dirty="0">
                <a:solidFill>
                  <a:srgbClr val="EC5C2A"/>
                </a:solidFill>
                <a:latin typeface="Roboto Condensed" pitchFamily="34" charset="0"/>
                <a:ea typeface="Roboto Condensed" pitchFamily="34" charset="-122"/>
                <a:cs typeface="Roboto Condensed" pitchFamily="34" charset="-120"/>
              </a:rPr>
              <a:t>MIDDAY</a:t>
            </a:r>
            <a:endParaRPr lang="en-US" sz="900" dirty="0"/>
          </a:p>
        </p:txBody>
      </p:sp>
      <p:sp>
        <p:nvSpPr>
          <p:cNvPr id="29" name="Text 27"/>
          <p:cNvSpPr/>
          <p:nvPr/>
        </p:nvSpPr>
        <p:spPr>
          <a:xfrm>
            <a:off x="5577840" y="4892040"/>
            <a:ext cx="2743200" cy="457200"/>
          </a:xfrm>
          <a:prstGeom prst="rect">
            <a:avLst/>
          </a:prstGeom>
          <a:noFill/>
          <a:ln/>
        </p:spPr>
        <p:txBody>
          <a:bodyPr wrap="square" rtlCol="0" anchor="ctr"/>
          <a:lstStyle/>
          <a:p>
            <a:pPr indent="0" marL="0">
              <a:buNone/>
            </a:pPr>
            <a:r>
              <a:rPr lang="en-US" sz="1300" b="1" dirty="0">
                <a:solidFill>
                  <a:srgbClr val="0A3454"/>
                </a:solidFill>
                <a:latin typeface="Roboto" pitchFamily="34" charset="0"/>
                <a:ea typeface="Roboto" pitchFamily="34" charset="-122"/>
                <a:cs typeface="Roboto" pitchFamily="34" charset="-120"/>
              </a:rPr>
              <a:t>Practice rounds</a:t>
            </a:r>
            <a:endParaRPr lang="en-US" sz="1300" dirty="0"/>
          </a:p>
        </p:txBody>
      </p:sp>
      <p:sp>
        <p:nvSpPr>
          <p:cNvPr id="30" name="Text 28"/>
          <p:cNvSpPr/>
          <p:nvPr/>
        </p:nvSpPr>
        <p:spPr>
          <a:xfrm>
            <a:off x="5577840" y="5394960"/>
            <a:ext cx="2743200" cy="777240"/>
          </a:xfrm>
          <a:prstGeom prst="rect">
            <a:avLst/>
          </a:prstGeom>
          <a:noFill/>
          <a:ln/>
        </p:spPr>
        <p:txBody>
          <a:bodyPr wrap="square" rtlCol="0" anchor="ctr"/>
          <a:lstStyle/>
          <a:p>
            <a:pPr indent="0" marL="0">
              <a:lnSpc>
                <a:spcPct val="130000"/>
              </a:lnSpc>
              <a:buNone/>
            </a:pPr>
            <a:r>
              <a:rPr lang="en-US" sz="1000" dirty="0">
                <a:solidFill>
                  <a:srgbClr val="404040"/>
                </a:solidFill>
                <a:latin typeface="Roboto" pitchFamily="34" charset="0"/>
                <a:ea typeface="Roboto" pitchFamily="34" charset="-122"/>
                <a:cs typeface="Roboto" pitchFamily="34" charset="-120"/>
              </a:rPr>
              <a:t>Conduct briefs and debriefs with feedback.</a:t>
            </a:r>
            <a:endParaRPr lang="en-US" sz="1000" dirty="0"/>
          </a:p>
        </p:txBody>
      </p:sp>
      <p:sp>
        <p:nvSpPr>
          <p:cNvPr id="31" name="Shape 29"/>
          <p:cNvSpPr/>
          <p:nvPr/>
        </p:nvSpPr>
        <p:spPr>
          <a:xfrm>
            <a:off x="8686800" y="4389120"/>
            <a:ext cx="3108960" cy="1828800"/>
          </a:xfrm>
          <a:prstGeom prst="rect">
            <a:avLst/>
          </a:prstGeom>
          <a:solidFill>
            <a:srgbClr val="FFFFFF"/>
          </a:solidFill>
          <a:ln w="6350">
            <a:solidFill>
              <a:srgbClr val="C2C2C6"/>
            </a:solidFill>
            <a:prstDash val="solid"/>
          </a:ln>
        </p:spPr>
      </p:sp>
      <p:sp>
        <p:nvSpPr>
          <p:cNvPr id="32" name="Text 30"/>
          <p:cNvSpPr/>
          <p:nvPr/>
        </p:nvSpPr>
        <p:spPr>
          <a:xfrm>
            <a:off x="8869680" y="4572000"/>
            <a:ext cx="2743200" cy="274320"/>
          </a:xfrm>
          <a:prstGeom prst="rect">
            <a:avLst/>
          </a:prstGeom>
          <a:noFill/>
          <a:ln/>
        </p:spPr>
        <p:txBody>
          <a:bodyPr wrap="square" rtlCol="0" anchor="ctr"/>
          <a:lstStyle/>
          <a:p>
            <a:pPr indent="0" marL="0">
              <a:buNone/>
            </a:pPr>
            <a:r>
              <a:rPr lang="en-US" sz="900" b="1" spc="300" kern="0" dirty="0">
                <a:solidFill>
                  <a:srgbClr val="EC5C2A"/>
                </a:solidFill>
                <a:latin typeface="Roboto Condensed" pitchFamily="34" charset="0"/>
                <a:ea typeface="Roboto Condensed" pitchFamily="34" charset="-122"/>
                <a:cs typeface="Roboto Condensed" pitchFamily="34" charset="-120"/>
              </a:rPr>
              <a:t>AFTERNOON</a:t>
            </a:r>
            <a:endParaRPr lang="en-US" sz="900" dirty="0"/>
          </a:p>
        </p:txBody>
      </p:sp>
      <p:sp>
        <p:nvSpPr>
          <p:cNvPr id="33" name="Text 31"/>
          <p:cNvSpPr/>
          <p:nvPr/>
        </p:nvSpPr>
        <p:spPr>
          <a:xfrm>
            <a:off x="8869680" y="4892040"/>
            <a:ext cx="2743200" cy="457200"/>
          </a:xfrm>
          <a:prstGeom prst="rect">
            <a:avLst/>
          </a:prstGeom>
          <a:noFill/>
          <a:ln/>
        </p:spPr>
        <p:txBody>
          <a:bodyPr wrap="square" rtlCol="0" anchor="ctr"/>
          <a:lstStyle/>
          <a:p>
            <a:pPr indent="0" marL="0">
              <a:buNone/>
            </a:pPr>
            <a:r>
              <a:rPr lang="en-US" sz="1300" b="1" dirty="0">
                <a:solidFill>
                  <a:srgbClr val="0A3454"/>
                </a:solidFill>
                <a:latin typeface="Roboto" pitchFamily="34" charset="0"/>
                <a:ea typeface="Roboto" pitchFamily="34" charset="-122"/>
                <a:cs typeface="Roboto" pitchFamily="34" charset="-120"/>
              </a:rPr>
              <a:t>Cohort commitments</a:t>
            </a:r>
            <a:endParaRPr lang="en-US" sz="1300" dirty="0"/>
          </a:p>
        </p:txBody>
      </p:sp>
      <p:sp>
        <p:nvSpPr>
          <p:cNvPr id="34" name="Text 32"/>
          <p:cNvSpPr/>
          <p:nvPr/>
        </p:nvSpPr>
        <p:spPr>
          <a:xfrm>
            <a:off x="8869680" y="5394960"/>
            <a:ext cx="2743200" cy="777240"/>
          </a:xfrm>
          <a:prstGeom prst="rect">
            <a:avLst/>
          </a:prstGeom>
          <a:noFill/>
          <a:ln/>
        </p:spPr>
        <p:txBody>
          <a:bodyPr wrap="square" rtlCol="0" anchor="ctr"/>
          <a:lstStyle/>
          <a:p>
            <a:pPr indent="0" marL="0">
              <a:lnSpc>
                <a:spcPct val="130000"/>
              </a:lnSpc>
              <a:buNone/>
            </a:pPr>
            <a:r>
              <a:rPr lang="en-US" sz="1000" dirty="0">
                <a:solidFill>
                  <a:srgbClr val="404040"/>
                </a:solidFill>
                <a:latin typeface="Roboto" pitchFamily="34" charset="0"/>
                <a:ea typeface="Roboto" pitchFamily="34" charset="-122"/>
                <a:cs typeface="Roboto" pitchFamily="34" charset="-120"/>
              </a:rPr>
              <a:t>6-month implementation plan + peer pairing.</a:t>
            </a:r>
            <a:endParaRPr lang="en-US" sz="1000" dirty="0"/>
          </a:p>
        </p:txBody>
      </p:sp>
      <p:sp>
        <p:nvSpPr>
          <p:cNvPr id="35" name="Shape 33"/>
          <p:cNvSpPr/>
          <p:nvPr/>
        </p:nvSpPr>
        <p:spPr>
          <a:xfrm>
            <a:off x="548640" y="6355080"/>
            <a:ext cx="11094415" cy="0"/>
          </a:xfrm>
          <a:prstGeom prst="line">
            <a:avLst/>
          </a:prstGeom>
          <a:noFill/>
          <a:ln w="6350">
            <a:solidFill>
              <a:srgbClr val="C2C2C6"/>
            </a:solidFill>
            <a:prstDash val="solid"/>
          </a:ln>
        </p:spPr>
      </p:sp>
      <p:sp>
        <p:nvSpPr>
          <p:cNvPr id="36" name="Text 34"/>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37" name="Text 35"/>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THE CREDENTIAL</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800" b="1" dirty="0">
                <a:solidFill>
                  <a:srgbClr val="3C3F44"/>
                </a:solidFill>
                <a:latin typeface="Roboto" pitchFamily="34" charset="0"/>
                <a:ea typeface="Roboto" pitchFamily="34" charset="-122"/>
                <a:cs typeface="Roboto" pitchFamily="34" charset="-120"/>
              </a:rPr>
              <a:t>A recognized professional development track</a:t>
            </a:r>
            <a:endParaRPr lang="en-US" sz="28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Shape 3"/>
          <p:cNvSpPr/>
          <p:nvPr/>
        </p:nvSpPr>
        <p:spPr>
          <a:xfrm>
            <a:off x="548640" y="2194560"/>
            <a:ext cx="5486400" cy="4023360"/>
          </a:xfrm>
          <a:prstGeom prst="rect">
            <a:avLst/>
          </a:prstGeom>
          <a:solidFill>
            <a:srgbClr val="EC5C2A"/>
          </a:solidFill>
          <a:ln w="12700">
            <a:solidFill>
              <a:srgbClr val="EC5C2A"/>
            </a:solidFill>
            <a:prstDash val="solid"/>
          </a:ln>
        </p:spPr>
      </p:sp>
      <p:sp>
        <p:nvSpPr>
          <p:cNvPr id="6" name="Text 4"/>
          <p:cNvSpPr/>
          <p:nvPr/>
        </p:nvSpPr>
        <p:spPr>
          <a:xfrm>
            <a:off x="914400" y="2377440"/>
            <a:ext cx="4754880" cy="365760"/>
          </a:xfrm>
          <a:prstGeom prst="rect">
            <a:avLst/>
          </a:prstGeom>
          <a:noFill/>
          <a:ln/>
        </p:spPr>
        <p:txBody>
          <a:bodyPr wrap="square" rtlCol="0" anchor="ctr"/>
          <a:lstStyle/>
          <a:p>
            <a:pPr indent="0" marL="0">
              <a:buNone/>
            </a:pPr>
            <a:r>
              <a:rPr lang="en-US" sz="1100" b="1" spc="500" kern="0" dirty="0">
                <a:solidFill>
                  <a:srgbClr val="FFFFFF"/>
                </a:solidFill>
                <a:latin typeface="Roboto Condensed" pitchFamily="34" charset="0"/>
                <a:ea typeface="Roboto Condensed" pitchFamily="34" charset="-122"/>
                <a:cs typeface="Roboto Condensed" pitchFamily="34" charset="-120"/>
              </a:rPr>
              <a:t>STAGE 1</a:t>
            </a:r>
            <a:endParaRPr lang="en-US" sz="1100" dirty="0"/>
          </a:p>
        </p:txBody>
      </p:sp>
      <p:sp>
        <p:nvSpPr>
          <p:cNvPr id="7" name="Text 5"/>
          <p:cNvSpPr/>
          <p:nvPr/>
        </p:nvSpPr>
        <p:spPr>
          <a:xfrm>
            <a:off x="914400" y="2834640"/>
            <a:ext cx="4754880" cy="1097280"/>
          </a:xfrm>
          <a:prstGeom prst="rect">
            <a:avLst/>
          </a:prstGeom>
          <a:noFill/>
          <a:ln/>
        </p:spPr>
        <p:txBody>
          <a:bodyPr wrap="square" rtlCol="0" anchor="ctr"/>
          <a:lstStyle/>
          <a:p>
            <a:pPr indent="0" marL="0">
              <a:lnSpc>
                <a:spcPct val="110000"/>
              </a:lnSpc>
              <a:buNone/>
            </a:pPr>
            <a:r>
              <a:rPr lang="en-US" sz="2200" b="1" dirty="0">
                <a:solidFill>
                  <a:srgbClr val="FFFFFF"/>
                </a:solidFill>
                <a:latin typeface="Roboto" pitchFamily="34" charset="0"/>
                <a:ea typeface="Roboto" pitchFamily="34" charset="-122"/>
                <a:cs typeface="Roboto" pitchFamily="34" charset="-120"/>
              </a:rPr>
              <a:t>Certificate of Completion</a:t>
            </a:r>
            <a:endParaRPr lang="en-US" sz="2200" dirty="0"/>
          </a:p>
        </p:txBody>
      </p:sp>
      <p:sp>
        <p:nvSpPr>
          <p:cNvPr id="8" name="Text 6"/>
          <p:cNvSpPr/>
          <p:nvPr/>
        </p:nvSpPr>
        <p:spPr>
          <a:xfrm>
            <a:off x="914400" y="4023360"/>
            <a:ext cx="4754880" cy="2103120"/>
          </a:xfrm>
          <a:prstGeom prst="rect">
            <a:avLst/>
          </a:prstGeom>
          <a:noFill/>
          <a:ln/>
        </p:spPr>
        <p:txBody>
          <a:bodyPr wrap="square" rtlCol="0" anchor="ctr"/>
          <a:lstStyle/>
          <a:p>
            <a:pPr indent="0" marL="0">
              <a:lnSpc>
                <a:spcPct val="140000"/>
              </a:lnSpc>
              <a:buNone/>
            </a:pPr>
            <a:r>
              <a:rPr lang="en-US" sz="1100" dirty="0">
                <a:solidFill>
                  <a:srgbClr val="FFFFFF"/>
                </a:solidFill>
                <a:latin typeface="Roboto" pitchFamily="34" charset="0"/>
                <a:ea typeface="Roboto" pitchFamily="34" charset="-122"/>
                <a:cs typeface="Roboto" pitchFamily="34" charset="-120"/>
              </a:rPr>
              <a:t>Awarded after the two-day campus. Validates competency in the three keystone behaviors: conducting the Brief, guiding the experience, and conducting the Debrief — trainable, repeatable facilitation skills grounded in behavioral science [1][4][5]. Included in registration.</a:t>
            </a:r>
            <a:endParaRPr lang="en-US" sz="1100" dirty="0"/>
          </a:p>
        </p:txBody>
      </p:sp>
      <p:sp>
        <p:nvSpPr>
          <p:cNvPr id="9" name="Shape 7"/>
          <p:cNvSpPr/>
          <p:nvPr/>
        </p:nvSpPr>
        <p:spPr>
          <a:xfrm>
            <a:off x="6217920" y="2194560"/>
            <a:ext cx="5486400" cy="4023360"/>
          </a:xfrm>
          <a:prstGeom prst="rect">
            <a:avLst/>
          </a:prstGeom>
          <a:solidFill>
            <a:srgbClr val="0A3454"/>
          </a:solidFill>
          <a:ln w="12700">
            <a:solidFill>
              <a:srgbClr val="0A3454"/>
            </a:solidFill>
            <a:prstDash val="solid"/>
          </a:ln>
        </p:spPr>
      </p:sp>
      <p:sp>
        <p:nvSpPr>
          <p:cNvPr id="10" name="Text 8"/>
          <p:cNvSpPr/>
          <p:nvPr/>
        </p:nvSpPr>
        <p:spPr>
          <a:xfrm>
            <a:off x="6583680" y="2377440"/>
            <a:ext cx="4754880" cy="365760"/>
          </a:xfrm>
          <a:prstGeom prst="rect">
            <a:avLst/>
          </a:prstGeom>
          <a:noFill/>
          <a:ln/>
        </p:spPr>
        <p:txBody>
          <a:bodyPr wrap="square" rtlCol="0" anchor="ctr"/>
          <a:lstStyle/>
          <a:p>
            <a:pPr indent="0" marL="0">
              <a:buNone/>
            </a:pPr>
            <a:r>
              <a:rPr lang="en-US" sz="1100" b="1" spc="500" kern="0" dirty="0">
                <a:solidFill>
                  <a:srgbClr val="FFFFFF"/>
                </a:solidFill>
                <a:latin typeface="Roboto Condensed" pitchFamily="34" charset="0"/>
                <a:ea typeface="Roboto Condensed" pitchFamily="34" charset="-122"/>
                <a:cs typeface="Roboto Condensed" pitchFamily="34" charset="-120"/>
              </a:rPr>
              <a:t>STAGE 2 · OPTIONAL</a:t>
            </a:r>
            <a:endParaRPr lang="en-US" sz="1100" dirty="0"/>
          </a:p>
        </p:txBody>
      </p:sp>
      <p:sp>
        <p:nvSpPr>
          <p:cNvPr id="11" name="Text 9"/>
          <p:cNvSpPr/>
          <p:nvPr/>
        </p:nvSpPr>
        <p:spPr>
          <a:xfrm>
            <a:off x="6583680" y="2834640"/>
            <a:ext cx="4754880" cy="1097280"/>
          </a:xfrm>
          <a:prstGeom prst="rect">
            <a:avLst/>
          </a:prstGeom>
          <a:noFill/>
          <a:ln/>
        </p:spPr>
        <p:txBody>
          <a:bodyPr wrap="square" rtlCol="0" anchor="ctr"/>
          <a:lstStyle/>
          <a:p>
            <a:pPr indent="0" marL="0">
              <a:lnSpc>
                <a:spcPct val="110000"/>
              </a:lnSpc>
              <a:buNone/>
            </a:pPr>
            <a:r>
              <a:rPr lang="en-US" sz="2200" b="1" dirty="0">
                <a:solidFill>
                  <a:srgbClr val="FFFFFF"/>
                </a:solidFill>
                <a:latin typeface="Roboto" pitchFamily="34" charset="0"/>
                <a:ea typeface="Roboto" pitchFamily="34" charset="-122"/>
                <a:cs typeface="Roboto" pitchFamily="34" charset="-120"/>
              </a:rPr>
              <a:t>Certified Transformative Volunteering Leader</a:t>
            </a:r>
            <a:endParaRPr lang="en-US" sz="2200" dirty="0"/>
          </a:p>
        </p:txBody>
      </p:sp>
      <p:sp>
        <p:nvSpPr>
          <p:cNvPr id="12" name="Text 10"/>
          <p:cNvSpPr/>
          <p:nvPr/>
        </p:nvSpPr>
        <p:spPr>
          <a:xfrm>
            <a:off x="6583680" y="4023360"/>
            <a:ext cx="4754880" cy="2103120"/>
          </a:xfrm>
          <a:prstGeom prst="rect">
            <a:avLst/>
          </a:prstGeom>
          <a:noFill/>
          <a:ln/>
        </p:spPr>
        <p:txBody>
          <a:bodyPr wrap="square" rtlCol="0" anchor="ctr"/>
          <a:lstStyle/>
          <a:p>
            <a:pPr indent="0" marL="0">
              <a:lnSpc>
                <a:spcPct val="140000"/>
              </a:lnSpc>
              <a:buNone/>
            </a:pPr>
            <a:r>
              <a:rPr lang="en-US" sz="1100" dirty="0">
                <a:solidFill>
                  <a:srgbClr val="FFFFFF"/>
                </a:solidFill>
                <a:latin typeface="Roboto" pitchFamily="34" charset="0"/>
                <a:ea typeface="Roboto" pitchFamily="34" charset="-122"/>
                <a:cs typeface="Roboto" pitchFamily="34" charset="-120"/>
              </a:rPr>
              <a:t>Awarded after the 6-month cohort, sustained implementation, and competency verification. Complex prosocial behaviors require repeated, spaced practice to reach automaticity [17][18]. The cohort provides that structure. Positions volunteer leadership as a recognized professional development track.</a:t>
            </a:r>
            <a:endParaRPr lang="en-US" sz="1100" dirty="0"/>
          </a:p>
        </p:txBody>
      </p:sp>
      <p:sp>
        <p:nvSpPr>
          <p:cNvPr id="13" name="Shape 11"/>
          <p:cNvSpPr/>
          <p:nvPr/>
        </p:nvSpPr>
        <p:spPr>
          <a:xfrm>
            <a:off x="548640" y="6355080"/>
            <a:ext cx="11094415" cy="0"/>
          </a:xfrm>
          <a:prstGeom prst="line">
            <a:avLst/>
          </a:prstGeom>
          <a:noFill/>
          <a:ln w="6350">
            <a:solidFill>
              <a:srgbClr val="C2C2C6"/>
            </a:solidFill>
            <a:prstDash val="solid"/>
          </a:ln>
        </p:spPr>
      </p:sp>
      <p:sp>
        <p:nvSpPr>
          <p:cNvPr id="14" name="Text 12"/>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15" name="Text 13"/>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INVESTMENT</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800" b="1" dirty="0">
                <a:solidFill>
                  <a:srgbClr val="3C3F44"/>
                </a:solidFill>
                <a:latin typeface="Roboto" pitchFamily="34" charset="0"/>
                <a:ea typeface="Roboto" pitchFamily="34" charset="-122"/>
                <a:cs typeface="Roboto" pitchFamily="34" charset="-120"/>
              </a:rPr>
              <a:t>Pricing for the 2026 cohort</a:t>
            </a:r>
            <a:endParaRPr lang="en-US" sz="28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Text 3"/>
          <p:cNvSpPr/>
          <p:nvPr/>
        </p:nvSpPr>
        <p:spPr>
          <a:xfrm>
            <a:off x="548640" y="2103120"/>
            <a:ext cx="10972800" cy="365760"/>
          </a:xfrm>
          <a:prstGeom prst="rect">
            <a:avLst/>
          </a:prstGeom>
          <a:noFill/>
          <a:ln/>
        </p:spPr>
        <p:txBody>
          <a:bodyPr wrap="square" rtlCol="0" anchor="ctr"/>
          <a:lstStyle/>
          <a:p>
            <a:pPr indent="0" marL="0">
              <a:buNone/>
            </a:pPr>
            <a:r>
              <a:rPr lang="en-US" sz="1200" dirty="0">
                <a:solidFill>
                  <a:srgbClr val="4491A9"/>
                </a:solidFill>
                <a:latin typeface="Roboto Condensed" pitchFamily="34" charset="0"/>
                <a:ea typeface="Roboto Condensed" pitchFamily="34" charset="-122"/>
                <a:cs typeface="Roboto Condensed" pitchFamily="34" charset="-120"/>
              </a:rPr>
              <a:t>Campus: Washington DC · September 2026</a:t>
            </a:r>
            <a:endParaRPr lang="en-US" sz="1200" dirty="0"/>
          </a:p>
        </p:txBody>
      </p:sp>
      <p:sp>
        <p:nvSpPr>
          <p:cNvPr id="6" name="Shape 4"/>
          <p:cNvSpPr/>
          <p:nvPr/>
        </p:nvSpPr>
        <p:spPr>
          <a:xfrm>
            <a:off x="548640" y="2651760"/>
            <a:ext cx="3291840" cy="594360"/>
          </a:xfrm>
          <a:prstGeom prst="rect">
            <a:avLst/>
          </a:prstGeom>
          <a:solidFill>
            <a:srgbClr val="0A3454"/>
          </a:solidFill>
          <a:ln w="12700">
            <a:solidFill>
              <a:srgbClr val="0A3454"/>
            </a:solidFill>
            <a:prstDash val="solid"/>
          </a:ln>
        </p:spPr>
      </p:sp>
      <p:sp>
        <p:nvSpPr>
          <p:cNvPr id="7" name="Text 5"/>
          <p:cNvSpPr/>
          <p:nvPr/>
        </p:nvSpPr>
        <p:spPr>
          <a:xfrm>
            <a:off x="548640" y="2651760"/>
            <a:ext cx="3291840" cy="594360"/>
          </a:xfrm>
          <a:prstGeom prst="rect">
            <a:avLst/>
          </a:prstGeom>
          <a:noFill/>
          <a:ln/>
        </p:spPr>
        <p:txBody>
          <a:bodyPr wrap="square" rtlCol="0" anchor="ctr"/>
          <a:lstStyle/>
          <a:p>
            <a:pPr algn="l" indent="0" marL="0">
              <a:buNone/>
            </a:pPr>
            <a:r>
              <a:rPr lang="en-US" sz="1100" b="1" spc="300" kern="0" dirty="0">
                <a:solidFill>
                  <a:srgbClr val="FFFFFF"/>
                </a:solidFill>
                <a:latin typeface="Roboto Condensed" pitchFamily="34" charset="0"/>
                <a:ea typeface="Roboto Condensed" pitchFamily="34" charset="-122"/>
                <a:cs typeface="Roboto Condensed" pitchFamily="34" charset="-120"/>
              </a:rPr>
              <a:t>TIER</a:t>
            </a:r>
            <a:endParaRPr lang="en-US" sz="1100" dirty="0"/>
          </a:p>
        </p:txBody>
      </p:sp>
      <p:sp>
        <p:nvSpPr>
          <p:cNvPr id="8" name="Shape 6"/>
          <p:cNvSpPr/>
          <p:nvPr/>
        </p:nvSpPr>
        <p:spPr>
          <a:xfrm>
            <a:off x="3840480" y="2651760"/>
            <a:ext cx="1280160" cy="594360"/>
          </a:xfrm>
          <a:prstGeom prst="rect">
            <a:avLst/>
          </a:prstGeom>
          <a:solidFill>
            <a:srgbClr val="0A3454"/>
          </a:solidFill>
          <a:ln w="12700">
            <a:solidFill>
              <a:srgbClr val="0A3454"/>
            </a:solidFill>
            <a:prstDash val="solid"/>
          </a:ln>
        </p:spPr>
      </p:sp>
      <p:sp>
        <p:nvSpPr>
          <p:cNvPr id="9" name="Text 7"/>
          <p:cNvSpPr/>
          <p:nvPr/>
        </p:nvSpPr>
        <p:spPr>
          <a:xfrm>
            <a:off x="3840480" y="2651760"/>
            <a:ext cx="1280160" cy="594360"/>
          </a:xfrm>
          <a:prstGeom prst="rect">
            <a:avLst/>
          </a:prstGeom>
          <a:noFill/>
          <a:ln/>
        </p:spPr>
        <p:txBody>
          <a:bodyPr wrap="square" rtlCol="0" anchor="ctr"/>
          <a:lstStyle/>
          <a:p>
            <a:pPr algn="ctr" indent="0" marL="0">
              <a:buNone/>
            </a:pPr>
            <a:r>
              <a:rPr lang="en-US" sz="1100" b="1" spc="300" kern="0" dirty="0">
                <a:solidFill>
                  <a:srgbClr val="FFFFFF"/>
                </a:solidFill>
                <a:latin typeface="Roboto Condensed" pitchFamily="34" charset="0"/>
                <a:ea typeface="Roboto Condensed" pitchFamily="34" charset="-122"/>
                <a:cs typeface="Roboto Condensed" pitchFamily="34" charset="-120"/>
              </a:rPr>
              <a:t>SEATS</a:t>
            </a:r>
            <a:endParaRPr lang="en-US" sz="1100" dirty="0"/>
          </a:p>
        </p:txBody>
      </p:sp>
      <p:sp>
        <p:nvSpPr>
          <p:cNvPr id="10" name="Shape 8"/>
          <p:cNvSpPr/>
          <p:nvPr/>
        </p:nvSpPr>
        <p:spPr>
          <a:xfrm>
            <a:off x="5120640" y="2651760"/>
            <a:ext cx="2377440" cy="594360"/>
          </a:xfrm>
          <a:prstGeom prst="rect">
            <a:avLst/>
          </a:prstGeom>
          <a:solidFill>
            <a:srgbClr val="0A3454"/>
          </a:solidFill>
          <a:ln w="12700">
            <a:solidFill>
              <a:srgbClr val="0A3454"/>
            </a:solidFill>
            <a:prstDash val="solid"/>
          </a:ln>
        </p:spPr>
      </p:sp>
      <p:sp>
        <p:nvSpPr>
          <p:cNvPr id="11" name="Text 9"/>
          <p:cNvSpPr/>
          <p:nvPr/>
        </p:nvSpPr>
        <p:spPr>
          <a:xfrm>
            <a:off x="5120640" y="2651760"/>
            <a:ext cx="2377440" cy="594360"/>
          </a:xfrm>
          <a:prstGeom prst="rect">
            <a:avLst/>
          </a:prstGeom>
          <a:noFill/>
          <a:ln/>
        </p:spPr>
        <p:txBody>
          <a:bodyPr wrap="square" rtlCol="0" anchor="ctr"/>
          <a:lstStyle/>
          <a:p>
            <a:pPr algn="ctr" indent="0" marL="0">
              <a:buNone/>
            </a:pPr>
            <a:r>
              <a:rPr lang="en-US" sz="1100" b="1" spc="300" kern="0" dirty="0">
                <a:solidFill>
                  <a:srgbClr val="FFFFFF"/>
                </a:solidFill>
                <a:latin typeface="Roboto Condensed" pitchFamily="34" charset="0"/>
                <a:ea typeface="Roboto Condensed" pitchFamily="34" charset="-122"/>
                <a:cs typeface="Roboto Condensed" pitchFamily="34" charset="-120"/>
              </a:rPr>
              <a:t>TOTAL</a:t>
            </a:r>
            <a:endParaRPr lang="en-US" sz="1100" dirty="0"/>
          </a:p>
        </p:txBody>
      </p:sp>
      <p:sp>
        <p:nvSpPr>
          <p:cNvPr id="12" name="Shape 10"/>
          <p:cNvSpPr/>
          <p:nvPr/>
        </p:nvSpPr>
        <p:spPr>
          <a:xfrm>
            <a:off x="7498080" y="2651760"/>
            <a:ext cx="2194560" cy="594360"/>
          </a:xfrm>
          <a:prstGeom prst="rect">
            <a:avLst/>
          </a:prstGeom>
          <a:solidFill>
            <a:srgbClr val="0A3454"/>
          </a:solidFill>
          <a:ln w="12700">
            <a:solidFill>
              <a:srgbClr val="0A3454"/>
            </a:solidFill>
            <a:prstDash val="solid"/>
          </a:ln>
        </p:spPr>
      </p:sp>
      <p:sp>
        <p:nvSpPr>
          <p:cNvPr id="13" name="Text 11"/>
          <p:cNvSpPr/>
          <p:nvPr/>
        </p:nvSpPr>
        <p:spPr>
          <a:xfrm>
            <a:off x="7498080" y="2651760"/>
            <a:ext cx="2194560" cy="594360"/>
          </a:xfrm>
          <a:prstGeom prst="rect">
            <a:avLst/>
          </a:prstGeom>
          <a:noFill/>
          <a:ln/>
        </p:spPr>
        <p:txBody>
          <a:bodyPr wrap="square" rtlCol="0" anchor="ctr"/>
          <a:lstStyle/>
          <a:p>
            <a:pPr algn="ctr" indent="0" marL="0">
              <a:buNone/>
            </a:pPr>
            <a:r>
              <a:rPr lang="en-US" sz="1100" b="1" spc="300" kern="0" dirty="0">
                <a:solidFill>
                  <a:srgbClr val="FFFFFF"/>
                </a:solidFill>
                <a:latin typeface="Roboto Condensed" pitchFamily="34" charset="0"/>
                <a:ea typeface="Roboto Condensed" pitchFamily="34" charset="-122"/>
                <a:cs typeface="Roboto Condensed" pitchFamily="34" charset="-120"/>
              </a:rPr>
              <a:t>PER SEAT</a:t>
            </a:r>
            <a:endParaRPr lang="en-US" sz="1100" dirty="0"/>
          </a:p>
        </p:txBody>
      </p:sp>
      <p:sp>
        <p:nvSpPr>
          <p:cNvPr id="14" name="Shape 12"/>
          <p:cNvSpPr/>
          <p:nvPr/>
        </p:nvSpPr>
        <p:spPr>
          <a:xfrm>
            <a:off x="9692640" y="2651760"/>
            <a:ext cx="1947672" cy="594360"/>
          </a:xfrm>
          <a:prstGeom prst="rect">
            <a:avLst/>
          </a:prstGeom>
          <a:solidFill>
            <a:srgbClr val="0A3454"/>
          </a:solidFill>
          <a:ln w="12700">
            <a:solidFill>
              <a:srgbClr val="0A3454"/>
            </a:solidFill>
            <a:prstDash val="solid"/>
          </a:ln>
        </p:spPr>
      </p:sp>
      <p:sp>
        <p:nvSpPr>
          <p:cNvPr id="15" name="Text 13"/>
          <p:cNvSpPr/>
          <p:nvPr/>
        </p:nvSpPr>
        <p:spPr>
          <a:xfrm>
            <a:off x="9692640" y="2651760"/>
            <a:ext cx="1947672" cy="594360"/>
          </a:xfrm>
          <a:prstGeom prst="rect">
            <a:avLst/>
          </a:prstGeom>
          <a:noFill/>
          <a:ln/>
        </p:spPr>
        <p:txBody>
          <a:bodyPr wrap="square" rtlCol="0" anchor="ctr"/>
          <a:lstStyle/>
          <a:p>
            <a:pPr algn="ctr" indent="0" marL="0">
              <a:buNone/>
            </a:pPr>
            <a:r>
              <a:rPr lang="en-US" sz="1100" b="1" spc="300" kern="0" dirty="0">
                <a:solidFill>
                  <a:srgbClr val="FFFFFF"/>
                </a:solidFill>
                <a:latin typeface="Roboto Condensed" pitchFamily="34" charset="0"/>
                <a:ea typeface="Roboto Condensed" pitchFamily="34" charset="-122"/>
                <a:cs typeface="Roboto Condensed" pitchFamily="34" charset="-120"/>
              </a:rPr>
              <a:t>SAVINGS</a:t>
            </a:r>
            <a:endParaRPr lang="en-US" sz="1100" dirty="0"/>
          </a:p>
        </p:txBody>
      </p:sp>
      <p:sp>
        <p:nvSpPr>
          <p:cNvPr id="16" name="Shape 14"/>
          <p:cNvSpPr/>
          <p:nvPr/>
        </p:nvSpPr>
        <p:spPr>
          <a:xfrm>
            <a:off x="548640" y="3246120"/>
            <a:ext cx="3291840" cy="594360"/>
          </a:xfrm>
          <a:prstGeom prst="rect">
            <a:avLst/>
          </a:prstGeom>
          <a:solidFill>
            <a:srgbClr val="F6F7F8"/>
          </a:solidFill>
          <a:ln w="6350">
            <a:solidFill>
              <a:srgbClr val="C2C2C6"/>
            </a:solidFill>
            <a:prstDash val="solid"/>
          </a:ln>
        </p:spPr>
      </p:sp>
      <p:sp>
        <p:nvSpPr>
          <p:cNvPr id="17" name="Text 15"/>
          <p:cNvSpPr/>
          <p:nvPr/>
        </p:nvSpPr>
        <p:spPr>
          <a:xfrm>
            <a:off x="685800" y="3246120"/>
            <a:ext cx="3017520" cy="594360"/>
          </a:xfrm>
          <a:prstGeom prst="rect">
            <a:avLst/>
          </a:prstGeom>
          <a:noFill/>
          <a:ln/>
        </p:spPr>
        <p:txBody>
          <a:bodyPr wrap="square" rtlCol="0" anchor="ctr"/>
          <a:lstStyle/>
          <a:p>
            <a:pPr algn="l" indent="0" marL="0">
              <a:buNone/>
            </a:pPr>
            <a:r>
              <a:rPr lang="en-US" sz="1200" b="1" dirty="0">
                <a:solidFill>
                  <a:srgbClr val="404040"/>
                </a:solidFill>
                <a:latin typeface="Roboto" pitchFamily="34" charset="0"/>
                <a:ea typeface="Roboto" pitchFamily="34" charset="-122"/>
                <a:cs typeface="Roboto" pitchFamily="34" charset="-120"/>
              </a:rPr>
              <a:t>Individual</a:t>
            </a:r>
            <a:endParaRPr lang="en-US" sz="1200" dirty="0"/>
          </a:p>
        </p:txBody>
      </p:sp>
      <p:sp>
        <p:nvSpPr>
          <p:cNvPr id="18" name="Shape 16"/>
          <p:cNvSpPr/>
          <p:nvPr/>
        </p:nvSpPr>
        <p:spPr>
          <a:xfrm>
            <a:off x="3840480" y="3246120"/>
            <a:ext cx="1280160" cy="594360"/>
          </a:xfrm>
          <a:prstGeom prst="rect">
            <a:avLst/>
          </a:prstGeom>
          <a:solidFill>
            <a:srgbClr val="F6F7F8"/>
          </a:solidFill>
          <a:ln w="6350">
            <a:solidFill>
              <a:srgbClr val="C2C2C6"/>
            </a:solidFill>
            <a:prstDash val="solid"/>
          </a:ln>
        </p:spPr>
      </p:sp>
      <p:sp>
        <p:nvSpPr>
          <p:cNvPr id="19" name="Text 17"/>
          <p:cNvSpPr/>
          <p:nvPr/>
        </p:nvSpPr>
        <p:spPr>
          <a:xfrm>
            <a:off x="3977640" y="3246120"/>
            <a:ext cx="1005840" cy="594360"/>
          </a:xfrm>
          <a:prstGeom prst="rect">
            <a:avLst/>
          </a:prstGeom>
          <a:noFill/>
          <a:ln/>
        </p:spPr>
        <p:txBody>
          <a:bodyPr wrap="square" rtlCol="0" anchor="ctr"/>
          <a:lstStyle/>
          <a:p>
            <a:pPr algn="ctr" indent="0" marL="0">
              <a:buNone/>
            </a:pPr>
            <a:r>
              <a:rPr lang="en-US" sz="1200" dirty="0">
                <a:solidFill>
                  <a:srgbClr val="404040"/>
                </a:solidFill>
                <a:latin typeface="Roboto" pitchFamily="34" charset="0"/>
                <a:ea typeface="Roboto" pitchFamily="34" charset="-122"/>
                <a:cs typeface="Roboto" pitchFamily="34" charset="-120"/>
              </a:rPr>
              <a:t>1</a:t>
            </a:r>
            <a:endParaRPr lang="en-US" sz="1200" dirty="0"/>
          </a:p>
        </p:txBody>
      </p:sp>
      <p:sp>
        <p:nvSpPr>
          <p:cNvPr id="20" name="Shape 18"/>
          <p:cNvSpPr/>
          <p:nvPr/>
        </p:nvSpPr>
        <p:spPr>
          <a:xfrm>
            <a:off x="5120640" y="3246120"/>
            <a:ext cx="2377440" cy="594360"/>
          </a:xfrm>
          <a:prstGeom prst="rect">
            <a:avLst/>
          </a:prstGeom>
          <a:solidFill>
            <a:srgbClr val="F6F7F8"/>
          </a:solidFill>
          <a:ln w="6350">
            <a:solidFill>
              <a:srgbClr val="C2C2C6"/>
            </a:solidFill>
            <a:prstDash val="solid"/>
          </a:ln>
        </p:spPr>
      </p:sp>
      <p:sp>
        <p:nvSpPr>
          <p:cNvPr id="21" name="Text 19"/>
          <p:cNvSpPr/>
          <p:nvPr/>
        </p:nvSpPr>
        <p:spPr>
          <a:xfrm>
            <a:off x="5257800" y="3246120"/>
            <a:ext cx="2103120" cy="594360"/>
          </a:xfrm>
          <a:prstGeom prst="rect">
            <a:avLst/>
          </a:prstGeom>
          <a:noFill/>
          <a:ln/>
        </p:spPr>
        <p:txBody>
          <a:bodyPr wrap="square" rtlCol="0" anchor="ctr"/>
          <a:lstStyle/>
          <a:p>
            <a:pPr algn="ctr" indent="0" marL="0">
              <a:buNone/>
            </a:pPr>
            <a:r>
              <a:rPr lang="en-US" sz="1400" b="1" dirty="0">
                <a:solidFill>
                  <a:srgbClr val="0A3454"/>
                </a:solidFill>
                <a:latin typeface="Roboto" pitchFamily="34" charset="0"/>
                <a:ea typeface="Roboto" pitchFamily="34" charset="-122"/>
                <a:cs typeface="Roboto" pitchFamily="34" charset="-120"/>
              </a:rPr>
              <a:t>$2,100</a:t>
            </a:r>
            <a:endParaRPr lang="en-US" sz="1400" dirty="0"/>
          </a:p>
        </p:txBody>
      </p:sp>
      <p:sp>
        <p:nvSpPr>
          <p:cNvPr id="22" name="Shape 20"/>
          <p:cNvSpPr/>
          <p:nvPr/>
        </p:nvSpPr>
        <p:spPr>
          <a:xfrm>
            <a:off x="7498080" y="3246120"/>
            <a:ext cx="2194560" cy="594360"/>
          </a:xfrm>
          <a:prstGeom prst="rect">
            <a:avLst/>
          </a:prstGeom>
          <a:solidFill>
            <a:srgbClr val="F6F7F8"/>
          </a:solidFill>
          <a:ln w="6350">
            <a:solidFill>
              <a:srgbClr val="C2C2C6"/>
            </a:solidFill>
            <a:prstDash val="solid"/>
          </a:ln>
        </p:spPr>
      </p:sp>
      <p:sp>
        <p:nvSpPr>
          <p:cNvPr id="23" name="Text 21"/>
          <p:cNvSpPr/>
          <p:nvPr/>
        </p:nvSpPr>
        <p:spPr>
          <a:xfrm>
            <a:off x="7635240" y="3246120"/>
            <a:ext cx="1920240" cy="594360"/>
          </a:xfrm>
          <a:prstGeom prst="rect">
            <a:avLst/>
          </a:prstGeom>
          <a:noFill/>
          <a:ln/>
        </p:spPr>
        <p:txBody>
          <a:bodyPr wrap="square" rtlCol="0" anchor="ctr"/>
          <a:lstStyle/>
          <a:p>
            <a:pPr algn="ctr" indent="0" marL="0">
              <a:buNone/>
            </a:pPr>
            <a:r>
              <a:rPr lang="en-US" sz="1200" dirty="0">
                <a:solidFill>
                  <a:srgbClr val="404040"/>
                </a:solidFill>
                <a:latin typeface="Roboto" pitchFamily="34" charset="0"/>
                <a:ea typeface="Roboto" pitchFamily="34" charset="-122"/>
                <a:cs typeface="Roboto" pitchFamily="34" charset="-120"/>
              </a:rPr>
              <a:t>$2,100</a:t>
            </a:r>
            <a:endParaRPr lang="en-US" sz="1200" dirty="0"/>
          </a:p>
        </p:txBody>
      </p:sp>
      <p:sp>
        <p:nvSpPr>
          <p:cNvPr id="24" name="Shape 22"/>
          <p:cNvSpPr/>
          <p:nvPr/>
        </p:nvSpPr>
        <p:spPr>
          <a:xfrm>
            <a:off x="9692640" y="3246120"/>
            <a:ext cx="1947672" cy="594360"/>
          </a:xfrm>
          <a:prstGeom prst="rect">
            <a:avLst/>
          </a:prstGeom>
          <a:solidFill>
            <a:srgbClr val="F6F7F8"/>
          </a:solidFill>
          <a:ln w="6350">
            <a:solidFill>
              <a:srgbClr val="C2C2C6"/>
            </a:solidFill>
            <a:prstDash val="solid"/>
          </a:ln>
        </p:spPr>
      </p:sp>
      <p:sp>
        <p:nvSpPr>
          <p:cNvPr id="25" name="Text 23"/>
          <p:cNvSpPr/>
          <p:nvPr/>
        </p:nvSpPr>
        <p:spPr>
          <a:xfrm>
            <a:off x="9829800" y="3246120"/>
            <a:ext cx="1673352" cy="594360"/>
          </a:xfrm>
          <a:prstGeom prst="rect">
            <a:avLst/>
          </a:prstGeom>
          <a:noFill/>
          <a:ln/>
        </p:spPr>
        <p:txBody>
          <a:bodyPr wrap="square" rtlCol="0" anchor="ctr"/>
          <a:lstStyle/>
          <a:p>
            <a:pPr algn="ctr" indent="0" marL="0">
              <a:buNone/>
            </a:pPr>
            <a:r>
              <a:rPr lang="en-US" sz="1200" dirty="0">
                <a:solidFill>
                  <a:srgbClr val="404040"/>
                </a:solidFill>
                <a:latin typeface="Roboto" pitchFamily="34" charset="0"/>
                <a:ea typeface="Roboto" pitchFamily="34" charset="-122"/>
                <a:cs typeface="Roboto" pitchFamily="34" charset="-120"/>
              </a:rPr>
              <a:t>—</a:t>
            </a:r>
            <a:endParaRPr lang="en-US" sz="1200" dirty="0"/>
          </a:p>
        </p:txBody>
      </p:sp>
      <p:sp>
        <p:nvSpPr>
          <p:cNvPr id="26" name="Shape 24"/>
          <p:cNvSpPr/>
          <p:nvPr/>
        </p:nvSpPr>
        <p:spPr>
          <a:xfrm>
            <a:off x="548640" y="3840480"/>
            <a:ext cx="3291840" cy="594360"/>
          </a:xfrm>
          <a:prstGeom prst="rect">
            <a:avLst/>
          </a:prstGeom>
          <a:solidFill>
            <a:srgbClr val="EC5C2A"/>
          </a:solidFill>
          <a:ln w="6350">
            <a:solidFill>
              <a:srgbClr val="C2C2C6"/>
            </a:solidFill>
            <a:prstDash val="solid"/>
          </a:ln>
        </p:spPr>
      </p:sp>
      <p:sp>
        <p:nvSpPr>
          <p:cNvPr id="27" name="Text 25"/>
          <p:cNvSpPr/>
          <p:nvPr/>
        </p:nvSpPr>
        <p:spPr>
          <a:xfrm>
            <a:off x="685800" y="3840480"/>
            <a:ext cx="3017520" cy="594360"/>
          </a:xfrm>
          <a:prstGeom prst="rect">
            <a:avLst/>
          </a:prstGeom>
          <a:noFill/>
          <a:ln/>
        </p:spPr>
        <p:txBody>
          <a:bodyPr wrap="square" rtlCol="0" anchor="ctr"/>
          <a:lstStyle/>
          <a:p>
            <a:pPr algn="l" indent="0" marL="0">
              <a:buNone/>
            </a:pPr>
            <a:r>
              <a:rPr lang="en-US" sz="1200" b="1" dirty="0">
                <a:solidFill>
                  <a:srgbClr val="FFFFFF"/>
                </a:solidFill>
                <a:latin typeface="Roboto" pitchFamily="34" charset="0"/>
                <a:ea typeface="Roboto" pitchFamily="34" charset="-122"/>
                <a:cs typeface="Roboto" pitchFamily="34" charset="-120"/>
              </a:rPr>
              <a:t>6-Pack</a:t>
            </a:r>
            <a:endParaRPr lang="en-US" sz="1200" dirty="0"/>
          </a:p>
        </p:txBody>
      </p:sp>
      <p:sp>
        <p:nvSpPr>
          <p:cNvPr id="28" name="Shape 26"/>
          <p:cNvSpPr/>
          <p:nvPr/>
        </p:nvSpPr>
        <p:spPr>
          <a:xfrm>
            <a:off x="3840480" y="3840480"/>
            <a:ext cx="1280160" cy="594360"/>
          </a:xfrm>
          <a:prstGeom prst="rect">
            <a:avLst/>
          </a:prstGeom>
          <a:solidFill>
            <a:srgbClr val="EC5C2A"/>
          </a:solidFill>
          <a:ln w="6350">
            <a:solidFill>
              <a:srgbClr val="C2C2C6"/>
            </a:solidFill>
            <a:prstDash val="solid"/>
          </a:ln>
        </p:spPr>
      </p:sp>
      <p:sp>
        <p:nvSpPr>
          <p:cNvPr id="29" name="Text 27"/>
          <p:cNvSpPr/>
          <p:nvPr/>
        </p:nvSpPr>
        <p:spPr>
          <a:xfrm>
            <a:off x="3977640" y="3840480"/>
            <a:ext cx="1005840" cy="594360"/>
          </a:xfrm>
          <a:prstGeom prst="rect">
            <a:avLst/>
          </a:prstGeom>
          <a:noFill/>
          <a:ln/>
        </p:spPr>
        <p:txBody>
          <a:bodyPr wrap="square" rtlCol="0" anchor="ctr"/>
          <a:lstStyle/>
          <a:p>
            <a:pPr algn="ctr" indent="0" marL="0">
              <a:buNone/>
            </a:pPr>
            <a:r>
              <a:rPr lang="en-US" sz="1200" b="1" dirty="0">
                <a:solidFill>
                  <a:srgbClr val="FFFFFF"/>
                </a:solidFill>
                <a:latin typeface="Roboto" pitchFamily="34" charset="0"/>
                <a:ea typeface="Roboto" pitchFamily="34" charset="-122"/>
                <a:cs typeface="Roboto" pitchFamily="34" charset="-120"/>
              </a:rPr>
              <a:t>6</a:t>
            </a:r>
            <a:endParaRPr lang="en-US" sz="1200" dirty="0"/>
          </a:p>
        </p:txBody>
      </p:sp>
      <p:sp>
        <p:nvSpPr>
          <p:cNvPr id="30" name="Shape 28"/>
          <p:cNvSpPr/>
          <p:nvPr/>
        </p:nvSpPr>
        <p:spPr>
          <a:xfrm>
            <a:off x="5120640" y="3840480"/>
            <a:ext cx="2377440" cy="594360"/>
          </a:xfrm>
          <a:prstGeom prst="rect">
            <a:avLst/>
          </a:prstGeom>
          <a:solidFill>
            <a:srgbClr val="EC5C2A"/>
          </a:solidFill>
          <a:ln w="6350">
            <a:solidFill>
              <a:srgbClr val="C2C2C6"/>
            </a:solidFill>
            <a:prstDash val="solid"/>
          </a:ln>
        </p:spPr>
      </p:sp>
      <p:sp>
        <p:nvSpPr>
          <p:cNvPr id="31" name="Text 29"/>
          <p:cNvSpPr/>
          <p:nvPr/>
        </p:nvSpPr>
        <p:spPr>
          <a:xfrm>
            <a:off x="5257800" y="3840480"/>
            <a:ext cx="2103120" cy="594360"/>
          </a:xfrm>
          <a:prstGeom prst="rect">
            <a:avLst/>
          </a:prstGeom>
          <a:noFill/>
          <a:ln/>
        </p:spPr>
        <p:txBody>
          <a:bodyPr wrap="square" rtlCol="0" anchor="ctr"/>
          <a:lstStyle/>
          <a:p>
            <a:pPr algn="ctr" indent="0" marL="0">
              <a:buNone/>
            </a:pPr>
            <a:r>
              <a:rPr lang="en-US" sz="1400" b="1" dirty="0">
                <a:solidFill>
                  <a:srgbClr val="FFFFFF"/>
                </a:solidFill>
                <a:latin typeface="Roboto" pitchFamily="34" charset="0"/>
                <a:ea typeface="Roboto" pitchFamily="34" charset="-122"/>
                <a:cs typeface="Roboto" pitchFamily="34" charset="-120"/>
              </a:rPr>
              <a:t>$12,000</a:t>
            </a:r>
            <a:endParaRPr lang="en-US" sz="1400" dirty="0"/>
          </a:p>
        </p:txBody>
      </p:sp>
      <p:sp>
        <p:nvSpPr>
          <p:cNvPr id="32" name="Shape 30"/>
          <p:cNvSpPr/>
          <p:nvPr/>
        </p:nvSpPr>
        <p:spPr>
          <a:xfrm>
            <a:off x="7498080" y="3840480"/>
            <a:ext cx="2194560" cy="594360"/>
          </a:xfrm>
          <a:prstGeom prst="rect">
            <a:avLst/>
          </a:prstGeom>
          <a:solidFill>
            <a:srgbClr val="EC5C2A"/>
          </a:solidFill>
          <a:ln w="6350">
            <a:solidFill>
              <a:srgbClr val="C2C2C6"/>
            </a:solidFill>
            <a:prstDash val="solid"/>
          </a:ln>
        </p:spPr>
      </p:sp>
      <p:sp>
        <p:nvSpPr>
          <p:cNvPr id="33" name="Text 31"/>
          <p:cNvSpPr/>
          <p:nvPr/>
        </p:nvSpPr>
        <p:spPr>
          <a:xfrm>
            <a:off x="7635240" y="3840480"/>
            <a:ext cx="1920240" cy="594360"/>
          </a:xfrm>
          <a:prstGeom prst="rect">
            <a:avLst/>
          </a:prstGeom>
          <a:noFill/>
          <a:ln/>
        </p:spPr>
        <p:txBody>
          <a:bodyPr wrap="square" rtlCol="0" anchor="ctr"/>
          <a:lstStyle/>
          <a:p>
            <a:pPr algn="ctr" indent="0" marL="0">
              <a:buNone/>
            </a:pPr>
            <a:r>
              <a:rPr lang="en-US" sz="1200" b="1" dirty="0">
                <a:solidFill>
                  <a:srgbClr val="FFFFFF"/>
                </a:solidFill>
                <a:latin typeface="Roboto" pitchFamily="34" charset="0"/>
                <a:ea typeface="Roboto" pitchFamily="34" charset="-122"/>
                <a:cs typeface="Roboto" pitchFamily="34" charset="-120"/>
              </a:rPr>
              <a:t>$2,000</a:t>
            </a:r>
            <a:endParaRPr lang="en-US" sz="1200" dirty="0"/>
          </a:p>
        </p:txBody>
      </p:sp>
      <p:sp>
        <p:nvSpPr>
          <p:cNvPr id="34" name="Shape 32"/>
          <p:cNvSpPr/>
          <p:nvPr/>
        </p:nvSpPr>
        <p:spPr>
          <a:xfrm>
            <a:off x="9692640" y="3840480"/>
            <a:ext cx="1947672" cy="594360"/>
          </a:xfrm>
          <a:prstGeom prst="rect">
            <a:avLst/>
          </a:prstGeom>
          <a:solidFill>
            <a:srgbClr val="EC5C2A"/>
          </a:solidFill>
          <a:ln w="6350">
            <a:solidFill>
              <a:srgbClr val="C2C2C6"/>
            </a:solidFill>
            <a:prstDash val="solid"/>
          </a:ln>
        </p:spPr>
      </p:sp>
      <p:sp>
        <p:nvSpPr>
          <p:cNvPr id="35" name="Text 33"/>
          <p:cNvSpPr/>
          <p:nvPr/>
        </p:nvSpPr>
        <p:spPr>
          <a:xfrm>
            <a:off x="9829800" y="3840480"/>
            <a:ext cx="1673352" cy="594360"/>
          </a:xfrm>
          <a:prstGeom prst="rect">
            <a:avLst/>
          </a:prstGeom>
          <a:noFill/>
          <a:ln/>
        </p:spPr>
        <p:txBody>
          <a:bodyPr wrap="square" rtlCol="0" anchor="ctr"/>
          <a:lstStyle/>
          <a:p>
            <a:pPr algn="ctr" indent="0" marL="0">
              <a:buNone/>
            </a:pPr>
            <a:r>
              <a:rPr lang="en-US" sz="1200" b="1" dirty="0">
                <a:solidFill>
                  <a:srgbClr val="FFFFFF"/>
                </a:solidFill>
                <a:latin typeface="Roboto" pitchFamily="34" charset="0"/>
                <a:ea typeface="Roboto" pitchFamily="34" charset="-122"/>
                <a:cs typeface="Roboto" pitchFamily="34" charset="-120"/>
              </a:rPr>
              <a:t>5% off</a:t>
            </a:r>
            <a:endParaRPr lang="en-US" sz="1200" dirty="0"/>
          </a:p>
        </p:txBody>
      </p:sp>
      <p:sp>
        <p:nvSpPr>
          <p:cNvPr id="36" name="Shape 34"/>
          <p:cNvSpPr/>
          <p:nvPr/>
        </p:nvSpPr>
        <p:spPr>
          <a:xfrm>
            <a:off x="548640" y="4434840"/>
            <a:ext cx="3291840" cy="594360"/>
          </a:xfrm>
          <a:prstGeom prst="rect">
            <a:avLst/>
          </a:prstGeom>
          <a:solidFill>
            <a:srgbClr val="F6F7F8"/>
          </a:solidFill>
          <a:ln w="6350">
            <a:solidFill>
              <a:srgbClr val="C2C2C6"/>
            </a:solidFill>
            <a:prstDash val="solid"/>
          </a:ln>
        </p:spPr>
      </p:sp>
      <p:sp>
        <p:nvSpPr>
          <p:cNvPr id="37" name="Text 35"/>
          <p:cNvSpPr/>
          <p:nvPr/>
        </p:nvSpPr>
        <p:spPr>
          <a:xfrm>
            <a:off x="685800" y="4434840"/>
            <a:ext cx="3017520" cy="594360"/>
          </a:xfrm>
          <a:prstGeom prst="rect">
            <a:avLst/>
          </a:prstGeom>
          <a:noFill/>
          <a:ln/>
        </p:spPr>
        <p:txBody>
          <a:bodyPr wrap="square" rtlCol="0" anchor="ctr"/>
          <a:lstStyle/>
          <a:p>
            <a:pPr algn="l" indent="0" marL="0">
              <a:buNone/>
            </a:pPr>
            <a:r>
              <a:rPr lang="en-US" sz="1200" b="1" dirty="0">
                <a:solidFill>
                  <a:srgbClr val="404040"/>
                </a:solidFill>
                <a:latin typeface="Roboto" pitchFamily="34" charset="0"/>
                <a:ea typeface="Roboto" pitchFamily="34" charset="-122"/>
                <a:cs typeface="Roboto" pitchFamily="34" charset="-120"/>
              </a:rPr>
              <a:t>12-Pack</a:t>
            </a:r>
            <a:endParaRPr lang="en-US" sz="1200" dirty="0"/>
          </a:p>
        </p:txBody>
      </p:sp>
      <p:sp>
        <p:nvSpPr>
          <p:cNvPr id="38" name="Shape 36"/>
          <p:cNvSpPr/>
          <p:nvPr/>
        </p:nvSpPr>
        <p:spPr>
          <a:xfrm>
            <a:off x="3840480" y="4434840"/>
            <a:ext cx="1280160" cy="594360"/>
          </a:xfrm>
          <a:prstGeom prst="rect">
            <a:avLst/>
          </a:prstGeom>
          <a:solidFill>
            <a:srgbClr val="F6F7F8"/>
          </a:solidFill>
          <a:ln w="6350">
            <a:solidFill>
              <a:srgbClr val="C2C2C6"/>
            </a:solidFill>
            <a:prstDash val="solid"/>
          </a:ln>
        </p:spPr>
      </p:sp>
      <p:sp>
        <p:nvSpPr>
          <p:cNvPr id="39" name="Text 37"/>
          <p:cNvSpPr/>
          <p:nvPr/>
        </p:nvSpPr>
        <p:spPr>
          <a:xfrm>
            <a:off x="3977640" y="4434840"/>
            <a:ext cx="1005840" cy="594360"/>
          </a:xfrm>
          <a:prstGeom prst="rect">
            <a:avLst/>
          </a:prstGeom>
          <a:noFill/>
          <a:ln/>
        </p:spPr>
        <p:txBody>
          <a:bodyPr wrap="square" rtlCol="0" anchor="ctr"/>
          <a:lstStyle/>
          <a:p>
            <a:pPr algn="ctr" indent="0" marL="0">
              <a:buNone/>
            </a:pPr>
            <a:r>
              <a:rPr lang="en-US" sz="1200" dirty="0">
                <a:solidFill>
                  <a:srgbClr val="404040"/>
                </a:solidFill>
                <a:latin typeface="Roboto" pitchFamily="34" charset="0"/>
                <a:ea typeface="Roboto" pitchFamily="34" charset="-122"/>
                <a:cs typeface="Roboto" pitchFamily="34" charset="-120"/>
              </a:rPr>
              <a:t>12</a:t>
            </a:r>
            <a:endParaRPr lang="en-US" sz="1200" dirty="0"/>
          </a:p>
        </p:txBody>
      </p:sp>
      <p:sp>
        <p:nvSpPr>
          <p:cNvPr id="40" name="Shape 38"/>
          <p:cNvSpPr/>
          <p:nvPr/>
        </p:nvSpPr>
        <p:spPr>
          <a:xfrm>
            <a:off x="5120640" y="4434840"/>
            <a:ext cx="2377440" cy="594360"/>
          </a:xfrm>
          <a:prstGeom prst="rect">
            <a:avLst/>
          </a:prstGeom>
          <a:solidFill>
            <a:srgbClr val="F6F7F8"/>
          </a:solidFill>
          <a:ln w="6350">
            <a:solidFill>
              <a:srgbClr val="C2C2C6"/>
            </a:solidFill>
            <a:prstDash val="solid"/>
          </a:ln>
        </p:spPr>
      </p:sp>
      <p:sp>
        <p:nvSpPr>
          <p:cNvPr id="41" name="Text 39"/>
          <p:cNvSpPr/>
          <p:nvPr/>
        </p:nvSpPr>
        <p:spPr>
          <a:xfrm>
            <a:off x="5257800" y="4434840"/>
            <a:ext cx="2103120" cy="594360"/>
          </a:xfrm>
          <a:prstGeom prst="rect">
            <a:avLst/>
          </a:prstGeom>
          <a:noFill/>
          <a:ln/>
        </p:spPr>
        <p:txBody>
          <a:bodyPr wrap="square" rtlCol="0" anchor="ctr"/>
          <a:lstStyle/>
          <a:p>
            <a:pPr algn="ctr" indent="0" marL="0">
              <a:buNone/>
            </a:pPr>
            <a:r>
              <a:rPr lang="en-US" sz="1400" b="1" dirty="0">
                <a:solidFill>
                  <a:srgbClr val="0A3454"/>
                </a:solidFill>
                <a:latin typeface="Roboto" pitchFamily="34" charset="0"/>
                <a:ea typeface="Roboto" pitchFamily="34" charset="-122"/>
                <a:cs typeface="Roboto" pitchFamily="34" charset="-120"/>
              </a:rPr>
              <a:t>$22,800</a:t>
            </a:r>
            <a:endParaRPr lang="en-US" sz="1400" dirty="0"/>
          </a:p>
        </p:txBody>
      </p:sp>
      <p:sp>
        <p:nvSpPr>
          <p:cNvPr id="42" name="Shape 40"/>
          <p:cNvSpPr/>
          <p:nvPr/>
        </p:nvSpPr>
        <p:spPr>
          <a:xfrm>
            <a:off x="7498080" y="4434840"/>
            <a:ext cx="2194560" cy="594360"/>
          </a:xfrm>
          <a:prstGeom prst="rect">
            <a:avLst/>
          </a:prstGeom>
          <a:solidFill>
            <a:srgbClr val="F6F7F8"/>
          </a:solidFill>
          <a:ln w="6350">
            <a:solidFill>
              <a:srgbClr val="C2C2C6"/>
            </a:solidFill>
            <a:prstDash val="solid"/>
          </a:ln>
        </p:spPr>
      </p:sp>
      <p:sp>
        <p:nvSpPr>
          <p:cNvPr id="43" name="Text 41"/>
          <p:cNvSpPr/>
          <p:nvPr/>
        </p:nvSpPr>
        <p:spPr>
          <a:xfrm>
            <a:off x="7635240" y="4434840"/>
            <a:ext cx="1920240" cy="594360"/>
          </a:xfrm>
          <a:prstGeom prst="rect">
            <a:avLst/>
          </a:prstGeom>
          <a:noFill/>
          <a:ln/>
        </p:spPr>
        <p:txBody>
          <a:bodyPr wrap="square" rtlCol="0" anchor="ctr"/>
          <a:lstStyle/>
          <a:p>
            <a:pPr algn="ctr" indent="0" marL="0">
              <a:buNone/>
            </a:pPr>
            <a:r>
              <a:rPr lang="en-US" sz="1200" dirty="0">
                <a:solidFill>
                  <a:srgbClr val="404040"/>
                </a:solidFill>
                <a:latin typeface="Roboto" pitchFamily="34" charset="0"/>
                <a:ea typeface="Roboto" pitchFamily="34" charset="-122"/>
                <a:cs typeface="Roboto" pitchFamily="34" charset="-120"/>
              </a:rPr>
              <a:t>$1,900</a:t>
            </a:r>
            <a:endParaRPr lang="en-US" sz="1200" dirty="0"/>
          </a:p>
        </p:txBody>
      </p:sp>
      <p:sp>
        <p:nvSpPr>
          <p:cNvPr id="44" name="Shape 42"/>
          <p:cNvSpPr/>
          <p:nvPr/>
        </p:nvSpPr>
        <p:spPr>
          <a:xfrm>
            <a:off x="9692640" y="4434840"/>
            <a:ext cx="1947672" cy="594360"/>
          </a:xfrm>
          <a:prstGeom prst="rect">
            <a:avLst/>
          </a:prstGeom>
          <a:solidFill>
            <a:srgbClr val="F6F7F8"/>
          </a:solidFill>
          <a:ln w="6350">
            <a:solidFill>
              <a:srgbClr val="C2C2C6"/>
            </a:solidFill>
            <a:prstDash val="solid"/>
          </a:ln>
        </p:spPr>
      </p:sp>
      <p:sp>
        <p:nvSpPr>
          <p:cNvPr id="45" name="Text 43"/>
          <p:cNvSpPr/>
          <p:nvPr/>
        </p:nvSpPr>
        <p:spPr>
          <a:xfrm>
            <a:off x="9829800" y="4434840"/>
            <a:ext cx="1673352" cy="594360"/>
          </a:xfrm>
          <a:prstGeom prst="rect">
            <a:avLst/>
          </a:prstGeom>
          <a:noFill/>
          <a:ln/>
        </p:spPr>
        <p:txBody>
          <a:bodyPr wrap="square" rtlCol="0" anchor="ctr"/>
          <a:lstStyle/>
          <a:p>
            <a:pPr algn="ctr" indent="0" marL="0">
              <a:buNone/>
            </a:pPr>
            <a:r>
              <a:rPr lang="en-US" sz="1200" dirty="0">
                <a:solidFill>
                  <a:srgbClr val="404040"/>
                </a:solidFill>
                <a:latin typeface="Roboto" pitchFamily="34" charset="0"/>
                <a:ea typeface="Roboto" pitchFamily="34" charset="-122"/>
                <a:cs typeface="Roboto" pitchFamily="34" charset="-120"/>
              </a:rPr>
              <a:t>10% off</a:t>
            </a:r>
            <a:endParaRPr lang="en-US" sz="1200" dirty="0"/>
          </a:p>
        </p:txBody>
      </p:sp>
      <p:sp>
        <p:nvSpPr>
          <p:cNvPr id="46" name="Shape 44"/>
          <p:cNvSpPr/>
          <p:nvPr/>
        </p:nvSpPr>
        <p:spPr>
          <a:xfrm>
            <a:off x="548640" y="5029200"/>
            <a:ext cx="3291840" cy="594360"/>
          </a:xfrm>
          <a:prstGeom prst="rect">
            <a:avLst/>
          </a:prstGeom>
          <a:solidFill>
            <a:srgbClr val="FFFFFF"/>
          </a:solidFill>
          <a:ln w="6350">
            <a:solidFill>
              <a:srgbClr val="C2C2C6"/>
            </a:solidFill>
            <a:prstDash val="solid"/>
          </a:ln>
        </p:spPr>
      </p:sp>
      <p:sp>
        <p:nvSpPr>
          <p:cNvPr id="47" name="Text 45"/>
          <p:cNvSpPr/>
          <p:nvPr/>
        </p:nvSpPr>
        <p:spPr>
          <a:xfrm>
            <a:off x="685800" y="5029200"/>
            <a:ext cx="3017520" cy="594360"/>
          </a:xfrm>
          <a:prstGeom prst="rect">
            <a:avLst/>
          </a:prstGeom>
          <a:noFill/>
          <a:ln/>
        </p:spPr>
        <p:txBody>
          <a:bodyPr wrap="square" rtlCol="0" anchor="ctr"/>
          <a:lstStyle/>
          <a:p>
            <a:pPr algn="l" indent="0" marL="0">
              <a:buNone/>
            </a:pPr>
            <a:r>
              <a:rPr lang="en-US" sz="1200" b="1" dirty="0">
                <a:solidFill>
                  <a:srgbClr val="404040"/>
                </a:solidFill>
                <a:latin typeface="Roboto" pitchFamily="34" charset="0"/>
                <a:ea typeface="Roboto" pitchFamily="34" charset="-122"/>
                <a:cs typeface="Roboto" pitchFamily="34" charset="-120"/>
              </a:rPr>
              <a:t>18-Pack</a:t>
            </a:r>
            <a:endParaRPr lang="en-US" sz="1200" dirty="0"/>
          </a:p>
        </p:txBody>
      </p:sp>
      <p:sp>
        <p:nvSpPr>
          <p:cNvPr id="48" name="Shape 46"/>
          <p:cNvSpPr/>
          <p:nvPr/>
        </p:nvSpPr>
        <p:spPr>
          <a:xfrm>
            <a:off x="3840480" y="5029200"/>
            <a:ext cx="1280160" cy="594360"/>
          </a:xfrm>
          <a:prstGeom prst="rect">
            <a:avLst/>
          </a:prstGeom>
          <a:solidFill>
            <a:srgbClr val="FFFFFF"/>
          </a:solidFill>
          <a:ln w="6350">
            <a:solidFill>
              <a:srgbClr val="C2C2C6"/>
            </a:solidFill>
            <a:prstDash val="solid"/>
          </a:ln>
        </p:spPr>
      </p:sp>
      <p:sp>
        <p:nvSpPr>
          <p:cNvPr id="49" name="Text 47"/>
          <p:cNvSpPr/>
          <p:nvPr/>
        </p:nvSpPr>
        <p:spPr>
          <a:xfrm>
            <a:off x="3977640" y="5029200"/>
            <a:ext cx="1005840" cy="594360"/>
          </a:xfrm>
          <a:prstGeom prst="rect">
            <a:avLst/>
          </a:prstGeom>
          <a:noFill/>
          <a:ln/>
        </p:spPr>
        <p:txBody>
          <a:bodyPr wrap="square" rtlCol="0" anchor="ctr"/>
          <a:lstStyle/>
          <a:p>
            <a:pPr algn="ctr" indent="0" marL="0">
              <a:buNone/>
            </a:pPr>
            <a:r>
              <a:rPr lang="en-US" sz="1200" dirty="0">
                <a:solidFill>
                  <a:srgbClr val="404040"/>
                </a:solidFill>
                <a:latin typeface="Roboto" pitchFamily="34" charset="0"/>
                <a:ea typeface="Roboto" pitchFamily="34" charset="-122"/>
                <a:cs typeface="Roboto" pitchFamily="34" charset="-120"/>
              </a:rPr>
              <a:t>18</a:t>
            </a:r>
            <a:endParaRPr lang="en-US" sz="1200" dirty="0"/>
          </a:p>
        </p:txBody>
      </p:sp>
      <p:sp>
        <p:nvSpPr>
          <p:cNvPr id="50" name="Shape 48"/>
          <p:cNvSpPr/>
          <p:nvPr/>
        </p:nvSpPr>
        <p:spPr>
          <a:xfrm>
            <a:off x="5120640" y="5029200"/>
            <a:ext cx="2377440" cy="594360"/>
          </a:xfrm>
          <a:prstGeom prst="rect">
            <a:avLst/>
          </a:prstGeom>
          <a:solidFill>
            <a:srgbClr val="FFFFFF"/>
          </a:solidFill>
          <a:ln w="6350">
            <a:solidFill>
              <a:srgbClr val="C2C2C6"/>
            </a:solidFill>
            <a:prstDash val="solid"/>
          </a:ln>
        </p:spPr>
      </p:sp>
      <p:sp>
        <p:nvSpPr>
          <p:cNvPr id="51" name="Text 49"/>
          <p:cNvSpPr/>
          <p:nvPr/>
        </p:nvSpPr>
        <p:spPr>
          <a:xfrm>
            <a:off x="5257800" y="5029200"/>
            <a:ext cx="2103120" cy="594360"/>
          </a:xfrm>
          <a:prstGeom prst="rect">
            <a:avLst/>
          </a:prstGeom>
          <a:noFill/>
          <a:ln/>
        </p:spPr>
        <p:txBody>
          <a:bodyPr wrap="square" rtlCol="0" anchor="ctr"/>
          <a:lstStyle/>
          <a:p>
            <a:pPr algn="ctr" indent="0" marL="0">
              <a:buNone/>
            </a:pPr>
            <a:r>
              <a:rPr lang="en-US" sz="1400" b="1" dirty="0">
                <a:solidFill>
                  <a:srgbClr val="0A3454"/>
                </a:solidFill>
                <a:latin typeface="Roboto" pitchFamily="34" charset="0"/>
                <a:ea typeface="Roboto" pitchFamily="34" charset="-122"/>
                <a:cs typeface="Roboto" pitchFamily="34" charset="-120"/>
              </a:rPr>
              <a:t>$32,130</a:t>
            </a:r>
            <a:endParaRPr lang="en-US" sz="1400" dirty="0"/>
          </a:p>
        </p:txBody>
      </p:sp>
      <p:sp>
        <p:nvSpPr>
          <p:cNvPr id="52" name="Shape 50"/>
          <p:cNvSpPr/>
          <p:nvPr/>
        </p:nvSpPr>
        <p:spPr>
          <a:xfrm>
            <a:off x="7498080" y="5029200"/>
            <a:ext cx="2194560" cy="594360"/>
          </a:xfrm>
          <a:prstGeom prst="rect">
            <a:avLst/>
          </a:prstGeom>
          <a:solidFill>
            <a:srgbClr val="FFFFFF"/>
          </a:solidFill>
          <a:ln w="6350">
            <a:solidFill>
              <a:srgbClr val="C2C2C6"/>
            </a:solidFill>
            <a:prstDash val="solid"/>
          </a:ln>
        </p:spPr>
      </p:sp>
      <p:sp>
        <p:nvSpPr>
          <p:cNvPr id="53" name="Text 51"/>
          <p:cNvSpPr/>
          <p:nvPr/>
        </p:nvSpPr>
        <p:spPr>
          <a:xfrm>
            <a:off x="7635240" y="5029200"/>
            <a:ext cx="1920240" cy="594360"/>
          </a:xfrm>
          <a:prstGeom prst="rect">
            <a:avLst/>
          </a:prstGeom>
          <a:noFill/>
          <a:ln/>
        </p:spPr>
        <p:txBody>
          <a:bodyPr wrap="square" rtlCol="0" anchor="ctr"/>
          <a:lstStyle/>
          <a:p>
            <a:pPr algn="ctr" indent="0" marL="0">
              <a:buNone/>
            </a:pPr>
            <a:r>
              <a:rPr lang="en-US" sz="1200" dirty="0">
                <a:solidFill>
                  <a:srgbClr val="404040"/>
                </a:solidFill>
                <a:latin typeface="Roboto" pitchFamily="34" charset="0"/>
                <a:ea typeface="Roboto" pitchFamily="34" charset="-122"/>
                <a:cs typeface="Roboto" pitchFamily="34" charset="-120"/>
              </a:rPr>
              <a:t>$1,785</a:t>
            </a:r>
            <a:endParaRPr lang="en-US" sz="1200" dirty="0"/>
          </a:p>
        </p:txBody>
      </p:sp>
      <p:sp>
        <p:nvSpPr>
          <p:cNvPr id="54" name="Shape 52"/>
          <p:cNvSpPr/>
          <p:nvPr/>
        </p:nvSpPr>
        <p:spPr>
          <a:xfrm>
            <a:off x="9692640" y="5029200"/>
            <a:ext cx="1947672" cy="594360"/>
          </a:xfrm>
          <a:prstGeom prst="rect">
            <a:avLst/>
          </a:prstGeom>
          <a:solidFill>
            <a:srgbClr val="FFFFFF"/>
          </a:solidFill>
          <a:ln w="6350">
            <a:solidFill>
              <a:srgbClr val="C2C2C6"/>
            </a:solidFill>
            <a:prstDash val="solid"/>
          </a:ln>
        </p:spPr>
      </p:sp>
      <p:sp>
        <p:nvSpPr>
          <p:cNvPr id="55" name="Text 53"/>
          <p:cNvSpPr/>
          <p:nvPr/>
        </p:nvSpPr>
        <p:spPr>
          <a:xfrm>
            <a:off x="9829800" y="5029200"/>
            <a:ext cx="1673352" cy="594360"/>
          </a:xfrm>
          <a:prstGeom prst="rect">
            <a:avLst/>
          </a:prstGeom>
          <a:noFill/>
          <a:ln/>
        </p:spPr>
        <p:txBody>
          <a:bodyPr wrap="square" rtlCol="0" anchor="ctr"/>
          <a:lstStyle/>
          <a:p>
            <a:pPr algn="ctr" indent="0" marL="0">
              <a:buNone/>
            </a:pPr>
            <a:r>
              <a:rPr lang="en-US" sz="1200" dirty="0">
                <a:solidFill>
                  <a:srgbClr val="404040"/>
                </a:solidFill>
                <a:latin typeface="Roboto" pitchFamily="34" charset="0"/>
                <a:ea typeface="Roboto" pitchFamily="34" charset="-122"/>
                <a:cs typeface="Roboto" pitchFamily="34" charset="-120"/>
              </a:rPr>
              <a:t>15% off</a:t>
            </a:r>
            <a:endParaRPr lang="en-US" sz="1200" dirty="0"/>
          </a:p>
        </p:txBody>
      </p:sp>
      <p:sp>
        <p:nvSpPr>
          <p:cNvPr id="56" name="Shape 54"/>
          <p:cNvSpPr/>
          <p:nvPr/>
        </p:nvSpPr>
        <p:spPr>
          <a:xfrm>
            <a:off x="548640" y="5897880"/>
            <a:ext cx="11091672" cy="640080"/>
          </a:xfrm>
          <a:prstGeom prst="rect">
            <a:avLst/>
          </a:prstGeom>
          <a:solidFill>
            <a:srgbClr val="B8D8DC"/>
          </a:solidFill>
          <a:ln w="12700">
            <a:solidFill>
              <a:srgbClr val="B8D8DC"/>
            </a:solidFill>
            <a:prstDash val="solid"/>
          </a:ln>
        </p:spPr>
      </p:sp>
      <p:sp>
        <p:nvSpPr>
          <p:cNvPr id="57" name="Text 55"/>
          <p:cNvSpPr/>
          <p:nvPr/>
        </p:nvSpPr>
        <p:spPr>
          <a:xfrm>
            <a:off x="731520" y="5897880"/>
            <a:ext cx="10881360" cy="640080"/>
          </a:xfrm>
          <a:prstGeom prst="rect">
            <a:avLst/>
          </a:prstGeom>
          <a:noFill/>
          <a:ln/>
        </p:spPr>
        <p:txBody>
          <a:bodyPr wrap="square" rtlCol="0" anchor="ctr"/>
          <a:lstStyle/>
          <a:p>
            <a:pPr indent="0" marL="0">
              <a:buNone/>
            </a:pPr>
            <a:r>
              <a:rPr lang="en-US" sz="1100" b="1" spc="300" kern="0" dirty="0">
                <a:solidFill>
                  <a:srgbClr val="0A3454"/>
                </a:solidFill>
                <a:latin typeface="Roboto Condensed" pitchFamily="34" charset="0"/>
                <a:ea typeface="Roboto Condensed" pitchFamily="34" charset="-122"/>
                <a:cs typeface="Roboto Condensed" pitchFamily="34" charset="-120"/>
              </a:rPr>
              <a:t>INCLUDES  </a:t>
            </a:r>
            <a:pPr indent="0" marL="0">
              <a:buNone/>
            </a:pPr>
            <a:r>
              <a:rPr lang="en-US" sz="1100" dirty="0">
                <a:solidFill>
                  <a:srgbClr val="0A3454"/>
                </a:solidFill>
                <a:latin typeface="Roboto Condensed" pitchFamily="34" charset="0"/>
                <a:ea typeface="Roboto Condensed" pitchFamily="34" charset="-122"/>
                <a:cs typeface="Roboto Condensed" pitchFamily="34" charset="-120"/>
              </a:rPr>
              <a:t>Two-day in-person program · all sessions · meals · materials · networking · Stage 1 certification · 6-month cohort access</a:t>
            </a:r>
            <a:endParaRPr lang="en-US" sz="1100" dirty="0"/>
          </a:p>
        </p:txBody>
      </p:sp>
      <p:sp>
        <p:nvSpPr>
          <p:cNvPr id="58" name="Shape 56"/>
          <p:cNvSpPr/>
          <p:nvPr/>
        </p:nvSpPr>
        <p:spPr>
          <a:xfrm>
            <a:off x="548640" y="6355080"/>
            <a:ext cx="11094415" cy="0"/>
          </a:xfrm>
          <a:prstGeom prst="line">
            <a:avLst/>
          </a:prstGeom>
          <a:noFill/>
          <a:ln w="6350">
            <a:solidFill>
              <a:srgbClr val="C2C2C6"/>
            </a:solidFill>
            <a:prstDash val="solid"/>
          </a:ln>
        </p:spPr>
      </p:sp>
      <p:sp>
        <p:nvSpPr>
          <p:cNvPr id="59" name="Text 57"/>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60" name="Text 58"/>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WHAT MICROSOFT GETS BACK</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800" b="1" dirty="0">
                <a:solidFill>
                  <a:srgbClr val="3C3F44"/>
                </a:solidFill>
                <a:latin typeface="Roboto" pitchFamily="34" charset="0"/>
                <a:ea typeface="Roboto" pitchFamily="34" charset="-122"/>
                <a:cs typeface="Roboto" pitchFamily="34" charset="-120"/>
              </a:rPr>
              <a:t>What Microsoft gets back</a:t>
            </a:r>
            <a:endParaRPr lang="en-US" sz="28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Text 3"/>
          <p:cNvSpPr/>
          <p:nvPr/>
        </p:nvSpPr>
        <p:spPr>
          <a:xfrm>
            <a:off x="548640" y="2103120"/>
            <a:ext cx="10972800" cy="640080"/>
          </a:xfrm>
          <a:prstGeom prst="rect">
            <a:avLst/>
          </a:prstGeom>
          <a:noFill/>
          <a:ln/>
        </p:spPr>
        <p:txBody>
          <a:bodyPr wrap="square" rtlCol="0" anchor="ctr"/>
          <a:lstStyle/>
          <a:p>
            <a:pPr indent="0" marL="0">
              <a:lnSpc>
                <a:spcPct val="140000"/>
              </a:lnSpc>
              <a:buNone/>
            </a:pPr>
            <a:r>
              <a:rPr lang="en-US" sz="1300" i="1" dirty="0">
                <a:solidFill>
                  <a:srgbClr val="6B6B6F"/>
                </a:solidFill>
                <a:latin typeface="Roboto" pitchFamily="34" charset="0"/>
                <a:ea typeface="Roboto" pitchFamily="34" charset="-122"/>
                <a:cs typeface="Roboto" pitchFamily="34" charset="-120"/>
              </a:rPr>
              <a:t>We will gain a replicable methodology for building manager-employee trust and fostering cross-functional connection. This approach also provides the framework needed to finally measure volunteering's contribution to employee retention and engagement.</a:t>
            </a:r>
            <a:endParaRPr lang="en-US" sz="1300" dirty="0"/>
          </a:p>
        </p:txBody>
      </p:sp>
      <p:sp>
        <p:nvSpPr>
          <p:cNvPr id="6" name="Shape 4"/>
          <p:cNvSpPr/>
          <p:nvPr/>
        </p:nvSpPr>
        <p:spPr>
          <a:xfrm>
            <a:off x="548640" y="2880360"/>
            <a:ext cx="3657600" cy="1554480"/>
          </a:xfrm>
          <a:prstGeom prst="rect">
            <a:avLst/>
          </a:prstGeom>
          <a:solidFill>
            <a:srgbClr val="F6F7F8"/>
          </a:solidFill>
          <a:ln w="6350">
            <a:solidFill>
              <a:srgbClr val="C2C2C6"/>
            </a:solidFill>
            <a:prstDash val="solid"/>
          </a:ln>
        </p:spPr>
      </p:sp>
      <p:sp>
        <p:nvSpPr>
          <p:cNvPr id="7" name="Shape 5"/>
          <p:cNvSpPr/>
          <p:nvPr/>
        </p:nvSpPr>
        <p:spPr>
          <a:xfrm>
            <a:off x="548640" y="2880360"/>
            <a:ext cx="73152" cy="1554480"/>
          </a:xfrm>
          <a:prstGeom prst="rect">
            <a:avLst/>
          </a:prstGeom>
          <a:solidFill>
            <a:srgbClr val="EC5C2A"/>
          </a:solidFill>
          <a:ln w="12700">
            <a:solidFill>
              <a:srgbClr val="EC5C2A"/>
            </a:solidFill>
            <a:prstDash val="solid"/>
          </a:ln>
        </p:spPr>
      </p:sp>
      <p:sp>
        <p:nvSpPr>
          <p:cNvPr id="8" name="Text 6"/>
          <p:cNvSpPr/>
          <p:nvPr/>
        </p:nvSpPr>
        <p:spPr>
          <a:xfrm>
            <a:off x="777240" y="3017520"/>
            <a:ext cx="3383280" cy="457200"/>
          </a:xfrm>
          <a:prstGeom prst="rect">
            <a:avLst/>
          </a:prstGeom>
          <a:noFill/>
          <a:ln/>
        </p:spPr>
        <p:txBody>
          <a:bodyPr wrap="square" rtlCol="0" anchor="ctr"/>
          <a:lstStyle/>
          <a:p>
            <a:pPr indent="0" marL="0">
              <a:buNone/>
            </a:pPr>
            <a:r>
              <a:rPr lang="en-US" sz="1200" b="1" dirty="0">
                <a:solidFill>
                  <a:srgbClr val="0A3454"/>
                </a:solidFill>
                <a:latin typeface="Roboto" pitchFamily="34" charset="0"/>
                <a:ea typeface="Roboto" pitchFamily="34" charset="-122"/>
                <a:cs typeface="Roboto" pitchFamily="34" charset="-120"/>
              </a:rPr>
              <a:t>A quality layer across your network</a:t>
            </a:r>
            <a:endParaRPr lang="en-US" sz="1200" dirty="0"/>
          </a:p>
        </p:txBody>
      </p:sp>
      <p:sp>
        <p:nvSpPr>
          <p:cNvPr id="9" name="Text 7"/>
          <p:cNvSpPr/>
          <p:nvPr/>
        </p:nvSpPr>
        <p:spPr>
          <a:xfrm>
            <a:off x="777240" y="3474720"/>
            <a:ext cx="3383280" cy="914400"/>
          </a:xfrm>
          <a:prstGeom prst="rect">
            <a:avLst/>
          </a:prstGeom>
          <a:noFill/>
          <a:ln/>
        </p:spPr>
        <p:txBody>
          <a:bodyPr wrap="square" rtlCol="0" anchor="ctr"/>
          <a:lstStyle/>
          <a:p>
            <a:pPr indent="0" marL="0">
              <a:lnSpc>
                <a:spcPct val="135000"/>
              </a:lnSpc>
              <a:buNone/>
            </a:pPr>
            <a:r>
              <a:rPr lang="en-US" sz="1000" dirty="0">
                <a:solidFill>
                  <a:srgbClr val="404040"/>
                </a:solidFill>
                <a:latin typeface="Roboto" pitchFamily="34" charset="0"/>
                <a:ea typeface="Roboto" pitchFamily="34" charset="-122"/>
                <a:cs typeface="Roboto" pitchFamily="34" charset="-120"/>
              </a:rPr>
              <a:t>Trained champions become standard-bearers across regions and business units. They coach peers and close the gap between aspiration and ground-level experience.</a:t>
            </a:r>
            <a:endParaRPr lang="en-US" sz="1000" dirty="0"/>
          </a:p>
        </p:txBody>
      </p:sp>
      <p:sp>
        <p:nvSpPr>
          <p:cNvPr id="10" name="Shape 8"/>
          <p:cNvSpPr/>
          <p:nvPr/>
        </p:nvSpPr>
        <p:spPr>
          <a:xfrm>
            <a:off x="4434840" y="2880360"/>
            <a:ext cx="3657600" cy="1554480"/>
          </a:xfrm>
          <a:prstGeom prst="rect">
            <a:avLst/>
          </a:prstGeom>
          <a:solidFill>
            <a:srgbClr val="F6F7F8"/>
          </a:solidFill>
          <a:ln w="6350">
            <a:solidFill>
              <a:srgbClr val="C2C2C6"/>
            </a:solidFill>
            <a:prstDash val="solid"/>
          </a:ln>
        </p:spPr>
      </p:sp>
      <p:sp>
        <p:nvSpPr>
          <p:cNvPr id="11" name="Shape 9"/>
          <p:cNvSpPr/>
          <p:nvPr/>
        </p:nvSpPr>
        <p:spPr>
          <a:xfrm>
            <a:off x="4434840" y="2880360"/>
            <a:ext cx="73152" cy="1554480"/>
          </a:xfrm>
          <a:prstGeom prst="rect">
            <a:avLst/>
          </a:prstGeom>
          <a:solidFill>
            <a:srgbClr val="EC5C2A"/>
          </a:solidFill>
          <a:ln w="12700">
            <a:solidFill>
              <a:srgbClr val="EC5C2A"/>
            </a:solidFill>
            <a:prstDash val="solid"/>
          </a:ln>
        </p:spPr>
      </p:sp>
      <p:sp>
        <p:nvSpPr>
          <p:cNvPr id="12" name="Text 10"/>
          <p:cNvSpPr/>
          <p:nvPr/>
        </p:nvSpPr>
        <p:spPr>
          <a:xfrm>
            <a:off x="4663440" y="3017520"/>
            <a:ext cx="3383280" cy="457200"/>
          </a:xfrm>
          <a:prstGeom prst="rect">
            <a:avLst/>
          </a:prstGeom>
          <a:noFill/>
          <a:ln/>
        </p:spPr>
        <p:txBody>
          <a:bodyPr wrap="square" rtlCol="0" anchor="ctr"/>
          <a:lstStyle/>
          <a:p>
            <a:pPr indent="0" marL="0">
              <a:buNone/>
            </a:pPr>
            <a:r>
              <a:rPr lang="en-US" sz="1200" b="1" dirty="0">
                <a:solidFill>
                  <a:srgbClr val="0A3454"/>
                </a:solidFill>
                <a:latin typeface="Roboto" pitchFamily="34" charset="0"/>
                <a:ea typeface="Roboto" pitchFamily="34" charset="-122"/>
                <a:cs typeface="Roboto" pitchFamily="34" charset="-120"/>
              </a:rPr>
              <a:t>Engagement data that survives the C-suite</a:t>
            </a:r>
            <a:endParaRPr lang="en-US" sz="1200" dirty="0"/>
          </a:p>
        </p:txBody>
      </p:sp>
      <p:sp>
        <p:nvSpPr>
          <p:cNvPr id="13" name="Text 11"/>
          <p:cNvSpPr/>
          <p:nvPr/>
        </p:nvSpPr>
        <p:spPr>
          <a:xfrm>
            <a:off x="4663440" y="3474720"/>
            <a:ext cx="3383280" cy="914400"/>
          </a:xfrm>
          <a:prstGeom prst="rect">
            <a:avLst/>
          </a:prstGeom>
          <a:noFill/>
          <a:ln/>
        </p:spPr>
        <p:txBody>
          <a:bodyPr wrap="square" rtlCol="0" anchor="ctr"/>
          <a:lstStyle/>
          <a:p>
            <a:pPr indent="0" marL="0">
              <a:lnSpc>
                <a:spcPct val="135000"/>
              </a:lnSpc>
              <a:buNone/>
            </a:pPr>
            <a:r>
              <a:rPr lang="en-US" sz="1000" dirty="0">
                <a:solidFill>
                  <a:srgbClr val="404040"/>
                </a:solidFill>
                <a:latin typeface="Roboto" pitchFamily="34" charset="0"/>
                <a:ea typeface="Roboto" pitchFamily="34" charset="-122"/>
                <a:cs typeface="Roboto" pitchFamily="34" charset="-120"/>
              </a:rPr>
              <a:t>Measurement architecture built for ESG reporting, talent analytics, and executive dashboards — outcomes, not participation theater.</a:t>
            </a:r>
            <a:endParaRPr lang="en-US" sz="1000" dirty="0"/>
          </a:p>
        </p:txBody>
      </p:sp>
      <p:sp>
        <p:nvSpPr>
          <p:cNvPr id="14" name="Shape 12"/>
          <p:cNvSpPr/>
          <p:nvPr/>
        </p:nvSpPr>
        <p:spPr>
          <a:xfrm>
            <a:off x="8321040" y="2880360"/>
            <a:ext cx="3657600" cy="1554480"/>
          </a:xfrm>
          <a:prstGeom prst="rect">
            <a:avLst/>
          </a:prstGeom>
          <a:solidFill>
            <a:srgbClr val="F6F7F8"/>
          </a:solidFill>
          <a:ln w="6350">
            <a:solidFill>
              <a:srgbClr val="C2C2C6"/>
            </a:solidFill>
            <a:prstDash val="solid"/>
          </a:ln>
        </p:spPr>
      </p:sp>
      <p:sp>
        <p:nvSpPr>
          <p:cNvPr id="15" name="Shape 13"/>
          <p:cNvSpPr/>
          <p:nvPr/>
        </p:nvSpPr>
        <p:spPr>
          <a:xfrm>
            <a:off x="8321040" y="2880360"/>
            <a:ext cx="73152" cy="1554480"/>
          </a:xfrm>
          <a:prstGeom prst="rect">
            <a:avLst/>
          </a:prstGeom>
          <a:solidFill>
            <a:srgbClr val="EC5C2A"/>
          </a:solidFill>
          <a:ln w="12700">
            <a:solidFill>
              <a:srgbClr val="EC5C2A"/>
            </a:solidFill>
            <a:prstDash val="solid"/>
          </a:ln>
        </p:spPr>
      </p:sp>
      <p:sp>
        <p:nvSpPr>
          <p:cNvPr id="16" name="Text 14"/>
          <p:cNvSpPr/>
          <p:nvPr/>
        </p:nvSpPr>
        <p:spPr>
          <a:xfrm>
            <a:off x="8549640" y="3017520"/>
            <a:ext cx="3383280" cy="457200"/>
          </a:xfrm>
          <a:prstGeom prst="rect">
            <a:avLst/>
          </a:prstGeom>
          <a:noFill/>
          <a:ln/>
        </p:spPr>
        <p:txBody>
          <a:bodyPr wrap="square" rtlCol="0" anchor="ctr"/>
          <a:lstStyle/>
          <a:p>
            <a:pPr indent="0" marL="0">
              <a:buNone/>
            </a:pPr>
            <a:r>
              <a:rPr lang="en-US" sz="1200" b="1" dirty="0">
                <a:solidFill>
                  <a:srgbClr val="0A3454"/>
                </a:solidFill>
                <a:latin typeface="Roboto" pitchFamily="34" charset="0"/>
                <a:ea typeface="Roboto" pitchFamily="34" charset="-122"/>
                <a:cs typeface="Roboto" pitchFamily="34" charset="-120"/>
              </a:rPr>
              <a:t>Reduced champion attrition</a:t>
            </a:r>
            <a:endParaRPr lang="en-US" sz="1200" dirty="0"/>
          </a:p>
        </p:txBody>
      </p:sp>
      <p:sp>
        <p:nvSpPr>
          <p:cNvPr id="17" name="Text 15"/>
          <p:cNvSpPr/>
          <p:nvPr/>
        </p:nvSpPr>
        <p:spPr>
          <a:xfrm>
            <a:off x="8549640" y="3474720"/>
            <a:ext cx="3383280" cy="914400"/>
          </a:xfrm>
          <a:prstGeom prst="rect">
            <a:avLst/>
          </a:prstGeom>
          <a:noFill/>
          <a:ln/>
        </p:spPr>
        <p:txBody>
          <a:bodyPr wrap="square" rtlCol="0" anchor="ctr"/>
          <a:lstStyle/>
          <a:p>
            <a:pPr indent="0" marL="0">
              <a:lnSpc>
                <a:spcPct val="135000"/>
              </a:lnSpc>
              <a:buNone/>
            </a:pPr>
            <a:r>
              <a:rPr lang="en-US" sz="1000" dirty="0">
                <a:solidFill>
                  <a:srgbClr val="404040"/>
                </a:solidFill>
                <a:latin typeface="Roboto" pitchFamily="34" charset="0"/>
                <a:ea typeface="Roboto" pitchFamily="34" charset="-122"/>
                <a:cs typeface="Roboto" pitchFamily="34" charset="-120"/>
              </a:rPr>
              <a:t>Structured training, a credential, and 6 months of peer support. Retention of trained leaders is itself an ROI story.</a:t>
            </a:r>
            <a:endParaRPr lang="en-US" sz="1000" dirty="0"/>
          </a:p>
        </p:txBody>
      </p:sp>
      <p:sp>
        <p:nvSpPr>
          <p:cNvPr id="18" name="Shape 16"/>
          <p:cNvSpPr/>
          <p:nvPr/>
        </p:nvSpPr>
        <p:spPr>
          <a:xfrm>
            <a:off x="548640" y="4572000"/>
            <a:ext cx="3657600" cy="1554480"/>
          </a:xfrm>
          <a:prstGeom prst="rect">
            <a:avLst/>
          </a:prstGeom>
          <a:solidFill>
            <a:srgbClr val="B8D8DC"/>
          </a:solidFill>
          <a:ln w="6350">
            <a:solidFill>
              <a:srgbClr val="B8D8DC"/>
            </a:solidFill>
            <a:prstDash val="solid"/>
          </a:ln>
        </p:spPr>
      </p:sp>
      <p:sp>
        <p:nvSpPr>
          <p:cNvPr id="19" name="Shape 17"/>
          <p:cNvSpPr/>
          <p:nvPr/>
        </p:nvSpPr>
        <p:spPr>
          <a:xfrm>
            <a:off x="548640" y="4572000"/>
            <a:ext cx="73152" cy="1554480"/>
          </a:xfrm>
          <a:prstGeom prst="rect">
            <a:avLst/>
          </a:prstGeom>
          <a:solidFill>
            <a:srgbClr val="EC5C2A"/>
          </a:solidFill>
          <a:ln w="12700">
            <a:solidFill>
              <a:srgbClr val="EC5C2A"/>
            </a:solidFill>
            <a:prstDash val="solid"/>
          </a:ln>
        </p:spPr>
      </p:sp>
      <p:sp>
        <p:nvSpPr>
          <p:cNvPr id="20" name="Text 18"/>
          <p:cNvSpPr/>
          <p:nvPr/>
        </p:nvSpPr>
        <p:spPr>
          <a:xfrm>
            <a:off x="777240" y="4709160"/>
            <a:ext cx="3383280" cy="457200"/>
          </a:xfrm>
          <a:prstGeom prst="rect">
            <a:avLst/>
          </a:prstGeom>
          <a:noFill/>
          <a:ln/>
        </p:spPr>
        <p:txBody>
          <a:bodyPr wrap="square" rtlCol="0" anchor="ctr"/>
          <a:lstStyle/>
          <a:p>
            <a:pPr indent="0" marL="0">
              <a:buNone/>
            </a:pPr>
            <a:r>
              <a:rPr lang="en-US" sz="1200" b="1" dirty="0">
                <a:solidFill>
                  <a:srgbClr val="0A3454"/>
                </a:solidFill>
                <a:latin typeface="Roboto" pitchFamily="34" charset="0"/>
                <a:ea typeface="Roboto" pitchFamily="34" charset="-122"/>
                <a:cs typeface="Roboto" pitchFamily="34" charset="-120"/>
              </a:rPr>
              <a:t>Scale with quality, not just reach</a:t>
            </a:r>
            <a:endParaRPr lang="en-US" sz="1200" dirty="0"/>
          </a:p>
        </p:txBody>
      </p:sp>
      <p:sp>
        <p:nvSpPr>
          <p:cNvPr id="21" name="Text 19"/>
          <p:cNvSpPr/>
          <p:nvPr/>
        </p:nvSpPr>
        <p:spPr>
          <a:xfrm>
            <a:off x="777240" y="5166360"/>
            <a:ext cx="3383280" cy="914400"/>
          </a:xfrm>
          <a:prstGeom prst="rect">
            <a:avLst/>
          </a:prstGeom>
          <a:noFill/>
          <a:ln/>
        </p:spPr>
        <p:txBody>
          <a:bodyPr wrap="square" rtlCol="0" anchor="ctr"/>
          <a:lstStyle/>
          <a:p>
            <a:pPr indent="0" marL="0">
              <a:lnSpc>
                <a:spcPct val="135000"/>
              </a:lnSpc>
              <a:buNone/>
            </a:pPr>
            <a:r>
              <a:rPr lang="en-US" sz="1000" dirty="0">
                <a:solidFill>
                  <a:srgbClr val="404040"/>
                </a:solidFill>
                <a:latin typeface="Roboto" pitchFamily="34" charset="0"/>
                <a:ea typeface="Roboto" pitchFamily="34" charset="-122"/>
                <a:cs typeface="Roboto" pitchFamily="34" charset="-120"/>
              </a:rPr>
              <a:t>Adding events without improving experience quality produces diminishing returns. Trained champions improve every experience they touch.</a:t>
            </a:r>
            <a:endParaRPr lang="en-US" sz="1000" dirty="0"/>
          </a:p>
        </p:txBody>
      </p:sp>
      <p:sp>
        <p:nvSpPr>
          <p:cNvPr id="22" name="Shape 20"/>
          <p:cNvSpPr/>
          <p:nvPr/>
        </p:nvSpPr>
        <p:spPr>
          <a:xfrm>
            <a:off x="4434840" y="4572000"/>
            <a:ext cx="3657600" cy="1554480"/>
          </a:xfrm>
          <a:prstGeom prst="rect">
            <a:avLst/>
          </a:prstGeom>
          <a:solidFill>
            <a:srgbClr val="B8D8DC"/>
          </a:solidFill>
          <a:ln w="6350">
            <a:solidFill>
              <a:srgbClr val="B8D8DC"/>
            </a:solidFill>
            <a:prstDash val="solid"/>
          </a:ln>
        </p:spPr>
      </p:sp>
      <p:sp>
        <p:nvSpPr>
          <p:cNvPr id="23" name="Shape 21"/>
          <p:cNvSpPr/>
          <p:nvPr/>
        </p:nvSpPr>
        <p:spPr>
          <a:xfrm>
            <a:off x="4434840" y="4572000"/>
            <a:ext cx="73152" cy="1554480"/>
          </a:xfrm>
          <a:prstGeom prst="rect">
            <a:avLst/>
          </a:prstGeom>
          <a:solidFill>
            <a:srgbClr val="EC5C2A"/>
          </a:solidFill>
          <a:ln w="12700">
            <a:solidFill>
              <a:srgbClr val="EC5C2A"/>
            </a:solidFill>
            <a:prstDash val="solid"/>
          </a:ln>
        </p:spPr>
      </p:sp>
      <p:sp>
        <p:nvSpPr>
          <p:cNvPr id="24" name="Text 22"/>
          <p:cNvSpPr/>
          <p:nvPr/>
        </p:nvSpPr>
        <p:spPr>
          <a:xfrm>
            <a:off x="4663440" y="4709160"/>
            <a:ext cx="3383280" cy="457200"/>
          </a:xfrm>
          <a:prstGeom prst="rect">
            <a:avLst/>
          </a:prstGeom>
          <a:noFill/>
          <a:ln/>
        </p:spPr>
        <p:txBody>
          <a:bodyPr wrap="square" rtlCol="0" anchor="ctr"/>
          <a:lstStyle/>
          <a:p>
            <a:pPr indent="0" marL="0">
              <a:buNone/>
            </a:pPr>
            <a:r>
              <a:rPr lang="en-US" sz="1200" b="1" dirty="0">
                <a:solidFill>
                  <a:srgbClr val="0A3454"/>
                </a:solidFill>
                <a:latin typeface="Roboto" pitchFamily="34" charset="0"/>
                <a:ea typeface="Roboto" pitchFamily="34" charset="-122"/>
                <a:cs typeface="Roboto" pitchFamily="34" charset="-120"/>
              </a:rPr>
              <a:t>Brand perception from the inside</a:t>
            </a:r>
            <a:endParaRPr lang="en-US" sz="1200" dirty="0"/>
          </a:p>
        </p:txBody>
      </p:sp>
      <p:sp>
        <p:nvSpPr>
          <p:cNvPr id="25" name="Text 23"/>
          <p:cNvSpPr/>
          <p:nvPr/>
        </p:nvSpPr>
        <p:spPr>
          <a:xfrm>
            <a:off x="4663440" y="5166360"/>
            <a:ext cx="3383280" cy="914400"/>
          </a:xfrm>
          <a:prstGeom prst="rect">
            <a:avLst/>
          </a:prstGeom>
          <a:noFill/>
          <a:ln/>
        </p:spPr>
        <p:txBody>
          <a:bodyPr wrap="square" rtlCol="0" anchor="ctr"/>
          <a:lstStyle/>
          <a:p>
            <a:pPr indent="0" marL="0">
              <a:lnSpc>
                <a:spcPct val="135000"/>
              </a:lnSpc>
              <a:buNone/>
            </a:pPr>
            <a:r>
              <a:rPr lang="en-US" sz="1000" dirty="0">
                <a:solidFill>
                  <a:srgbClr val="404040"/>
                </a:solidFill>
                <a:latin typeface="Roboto" pitchFamily="34" charset="0"/>
                <a:ea typeface="Roboto" pitchFamily="34" charset="-122"/>
                <a:cs typeface="Roboto" pitchFamily="34" charset="-120"/>
              </a:rPr>
              <a:t>Employees who undergo genuine prosocial identity change embody the company's commitment. That shows up in Glassdoor, in talent conversations, in how people describe working here.</a:t>
            </a:r>
            <a:endParaRPr lang="en-US" sz="1000" dirty="0"/>
          </a:p>
        </p:txBody>
      </p:sp>
      <p:sp>
        <p:nvSpPr>
          <p:cNvPr id="26" name="Shape 24"/>
          <p:cNvSpPr/>
          <p:nvPr/>
        </p:nvSpPr>
        <p:spPr>
          <a:xfrm>
            <a:off x="8321040" y="4572000"/>
            <a:ext cx="3657600" cy="1554480"/>
          </a:xfrm>
          <a:prstGeom prst="rect">
            <a:avLst/>
          </a:prstGeom>
          <a:solidFill>
            <a:srgbClr val="B8D8DC"/>
          </a:solidFill>
          <a:ln w="6350">
            <a:solidFill>
              <a:srgbClr val="B8D8DC"/>
            </a:solidFill>
            <a:prstDash val="solid"/>
          </a:ln>
        </p:spPr>
      </p:sp>
      <p:sp>
        <p:nvSpPr>
          <p:cNvPr id="27" name="Shape 25"/>
          <p:cNvSpPr/>
          <p:nvPr/>
        </p:nvSpPr>
        <p:spPr>
          <a:xfrm>
            <a:off x="8321040" y="4572000"/>
            <a:ext cx="73152" cy="1554480"/>
          </a:xfrm>
          <a:prstGeom prst="rect">
            <a:avLst/>
          </a:prstGeom>
          <a:solidFill>
            <a:srgbClr val="EC5C2A"/>
          </a:solidFill>
          <a:ln w="12700">
            <a:solidFill>
              <a:srgbClr val="EC5C2A"/>
            </a:solidFill>
            <a:prstDash val="solid"/>
          </a:ln>
        </p:spPr>
      </p:sp>
      <p:sp>
        <p:nvSpPr>
          <p:cNvPr id="28" name="Text 26"/>
          <p:cNvSpPr/>
          <p:nvPr/>
        </p:nvSpPr>
        <p:spPr>
          <a:xfrm>
            <a:off x="8549640" y="4709160"/>
            <a:ext cx="3383280" cy="457200"/>
          </a:xfrm>
          <a:prstGeom prst="rect">
            <a:avLst/>
          </a:prstGeom>
          <a:noFill/>
          <a:ln/>
        </p:spPr>
        <p:txBody>
          <a:bodyPr wrap="square" rtlCol="0" anchor="ctr"/>
          <a:lstStyle/>
          <a:p>
            <a:pPr indent="0" marL="0">
              <a:buNone/>
            </a:pPr>
            <a:r>
              <a:rPr lang="en-US" sz="1200" b="1" dirty="0">
                <a:solidFill>
                  <a:srgbClr val="0A3454"/>
                </a:solidFill>
                <a:latin typeface="Roboto" pitchFamily="34" charset="0"/>
                <a:ea typeface="Roboto" pitchFamily="34" charset="-122"/>
                <a:cs typeface="Roboto" pitchFamily="34" charset="-120"/>
              </a:rPr>
              <a:t>Peer benchmarking at the right altitude</a:t>
            </a:r>
            <a:endParaRPr lang="en-US" sz="1200" dirty="0"/>
          </a:p>
        </p:txBody>
      </p:sp>
      <p:sp>
        <p:nvSpPr>
          <p:cNvPr id="29" name="Text 27"/>
          <p:cNvSpPr/>
          <p:nvPr/>
        </p:nvSpPr>
        <p:spPr>
          <a:xfrm>
            <a:off x="8549640" y="5166360"/>
            <a:ext cx="3383280" cy="914400"/>
          </a:xfrm>
          <a:prstGeom prst="rect">
            <a:avLst/>
          </a:prstGeom>
          <a:noFill/>
          <a:ln/>
        </p:spPr>
        <p:txBody>
          <a:bodyPr wrap="square" rtlCol="0" anchor="ctr"/>
          <a:lstStyle/>
          <a:p>
            <a:pPr indent="0" marL="0">
              <a:lnSpc>
                <a:spcPct val="135000"/>
              </a:lnSpc>
              <a:buNone/>
            </a:pPr>
            <a:r>
              <a:rPr lang="en-US" sz="1000" dirty="0">
                <a:solidFill>
                  <a:srgbClr val="404040"/>
                </a:solidFill>
                <a:latin typeface="Roboto" pitchFamily="34" charset="0"/>
                <a:ea typeface="Roboto" pitchFamily="34" charset="-122"/>
                <a:cs typeface="Roboto" pitchFamily="34" charset="-120"/>
              </a:rPr>
              <a:t>Train alongside leaders running comparable programs. The cross-company workshop alone produces more actionable insight than most conferences deliver in three days.</a:t>
            </a:r>
            <a:endParaRPr lang="en-US" sz="1000" dirty="0"/>
          </a:p>
        </p:txBody>
      </p:sp>
      <p:sp>
        <p:nvSpPr>
          <p:cNvPr id="30" name="Shape 28"/>
          <p:cNvSpPr/>
          <p:nvPr/>
        </p:nvSpPr>
        <p:spPr>
          <a:xfrm>
            <a:off x="548640" y="6355080"/>
            <a:ext cx="11094415" cy="0"/>
          </a:xfrm>
          <a:prstGeom prst="line">
            <a:avLst/>
          </a:prstGeom>
          <a:noFill/>
          <a:ln w="6350">
            <a:solidFill>
              <a:srgbClr val="C2C2C6"/>
            </a:solidFill>
            <a:prstDash val="solid"/>
          </a:ln>
        </p:spPr>
      </p:sp>
      <p:sp>
        <p:nvSpPr>
          <p:cNvPr id="31" name="Text 29"/>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32" name="Text 30"/>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3454"/>
        </a:solidFill>
      </p:bgPr>
    </p:bg>
    <p:spTree>
      <p:nvGrpSpPr>
        <p:cNvPr id="1" name=""/>
        <p:cNvGrpSpPr/>
        <p:nvPr/>
      </p:nvGrpSpPr>
      <p:grpSpPr>
        <a:xfrm>
          <a:off x="0" y="0"/>
          <a:ext cx="0" cy="0"/>
          <a:chOff x="0" y="0"/>
          <a:chExt cx="0" cy="0"/>
        </a:xfrm>
      </p:grpSpPr>
      <p:sp>
        <p:nvSpPr>
          <p:cNvPr id="2" name="Shape 0"/>
          <p:cNvSpPr/>
          <p:nvPr/>
        </p:nvSpPr>
        <p:spPr>
          <a:xfrm>
            <a:off x="0" y="0"/>
            <a:ext cx="365760" cy="6858000"/>
          </a:xfrm>
          <a:prstGeom prst="rect">
            <a:avLst/>
          </a:prstGeom>
          <a:solidFill>
            <a:srgbClr val="EC5C2A"/>
          </a:solidFill>
          <a:ln w="12700">
            <a:solidFill>
              <a:srgbClr val="EC5C2A"/>
            </a:solidFill>
            <a:prstDash val="solid"/>
          </a:ln>
        </p:spPr>
      </p:sp>
      <p:sp>
        <p:nvSpPr>
          <p:cNvPr id="3" name="Text 1"/>
          <p:cNvSpPr/>
          <p:nvPr/>
        </p:nvSpPr>
        <p:spPr>
          <a:xfrm>
            <a:off x="822960" y="640080"/>
            <a:ext cx="10972800" cy="365760"/>
          </a:xfrm>
          <a:prstGeom prst="rect">
            <a:avLst/>
          </a:prstGeom>
          <a:noFill/>
          <a:ln/>
        </p:spPr>
        <p:txBody>
          <a:bodyPr wrap="square" rtlCol="0" anchor="ctr"/>
          <a:lstStyle/>
          <a:p>
            <a:pPr indent="0" marL="0">
              <a:buNone/>
            </a:pPr>
            <a:r>
              <a:rPr lang="en-US" sz="1200" b="1" spc="600" kern="0" dirty="0">
                <a:solidFill>
                  <a:srgbClr val="EC5C2A"/>
                </a:solidFill>
                <a:latin typeface="Roboto" pitchFamily="34" charset="0"/>
                <a:ea typeface="Roboto" pitchFamily="34" charset="-122"/>
                <a:cs typeface="Roboto" pitchFamily="34" charset="-120"/>
              </a:rPr>
              <a:t>THE ASK · NEXT STEPS</a:t>
            </a:r>
            <a:endParaRPr lang="en-US" sz="1200" dirty="0"/>
          </a:p>
        </p:txBody>
      </p:sp>
      <p:sp>
        <p:nvSpPr>
          <p:cNvPr id="4" name="Text 2"/>
          <p:cNvSpPr/>
          <p:nvPr/>
        </p:nvSpPr>
        <p:spPr>
          <a:xfrm>
            <a:off x="822960" y="1188720"/>
            <a:ext cx="10972800" cy="1280160"/>
          </a:xfrm>
          <a:prstGeom prst="rect">
            <a:avLst/>
          </a:prstGeom>
          <a:noFill/>
          <a:ln/>
        </p:spPr>
        <p:txBody>
          <a:bodyPr wrap="square" rtlCol="0" anchor="ctr"/>
          <a:lstStyle/>
          <a:p>
            <a:pPr indent="0" marL="0">
              <a:lnSpc>
                <a:spcPct val="110000"/>
              </a:lnSpc>
              <a:buNone/>
            </a:pPr>
            <a:r>
              <a:rPr lang="en-US" sz="3200" b="1" dirty="0">
                <a:solidFill>
                  <a:srgbClr val="FFFFFF"/>
                </a:solidFill>
                <a:latin typeface="Roboto" pitchFamily="34" charset="0"/>
                <a:ea typeface="Roboto" pitchFamily="34" charset="-122"/>
                <a:cs typeface="Roboto" pitchFamily="34" charset="-120"/>
              </a:rPr>
              <a:t>Approve 6 seats for the RW Institute's Washington D.C. Campus.</a:t>
            </a:r>
            <a:endParaRPr lang="en-US" sz="3200" dirty="0"/>
          </a:p>
        </p:txBody>
      </p:sp>
      <p:sp>
        <p:nvSpPr>
          <p:cNvPr id="5" name="Shape 3"/>
          <p:cNvSpPr/>
          <p:nvPr/>
        </p:nvSpPr>
        <p:spPr>
          <a:xfrm>
            <a:off x="822960" y="2606040"/>
            <a:ext cx="914400" cy="0"/>
          </a:xfrm>
          <a:prstGeom prst="line">
            <a:avLst/>
          </a:prstGeom>
          <a:noFill/>
          <a:ln w="38100">
            <a:solidFill>
              <a:srgbClr val="EC5C2A"/>
            </a:solidFill>
            <a:prstDash val="solid"/>
          </a:ln>
        </p:spPr>
      </p:sp>
      <p:sp>
        <p:nvSpPr>
          <p:cNvPr id="6" name="Text 4"/>
          <p:cNvSpPr/>
          <p:nvPr/>
        </p:nvSpPr>
        <p:spPr>
          <a:xfrm>
            <a:off x="822960" y="2743200"/>
            <a:ext cx="10515600" cy="1097280"/>
          </a:xfrm>
          <a:prstGeom prst="rect">
            <a:avLst/>
          </a:prstGeom>
          <a:noFill/>
          <a:ln/>
        </p:spPr>
        <p:txBody>
          <a:bodyPr wrap="square" rtlCol="0" anchor="ctr"/>
          <a:lstStyle/>
          <a:p>
            <a:pPr indent="0" marL="0">
              <a:lnSpc>
                <a:spcPct val="140000"/>
              </a:lnSpc>
              <a:buNone/>
            </a:pPr>
            <a:r>
              <a:rPr lang="en-US" sz="1400" dirty="0">
                <a:solidFill>
                  <a:srgbClr val="B8D8DC"/>
                </a:solidFill>
                <a:latin typeface="Roboto" pitchFamily="34" charset="0"/>
                <a:ea typeface="Roboto" pitchFamily="34" charset="-122"/>
                <a:cs typeface="Roboto" pitchFamily="34" charset="-120"/>
              </a:rPr>
              <a:t>We are requesting approval to send six employees to the upcoming RW Institute regional campus. The cost is within the $15,000-$30,000 budget sponsored by Paul Apostle. The team will return with a new playbook for volunteer engagement designed to address our specific measurement and cultural challenges.</a:t>
            </a:r>
            <a:endParaRPr lang="en-US" sz="1400" dirty="0"/>
          </a:p>
        </p:txBody>
      </p:sp>
      <p:sp>
        <p:nvSpPr>
          <p:cNvPr id="7" name="Shape 5"/>
          <p:cNvSpPr/>
          <p:nvPr/>
        </p:nvSpPr>
        <p:spPr>
          <a:xfrm>
            <a:off x="822960" y="4114800"/>
            <a:ext cx="548640" cy="548640"/>
          </a:xfrm>
          <a:prstGeom prst="ellipse">
            <a:avLst/>
          </a:prstGeom>
          <a:solidFill>
            <a:srgbClr val="EC5C2A"/>
          </a:solidFill>
          <a:ln w="12700">
            <a:solidFill>
              <a:srgbClr val="EC5C2A"/>
            </a:solidFill>
            <a:prstDash val="solid"/>
          </a:ln>
        </p:spPr>
      </p:sp>
      <p:sp>
        <p:nvSpPr>
          <p:cNvPr id="8" name="Text 6"/>
          <p:cNvSpPr/>
          <p:nvPr/>
        </p:nvSpPr>
        <p:spPr>
          <a:xfrm>
            <a:off x="822960" y="4114800"/>
            <a:ext cx="548640" cy="548640"/>
          </a:xfrm>
          <a:prstGeom prst="rect">
            <a:avLst/>
          </a:prstGeom>
          <a:noFill/>
          <a:ln/>
        </p:spPr>
        <p:txBody>
          <a:bodyPr wrap="square" rtlCol="0" anchor="ctr"/>
          <a:lstStyle/>
          <a:p>
            <a:pPr algn="ctr" indent="0" marL="0">
              <a:buNone/>
            </a:pPr>
            <a:r>
              <a:rPr lang="en-US" sz="1200" b="1" dirty="0">
                <a:solidFill>
                  <a:srgbClr val="FFFFFF"/>
                </a:solidFill>
                <a:latin typeface="Roboto" pitchFamily="34" charset="0"/>
                <a:ea typeface="Roboto" pitchFamily="34" charset="-122"/>
                <a:cs typeface="Roboto" pitchFamily="34" charset="-120"/>
              </a:rPr>
              <a:t>01</a:t>
            </a:r>
            <a:endParaRPr lang="en-US" sz="1200" dirty="0"/>
          </a:p>
        </p:txBody>
      </p:sp>
      <p:sp>
        <p:nvSpPr>
          <p:cNvPr id="9" name="Text 7"/>
          <p:cNvSpPr/>
          <p:nvPr/>
        </p:nvSpPr>
        <p:spPr>
          <a:xfrm>
            <a:off x="1508760" y="4069080"/>
            <a:ext cx="3108960" cy="365760"/>
          </a:xfrm>
          <a:prstGeom prst="rect">
            <a:avLst/>
          </a:prstGeom>
          <a:noFill/>
          <a:ln/>
        </p:spPr>
        <p:txBody>
          <a:bodyPr wrap="square" rtlCol="0" anchor="ctr"/>
          <a:lstStyle/>
          <a:p>
            <a:pPr indent="0" marL="0">
              <a:buNone/>
            </a:pPr>
            <a:r>
              <a:rPr lang="en-US" sz="1300" b="1" dirty="0">
                <a:solidFill>
                  <a:srgbClr val="FFFFFF"/>
                </a:solidFill>
                <a:latin typeface="Roboto" pitchFamily="34" charset="0"/>
                <a:ea typeface="Roboto" pitchFamily="34" charset="-122"/>
                <a:cs typeface="Roboto" pitchFamily="34" charset="-120"/>
              </a:rPr>
              <a:t>Express interest</a:t>
            </a:r>
            <a:endParaRPr lang="en-US" sz="1300" dirty="0"/>
          </a:p>
        </p:txBody>
      </p:sp>
      <p:sp>
        <p:nvSpPr>
          <p:cNvPr id="10" name="Text 8"/>
          <p:cNvSpPr/>
          <p:nvPr/>
        </p:nvSpPr>
        <p:spPr>
          <a:xfrm>
            <a:off x="822960" y="4800600"/>
            <a:ext cx="3566160" cy="1280160"/>
          </a:xfrm>
          <a:prstGeom prst="rect">
            <a:avLst/>
          </a:prstGeom>
          <a:noFill/>
          <a:ln/>
        </p:spPr>
        <p:txBody>
          <a:bodyPr wrap="square" rtlCol="0" anchor="ctr"/>
          <a:lstStyle/>
          <a:p>
            <a:pPr indent="0" marL="0">
              <a:lnSpc>
                <a:spcPct val="140000"/>
              </a:lnSpc>
              <a:buNone/>
            </a:pPr>
            <a:r>
              <a:rPr lang="en-US" sz="1050" dirty="0">
                <a:solidFill>
                  <a:srgbClr val="B8D8DC"/>
                </a:solidFill>
                <a:latin typeface="Roboto" pitchFamily="34" charset="0"/>
                <a:ea typeface="Roboto" pitchFamily="34" charset="-122"/>
                <a:cs typeface="Roboto" pitchFamily="34" charset="-120"/>
              </a:rPr>
              <a:t>Visit rw-regional-campus.lovable.app and submit the interest form for your preferred campus.</a:t>
            </a:r>
            <a:endParaRPr lang="en-US" sz="1050" dirty="0"/>
          </a:p>
        </p:txBody>
      </p:sp>
      <p:sp>
        <p:nvSpPr>
          <p:cNvPr id="11" name="Shape 9"/>
          <p:cNvSpPr/>
          <p:nvPr/>
        </p:nvSpPr>
        <p:spPr>
          <a:xfrm>
            <a:off x="4663440" y="4114800"/>
            <a:ext cx="548640" cy="548640"/>
          </a:xfrm>
          <a:prstGeom prst="ellipse">
            <a:avLst/>
          </a:prstGeom>
          <a:solidFill>
            <a:srgbClr val="EC5C2A"/>
          </a:solidFill>
          <a:ln w="12700">
            <a:solidFill>
              <a:srgbClr val="EC5C2A"/>
            </a:solidFill>
            <a:prstDash val="solid"/>
          </a:ln>
        </p:spPr>
      </p:sp>
      <p:sp>
        <p:nvSpPr>
          <p:cNvPr id="12" name="Text 10"/>
          <p:cNvSpPr/>
          <p:nvPr/>
        </p:nvSpPr>
        <p:spPr>
          <a:xfrm>
            <a:off x="4663440" y="4114800"/>
            <a:ext cx="548640" cy="548640"/>
          </a:xfrm>
          <a:prstGeom prst="rect">
            <a:avLst/>
          </a:prstGeom>
          <a:noFill/>
          <a:ln/>
        </p:spPr>
        <p:txBody>
          <a:bodyPr wrap="square" rtlCol="0" anchor="ctr"/>
          <a:lstStyle/>
          <a:p>
            <a:pPr algn="ctr" indent="0" marL="0">
              <a:buNone/>
            </a:pPr>
            <a:r>
              <a:rPr lang="en-US" sz="1200" b="1" dirty="0">
                <a:solidFill>
                  <a:srgbClr val="FFFFFF"/>
                </a:solidFill>
                <a:latin typeface="Roboto" pitchFamily="34" charset="0"/>
                <a:ea typeface="Roboto" pitchFamily="34" charset="-122"/>
                <a:cs typeface="Roboto" pitchFamily="34" charset="-120"/>
              </a:rPr>
              <a:t>02</a:t>
            </a:r>
            <a:endParaRPr lang="en-US" sz="1200" dirty="0"/>
          </a:p>
        </p:txBody>
      </p:sp>
      <p:sp>
        <p:nvSpPr>
          <p:cNvPr id="13" name="Text 11"/>
          <p:cNvSpPr/>
          <p:nvPr/>
        </p:nvSpPr>
        <p:spPr>
          <a:xfrm>
            <a:off x="5349240" y="4069080"/>
            <a:ext cx="3108960" cy="365760"/>
          </a:xfrm>
          <a:prstGeom prst="rect">
            <a:avLst/>
          </a:prstGeom>
          <a:noFill/>
          <a:ln/>
        </p:spPr>
        <p:txBody>
          <a:bodyPr wrap="square" rtlCol="0" anchor="ctr"/>
          <a:lstStyle/>
          <a:p>
            <a:pPr indent="0" marL="0">
              <a:buNone/>
            </a:pPr>
            <a:r>
              <a:rPr lang="en-US" sz="1300" b="1" dirty="0">
                <a:solidFill>
                  <a:srgbClr val="FFFFFF"/>
                </a:solidFill>
                <a:latin typeface="Roboto" pitchFamily="34" charset="0"/>
                <a:ea typeface="Roboto" pitchFamily="34" charset="-122"/>
                <a:cs typeface="Roboto" pitchFamily="34" charset="-120"/>
              </a:rPr>
              <a:t>Talk to us</a:t>
            </a:r>
            <a:endParaRPr lang="en-US" sz="1300" dirty="0"/>
          </a:p>
        </p:txBody>
      </p:sp>
      <p:sp>
        <p:nvSpPr>
          <p:cNvPr id="14" name="Text 12"/>
          <p:cNvSpPr/>
          <p:nvPr/>
        </p:nvSpPr>
        <p:spPr>
          <a:xfrm>
            <a:off x="4663440" y="4800600"/>
            <a:ext cx="3566160" cy="1280160"/>
          </a:xfrm>
          <a:prstGeom prst="rect">
            <a:avLst/>
          </a:prstGeom>
          <a:noFill/>
          <a:ln/>
        </p:spPr>
        <p:txBody>
          <a:bodyPr wrap="square" rtlCol="0" anchor="ctr"/>
          <a:lstStyle/>
          <a:p>
            <a:pPr indent="0" marL="0">
              <a:lnSpc>
                <a:spcPct val="140000"/>
              </a:lnSpc>
              <a:buNone/>
            </a:pPr>
            <a:r>
              <a:rPr lang="en-US" sz="1050" dirty="0">
                <a:solidFill>
                  <a:srgbClr val="B8D8DC"/>
                </a:solidFill>
                <a:latin typeface="Roboto" pitchFamily="34" charset="0"/>
                <a:ea typeface="Roboto" pitchFamily="34" charset="-122"/>
                <a:cs typeface="Roboto" pitchFamily="34" charset="-120"/>
              </a:rPr>
              <a:t>Reach out to Nichole at nichole@realizedworth.com — she'll walk you through everything.</a:t>
            </a:r>
            <a:endParaRPr lang="en-US" sz="1050" dirty="0"/>
          </a:p>
        </p:txBody>
      </p:sp>
      <p:sp>
        <p:nvSpPr>
          <p:cNvPr id="15" name="Shape 13"/>
          <p:cNvSpPr/>
          <p:nvPr/>
        </p:nvSpPr>
        <p:spPr>
          <a:xfrm>
            <a:off x="8503920" y="4114800"/>
            <a:ext cx="548640" cy="548640"/>
          </a:xfrm>
          <a:prstGeom prst="ellipse">
            <a:avLst/>
          </a:prstGeom>
          <a:solidFill>
            <a:srgbClr val="EC5C2A"/>
          </a:solidFill>
          <a:ln w="12700">
            <a:solidFill>
              <a:srgbClr val="EC5C2A"/>
            </a:solidFill>
            <a:prstDash val="solid"/>
          </a:ln>
        </p:spPr>
      </p:sp>
      <p:sp>
        <p:nvSpPr>
          <p:cNvPr id="16" name="Text 14"/>
          <p:cNvSpPr/>
          <p:nvPr/>
        </p:nvSpPr>
        <p:spPr>
          <a:xfrm>
            <a:off x="8503920" y="4114800"/>
            <a:ext cx="548640" cy="548640"/>
          </a:xfrm>
          <a:prstGeom prst="rect">
            <a:avLst/>
          </a:prstGeom>
          <a:noFill/>
          <a:ln/>
        </p:spPr>
        <p:txBody>
          <a:bodyPr wrap="square" rtlCol="0" anchor="ctr"/>
          <a:lstStyle/>
          <a:p>
            <a:pPr algn="ctr" indent="0" marL="0">
              <a:buNone/>
            </a:pPr>
            <a:r>
              <a:rPr lang="en-US" sz="1200" b="1" dirty="0">
                <a:solidFill>
                  <a:srgbClr val="FFFFFF"/>
                </a:solidFill>
                <a:latin typeface="Roboto" pitchFamily="34" charset="0"/>
                <a:ea typeface="Roboto" pitchFamily="34" charset="-122"/>
                <a:cs typeface="Roboto" pitchFamily="34" charset="-120"/>
              </a:rPr>
              <a:t>03</a:t>
            </a:r>
            <a:endParaRPr lang="en-US" sz="1200" dirty="0"/>
          </a:p>
        </p:txBody>
      </p:sp>
      <p:sp>
        <p:nvSpPr>
          <p:cNvPr id="17" name="Text 15"/>
          <p:cNvSpPr/>
          <p:nvPr/>
        </p:nvSpPr>
        <p:spPr>
          <a:xfrm>
            <a:off x="9189720" y="4069080"/>
            <a:ext cx="3108960" cy="365760"/>
          </a:xfrm>
          <a:prstGeom prst="rect">
            <a:avLst/>
          </a:prstGeom>
          <a:noFill/>
          <a:ln/>
        </p:spPr>
        <p:txBody>
          <a:bodyPr wrap="square" rtlCol="0" anchor="ctr"/>
          <a:lstStyle/>
          <a:p>
            <a:pPr indent="0" marL="0">
              <a:buNone/>
            </a:pPr>
            <a:r>
              <a:rPr lang="en-US" sz="1300" b="1" dirty="0">
                <a:solidFill>
                  <a:srgbClr val="FFFFFF"/>
                </a:solidFill>
                <a:latin typeface="Roboto" pitchFamily="34" charset="0"/>
                <a:ea typeface="Roboto" pitchFamily="34" charset="-122"/>
                <a:cs typeface="Roboto" pitchFamily="34" charset="-120"/>
              </a:rPr>
              <a:t>Reserve your seats</a:t>
            </a:r>
            <a:endParaRPr lang="en-US" sz="1300" dirty="0"/>
          </a:p>
        </p:txBody>
      </p:sp>
      <p:sp>
        <p:nvSpPr>
          <p:cNvPr id="18" name="Text 16"/>
          <p:cNvSpPr/>
          <p:nvPr/>
        </p:nvSpPr>
        <p:spPr>
          <a:xfrm>
            <a:off x="8503920" y="4800600"/>
            <a:ext cx="3566160" cy="1280160"/>
          </a:xfrm>
          <a:prstGeom prst="rect">
            <a:avLst/>
          </a:prstGeom>
          <a:noFill/>
          <a:ln/>
        </p:spPr>
        <p:txBody>
          <a:bodyPr wrap="square" rtlCol="0" anchor="ctr"/>
          <a:lstStyle/>
          <a:p>
            <a:pPr indent="0" marL="0">
              <a:lnSpc>
                <a:spcPct val="140000"/>
              </a:lnSpc>
              <a:buNone/>
            </a:pPr>
            <a:r>
              <a:rPr lang="en-US" sz="1050" dirty="0">
                <a:solidFill>
                  <a:srgbClr val="B8D8DC"/>
                </a:solidFill>
                <a:latin typeface="Roboto" pitchFamily="34" charset="0"/>
                <a:ea typeface="Roboto" pitchFamily="34" charset="-122"/>
                <a:cs typeface="Roboto" pitchFamily="34" charset="-120"/>
              </a:rPr>
              <a:t>Registration opens soon. Interest form submissions are first in line.</a:t>
            </a:r>
            <a:endParaRPr lang="en-US" sz="1050" dirty="0"/>
          </a:p>
        </p:txBody>
      </p:sp>
      <p:sp>
        <p:nvSpPr>
          <p:cNvPr id="19" name="Text 17"/>
          <p:cNvSpPr/>
          <p:nvPr/>
        </p:nvSpPr>
        <p:spPr>
          <a:xfrm>
            <a:off x="822960" y="6217920"/>
            <a:ext cx="10972800" cy="365760"/>
          </a:xfrm>
          <a:prstGeom prst="rect">
            <a:avLst/>
          </a:prstGeom>
          <a:noFill/>
          <a:ln/>
        </p:spPr>
        <p:txBody>
          <a:bodyPr wrap="square" rtlCol="0" anchor="ctr"/>
          <a:lstStyle/>
          <a:p>
            <a:pPr indent="0" marL="0">
              <a:buNone/>
            </a:pPr>
            <a:r>
              <a:rPr lang="en-US" sz="1100" spc="200" kern="0" dirty="0">
                <a:solidFill>
                  <a:srgbClr val="B8D8DC"/>
                </a:solidFill>
                <a:latin typeface="Roboto Condensed" pitchFamily="34" charset="0"/>
                <a:ea typeface="Roboto Condensed" pitchFamily="34" charset="-122"/>
                <a:cs typeface="Roboto Condensed" pitchFamily="34" charset="-120"/>
              </a:rPr>
              <a:t>rw-regional-campus.lovable.app   ·   nichole@realizedworth.com</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0972800" cy="320040"/>
          </a:xfrm>
          <a:prstGeom prst="rect">
            <a:avLst/>
          </a:prstGeom>
          <a:noFill/>
          <a:ln/>
        </p:spPr>
        <p:txBody>
          <a:bodyPr wrap="square" rtlCol="0" anchor="ctr"/>
          <a:lstStyle/>
          <a:p>
            <a:pPr indent="0" marL="0">
              <a:buNone/>
            </a:pPr>
            <a:r>
              <a:rPr lang="en-US" sz="1000" b="1" spc="400" kern="0" dirty="0">
                <a:solidFill>
                  <a:srgbClr val="EC5C2A"/>
                </a:solidFill>
                <a:latin typeface="Roboto" pitchFamily="34" charset="0"/>
                <a:ea typeface="Roboto" pitchFamily="34" charset="-122"/>
                <a:cs typeface="Roboto" pitchFamily="34" charset="-120"/>
              </a:rPr>
              <a:t>REFERENCES</a:t>
            </a:r>
            <a:endParaRPr lang="en-US" sz="1000" dirty="0"/>
          </a:p>
        </p:txBody>
      </p:sp>
      <p:sp>
        <p:nvSpPr>
          <p:cNvPr id="3" name="Text 1"/>
          <p:cNvSpPr/>
          <p:nvPr/>
        </p:nvSpPr>
        <p:spPr>
          <a:xfrm>
            <a:off x="548640" y="868680"/>
            <a:ext cx="10972800" cy="960120"/>
          </a:xfrm>
          <a:prstGeom prst="rect">
            <a:avLst/>
          </a:prstGeom>
          <a:noFill/>
          <a:ln/>
        </p:spPr>
        <p:txBody>
          <a:bodyPr wrap="square" rtlCol="0" anchor="ctr"/>
          <a:lstStyle/>
          <a:p>
            <a:pPr indent="0" marL="0">
              <a:buNone/>
            </a:pPr>
            <a:r>
              <a:rPr lang="en-US" sz="2800" b="1" dirty="0">
                <a:solidFill>
                  <a:srgbClr val="3C3F44"/>
                </a:solidFill>
                <a:latin typeface="Roboto" pitchFamily="34" charset="0"/>
                <a:ea typeface="Roboto" pitchFamily="34" charset="-122"/>
                <a:cs typeface="Roboto" pitchFamily="34" charset="-120"/>
              </a:rPr>
              <a:t>Behavioral science citations</a:t>
            </a:r>
            <a:endParaRPr lang="en-US" sz="2800" dirty="0"/>
          </a:p>
        </p:txBody>
      </p:sp>
      <p:sp>
        <p:nvSpPr>
          <p:cNvPr id="4" name="Shape 2"/>
          <p:cNvSpPr/>
          <p:nvPr/>
        </p:nvSpPr>
        <p:spPr>
          <a:xfrm>
            <a:off x="548640" y="1874520"/>
            <a:ext cx="914400" cy="0"/>
          </a:xfrm>
          <a:prstGeom prst="line">
            <a:avLst/>
          </a:prstGeom>
          <a:noFill/>
          <a:ln w="38100">
            <a:solidFill>
              <a:srgbClr val="EC5C2A"/>
            </a:solidFill>
            <a:prstDash val="solid"/>
          </a:ln>
        </p:spPr>
      </p:sp>
      <p:sp>
        <p:nvSpPr>
          <p:cNvPr id="5" name="Text 3"/>
          <p:cNvSpPr/>
          <p:nvPr/>
        </p:nvSpPr>
        <p:spPr>
          <a:xfrm>
            <a:off x="548640" y="2103120"/>
            <a:ext cx="10972800" cy="365760"/>
          </a:xfrm>
          <a:prstGeom prst="rect">
            <a:avLst/>
          </a:prstGeom>
          <a:noFill/>
          <a:ln/>
        </p:spPr>
        <p:txBody>
          <a:bodyPr wrap="square" rtlCol="0" anchor="ctr"/>
          <a:lstStyle/>
          <a:p>
            <a:pPr indent="0" marL="0">
              <a:buNone/>
            </a:pPr>
            <a:r>
              <a:rPr lang="en-US" sz="1100" i="1" dirty="0">
                <a:solidFill>
                  <a:srgbClr val="6B6B6F"/>
                </a:solidFill>
                <a:latin typeface="Roboto" pitchFamily="34" charset="0"/>
                <a:ea typeface="Roboto" pitchFamily="34" charset="-122"/>
                <a:cs typeface="Roboto" pitchFamily="34" charset="-120"/>
              </a:rPr>
              <a:t>Footnote numbers in slide text correspond to entries below.</a:t>
            </a:r>
            <a:endParaRPr lang="en-US" sz="1100" dirty="0"/>
          </a:p>
        </p:txBody>
      </p:sp>
      <p:sp>
        <p:nvSpPr>
          <p:cNvPr id="6" name="Text 4"/>
          <p:cNvSpPr/>
          <p:nvPr/>
        </p:nvSpPr>
        <p:spPr>
          <a:xfrm>
            <a:off x="548640" y="2606040"/>
            <a:ext cx="5486400" cy="3657600"/>
          </a:xfrm>
          <a:prstGeom prst="rect">
            <a:avLst/>
          </a:prstGeom>
          <a:noFill/>
          <a:ln/>
        </p:spPr>
        <p:txBody>
          <a:bodyPr wrap="square" rtlCol="0" anchor="ctr"/>
          <a:lstStyle/>
          <a:p>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[1]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Harris, L.T. &amp; Fiske, S.T. (2006). Dehumanizing the Lowest of the Low. Psychological Science, 17(10).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https://doi.org/10.1111/j.1467-9280.2006.01793.x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[2]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McGaugh, J.L. (2000). Memory: A Century of Consolidation. Science, 287.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https://doi.org/10.1126/science.287.5451.248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[3]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Klimecki et al. (2014). Differential plasticity after compassion vs empathy training. SCAN, 9(6).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https://doi.org/10.1093/scan/nst060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[4]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Mezirow, J. (1991). Transformative Dimensions of Adult Learning.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https://www.wiley.com/en-us/Transformative+Dimensions+of+Adult+Learning-p-9780470857953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[5]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Penner et al. (2005). Prosocial Behavior: Multilevel Perspectives. Annual Review of Psychology, 56.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https://doi.org/10.1146/annurev.psych.56.091103.070141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[6]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Tajfel &amp; Turner (1979). An Integrative Theory of Intergroup Conflict.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https://doi.org/10.1016/S0065-2601(05)37005-5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[8]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Haslam, S.A. (2004). Psychology in Organizations: The Social Identity Approach.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https://doi.org/10.4135/9781446278819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[9]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Kolb, D.A. (1984). Experiential Learning.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https://www.pearson.com/en-us/subject-catalog/p/experiential-learning-experience-as-the-source-of-learning-and-development/P200000003115
</a:t>
            </a:r>
            <a:endParaRPr lang="en-US" sz="900" dirty="0"/>
          </a:p>
        </p:txBody>
      </p:sp>
      <p:sp>
        <p:nvSpPr>
          <p:cNvPr id="7" name="Text 5"/>
          <p:cNvSpPr/>
          <p:nvPr/>
        </p:nvSpPr>
        <p:spPr>
          <a:xfrm>
            <a:off x="6309360" y="2606040"/>
            <a:ext cx="5486400" cy="3657600"/>
          </a:xfrm>
          <a:prstGeom prst="rect">
            <a:avLst/>
          </a:prstGeom>
          <a:noFill/>
          <a:ln/>
        </p:spPr>
        <p:txBody>
          <a:bodyPr wrap="square" rtlCol="0" anchor="ctr"/>
          <a:lstStyle/>
          <a:p>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[10]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Grant, A.M. (2008). The Significance of Task Significance. Journal of Applied Psychology, 93(1).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https://doi.org/10.1037/0021-9010.93.1.108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[11]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Mitchell, T.D. (2008). Traditional vs. Critical Service-Learning. MJCSL, 14(2).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https://quod.lib.umich.edu/m/mjcsl/3239521.0014.205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[12]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Pettigrew &amp; Tropp (2006). Meta-Analytic Test of Intergroup Contact Theory. JPSP, 90(5).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https://doi.org/10.1037/0022-3514.90.5.751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[13]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Aquino &amp; Reed (2002). The Self-Importance of Moral Identity. JPSP, 83(6).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https://doi.org/10.1037/0022-3514.83.6.1423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[14]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Rodell, J.B. (2013). Finding Meaning through Volunteering. AMJ, 56(5).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https://doi.org/10.5465/amj.2012.0611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[17]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Lally, P., et al. (2010). How Are Habits Formed. EJSP, 40(6).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https://doi.org/10.1002/ejsp.674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[18]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Cepeda, N.J., et al. (2006). Distributed Practice in Verbal Recall Tasks. Psychological Bulletin, 132(3).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https://doi.org/10.1037/0033-2909.132.3.354
</a:t>
            </a:r>
            <a:pPr indent="0" marL="0">
              <a:lnSpc>
                <a:spcPct val="130000"/>
              </a:lnSpc>
              <a:buNone/>
            </a:pPr>
            <a:r>
              <a:rPr lang="en-US" sz="900" b="1" dirty="0">
                <a:solidFill>
                  <a:srgbClr val="EC5C2A"/>
                </a:solidFill>
                <a:latin typeface="Roboto Condensed" pitchFamily="34" charset="0"/>
                <a:ea typeface="Roboto Condensed" pitchFamily="34" charset="-122"/>
                <a:cs typeface="Roboto Condensed" pitchFamily="34" charset="-120"/>
              </a:rPr>
              <a:t>[19] </a:t>
            </a:r>
            <a:pPr indent="0" marL="0">
              <a:lnSpc>
                <a:spcPct val="130000"/>
              </a:lnSpc>
              <a:buNone/>
            </a:pPr>
            <a:r>
              <a:rPr lang="en-US" sz="900" dirty="0">
                <a:solidFill>
                  <a:srgbClr val="404040"/>
                </a:solidFill>
                <a:latin typeface="Roboto Condensed" pitchFamily="34" charset="0"/>
                <a:ea typeface="Roboto Condensed" pitchFamily="34" charset="-122"/>
                <a:cs typeface="Roboto Condensed" pitchFamily="34" charset="-120"/>
              </a:rPr>
              <a:t>Centola, D., et al. (2018). Tipping Points in Social Convention. Science, 360.
</a:t>
            </a:r>
            <a:pPr indent="0" marL="0">
              <a:lnSpc>
                <a:spcPct val="130000"/>
              </a:lnSpc>
              <a:buNone/>
            </a:pPr>
            <a:r>
              <a:rPr lang="en-US" sz="900" u="sng" dirty="0">
                <a:solidFill>
                  <a:srgbClr val="4491A9"/>
                </a:solidFill>
                <a:latin typeface="Roboto Condensed" pitchFamily="34" charset="0"/>
                <a:ea typeface="Roboto Condensed" pitchFamily="34" charset="-122"/>
                <a:cs typeface="Roboto Condensed"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https://doi.org/10.1126/science.aas8827
</a:t>
            </a:r>
            <a:endParaRPr lang="en-US" sz="900" dirty="0"/>
          </a:p>
        </p:txBody>
      </p:sp>
      <p:sp>
        <p:nvSpPr>
          <p:cNvPr id="8" name="Shape 6"/>
          <p:cNvSpPr/>
          <p:nvPr/>
        </p:nvSpPr>
        <p:spPr>
          <a:xfrm>
            <a:off x="548640" y="6355080"/>
            <a:ext cx="11094415" cy="0"/>
          </a:xfrm>
          <a:prstGeom prst="line">
            <a:avLst/>
          </a:prstGeom>
          <a:noFill/>
          <a:ln w="6350">
            <a:solidFill>
              <a:srgbClr val="C2C2C6"/>
            </a:solidFill>
            <a:prstDash val="solid"/>
          </a:ln>
        </p:spPr>
      </p:sp>
      <p:sp>
        <p:nvSpPr>
          <p:cNvPr id="9" name="Text 7"/>
          <p:cNvSpPr/>
          <p:nvPr/>
        </p:nvSpPr>
        <p:spPr>
          <a:xfrm>
            <a:off x="548640" y="6446520"/>
            <a:ext cx="7315200" cy="274320"/>
          </a:xfrm>
          <a:prstGeom prst="rect">
            <a:avLst/>
          </a:prstGeom>
          <a:noFill/>
          <a:ln/>
        </p:spPr>
        <p:txBody>
          <a:bodyPr wrap="square" rtlCol="0" anchor="ctr"/>
          <a:lstStyle/>
          <a:p>
            <a:pPr indent="0" marL="0">
              <a:buNone/>
            </a:pPr>
            <a:r>
              <a:rPr lang="en-US" sz="900" spc="200" kern="0" dirty="0">
                <a:solidFill>
                  <a:srgbClr val="6B6B6F"/>
                </a:solidFill>
                <a:latin typeface="Roboto Condensed" pitchFamily="34" charset="0"/>
                <a:ea typeface="Roboto Condensed" pitchFamily="34" charset="-122"/>
                <a:cs typeface="Roboto Condensed" pitchFamily="34" charset="-120"/>
              </a:rPr>
              <a:t>RW Institute · Regional Campus Series</a:t>
            </a:r>
            <a:endParaRPr lang="en-US" sz="900" dirty="0"/>
          </a:p>
        </p:txBody>
      </p:sp>
      <p:sp>
        <p:nvSpPr>
          <p:cNvPr id="10" name="Text 8"/>
          <p:cNvSpPr/>
          <p:nvPr/>
        </p:nvSpPr>
        <p:spPr>
          <a:xfrm>
            <a:off x="11277295" y="6446520"/>
            <a:ext cx="365760" cy="274320"/>
          </a:xfrm>
          <a:prstGeom prst="rect">
            <a:avLst/>
          </a:prstGeom>
          <a:noFill/>
          <a:ln/>
        </p:spPr>
        <p:txBody>
          <a:bodyPr wrap="square" rtlCol="0" anchor="ctr"/>
          <a:lstStyle/>
          <a:p>
            <a:pPr algn="r" indent="0" marL="0">
              <a:buNone/>
            </a:pPr>
            <a:r>
              <a:rPr lang="en-US" sz="900" dirty="0">
                <a:solidFill>
                  <a:srgbClr val="6B6B6F"/>
                </a:solidFill>
                <a:latin typeface="Roboto Condensed" pitchFamily="34" charset="0"/>
                <a:ea typeface="Roboto Condensed" pitchFamily="34" charset="-122"/>
                <a:cs typeface="Roboto Condensed" pitchFamily="34" charset="-120"/>
              </a:rPr>
              <a:t>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RW Institute · Business Case · Microsoft</dc:title>
  <dc:subject>PptxGenJS Presentation</dc:subject>
  <dc:creator>RW Institute</dc:creator>
  <cp:lastModifiedBy>RW Institute</cp:lastModifiedBy>
  <cp:revision>1</cp:revision>
  <dcterms:created xsi:type="dcterms:W3CDTF">2026-05-06T15:53:36Z</dcterms:created>
  <dcterms:modified xsi:type="dcterms:W3CDTF">2026-05-06T15:53:36Z</dcterms:modified>
</cp:coreProperties>
</file>