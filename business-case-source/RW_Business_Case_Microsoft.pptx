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20"/>
    <p:sldId id="270" r:id="rId21"/>
    <p:sldId id="271" r:id="rId22"/>
    <p:sldId id="272" r:id="rId23"/>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doi.org/10.1111/j.1467-9280.2006.01793.x" TargetMode="External"/><Relationship Id="rId2" Type="http://schemas.openxmlformats.org/officeDocument/2006/relationships/hyperlink" Target="https://doi.org/10.1126/science.287.5451.248" TargetMode="External"/><Relationship Id="rId3" Type="http://schemas.openxmlformats.org/officeDocument/2006/relationships/hyperlink" Target="https://doi.org/10.1093/scan/nst060" TargetMode="External"/><Relationship Id="rId4" Type="http://schemas.openxmlformats.org/officeDocument/2006/relationships/hyperlink" Target="https://www.wiley.com/en-us/Transformative+Dimensions+of+Adult+Learning-p-9780470857953" TargetMode="External"/><Relationship Id="rId5" Type="http://schemas.openxmlformats.org/officeDocument/2006/relationships/hyperlink" Target="https://doi.org/10.1146/annurev.psych.56.091103.070141" TargetMode="External"/><Relationship Id="rId6" Type="http://schemas.openxmlformats.org/officeDocument/2006/relationships/hyperlink" Target="https://doi.org/10.1016/S0065-2601(05)37005-5" TargetMode="External"/><Relationship Id="rId7" Type="http://schemas.openxmlformats.org/officeDocument/2006/relationships/hyperlink" Target="https://doi.org/10.4135/9781446278819" TargetMode="External"/><Relationship Id="rId8" Type="http://schemas.openxmlformats.org/officeDocument/2006/relationships/hyperlink" Target="https://www.pearson.com/en-us/subject-catalog/p/experiential-learning-experience-as-the-source-of-learning-and-development/P200000003115" TargetMode="External"/><Relationship Id="rId9" Type="http://schemas.openxmlformats.org/officeDocument/2006/relationships/hyperlink" Target="https://doi.org/10.1037/0021-9010.93.1.108" TargetMode="External"/><Relationship Id="rId10" Type="http://schemas.openxmlformats.org/officeDocument/2006/relationships/hyperlink" Target="https://quod.lib.umich.edu/m/mjcsl/3239521.0014.205" TargetMode="External"/><Relationship Id="rId11" Type="http://schemas.openxmlformats.org/officeDocument/2006/relationships/hyperlink" Target="https://doi.org/10.1037/0022-3514.90.5.751" TargetMode="External"/><Relationship Id="rId12" Type="http://schemas.openxmlformats.org/officeDocument/2006/relationships/hyperlink" Target="https://doi.org/10.1037/0022-3514.83.6.1423" TargetMode="External"/><Relationship Id="rId13" Type="http://schemas.openxmlformats.org/officeDocument/2006/relationships/hyperlink" Target="https://doi.org/10.5465/amj.2012.0611" TargetMode="External"/><Relationship Id="rId14" Type="http://schemas.openxmlformats.org/officeDocument/2006/relationships/hyperlink" Target="https://doi.org/10.1002/ejsp.674" TargetMode="External"/><Relationship Id="rId15" Type="http://schemas.openxmlformats.org/officeDocument/2006/relationships/hyperlink" Target="https://doi.org/10.1037/0033-2909.132.3.354" TargetMode="External"/><Relationship Id="rId16" Type="http://schemas.openxmlformats.org/officeDocument/2006/relationships/hyperlink" Target="https://doi.org/10.1126/science.aas8827" TargetMode="External"/><Relationship Id="rId17" Type="http://schemas.openxmlformats.org/officeDocument/2006/relationships/slideLayout" Target="../slideLayouts/slideLayout1.xml"/><Relationship Id="rId1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doi.org/10.1111/j.1467-9280.2006.01793.x" TargetMode="External"/><Relationship Id="rId2" Type="http://schemas.openxmlformats.org/officeDocument/2006/relationships/hyperlink" Target="https://doi.org/10.1126/science.287.5451.248" TargetMode="External"/><Relationship Id="rId3" Type="http://schemas.openxmlformats.org/officeDocument/2006/relationships/hyperlink" Target="https://doi.org/10.1093/scan/nst060" TargetMode="External"/><Relationship Id="rId4" Type="http://schemas.openxmlformats.org/officeDocument/2006/relationships/hyperlink" Target="https://www.wiley.com/en-us/Transformative+Dimensions+of+Adult+Learning-p-9780470857953" TargetMode="External"/><Relationship Id="rId5" Type="http://schemas.openxmlformats.org/officeDocument/2006/relationships/hyperlink" Target="https://doi.org/10.1146/annurev.psych.56.091103.070141" TargetMode="External"/><Relationship Id="rId6" Type="http://schemas.openxmlformats.org/officeDocument/2006/relationships/hyperlink" Target="https://doi.org/10.1016/S0065-2601(05)37005-5" TargetMode="External"/><Relationship Id="rId7" Type="http://schemas.openxmlformats.org/officeDocument/2006/relationships/hyperlink" Target="https://doi.org/10.4135/9781446278819" TargetMode="External"/><Relationship Id="rId8" Type="http://schemas.openxmlformats.org/officeDocument/2006/relationships/hyperlink" Target="https://www.pearson.com/en-us/subject-catalog/p/experiential-learning-experience-as-the-source-of-learning-and-development/P200000003115" TargetMode="External"/><Relationship Id="rId9" Type="http://schemas.openxmlformats.org/officeDocument/2006/relationships/hyperlink" Target="https://doi.org/10.1037/0021-9010.93.1.108" TargetMode="External"/><Relationship Id="rId10" Type="http://schemas.openxmlformats.org/officeDocument/2006/relationships/hyperlink" Target="https://quod.lib.umich.edu/m/mjcsl/3239521.0014.205" TargetMode="External"/><Relationship Id="rId11" Type="http://schemas.openxmlformats.org/officeDocument/2006/relationships/hyperlink" Target="https://doi.org/10.1037/0022-3514.90.5.751" TargetMode="External"/><Relationship Id="rId12" Type="http://schemas.openxmlformats.org/officeDocument/2006/relationships/hyperlink" Target="https://doi.org/10.1037/0022-3514.83.6.1423" TargetMode="External"/><Relationship Id="rId13" Type="http://schemas.openxmlformats.org/officeDocument/2006/relationships/hyperlink" Target="https://doi.org/10.5465/amj.2012.0611" TargetMode="External"/><Relationship Id="rId14" Type="http://schemas.openxmlformats.org/officeDocument/2006/relationships/hyperlink" Target="https://doi.org/10.1002/ejsp.674" TargetMode="External"/><Relationship Id="rId15" Type="http://schemas.openxmlformats.org/officeDocument/2006/relationships/hyperlink" Target="https://doi.org/10.1037/0033-2909.132.3.354" TargetMode="External"/><Relationship Id="rId16" Type="http://schemas.openxmlformats.org/officeDocument/2006/relationships/hyperlink" Target="https://doi.org/10.1126/science.aas8827" TargetMode="External"/><Relationship Id="rId90"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hyperlink" Target="https://doi.org/10.1111/j.1467-9280.2006.01793.x" TargetMode="External"/><Relationship Id="rId2" Type="http://schemas.openxmlformats.org/officeDocument/2006/relationships/hyperlink" Target="https://doi.org/10.1126/science.287.5451.248" TargetMode="External"/><Relationship Id="rId3" Type="http://schemas.openxmlformats.org/officeDocument/2006/relationships/hyperlink" Target="https://doi.org/10.1093/scan/nst060" TargetMode="External"/><Relationship Id="rId4" Type="http://schemas.openxmlformats.org/officeDocument/2006/relationships/hyperlink" Target="https://www.wiley.com/en-us/Transformative+Dimensions+of+Adult+Learning-p-9780470857953" TargetMode="External"/><Relationship Id="rId5" Type="http://schemas.openxmlformats.org/officeDocument/2006/relationships/hyperlink" Target="https://doi.org/10.1146/annurev.psych.56.091103.070141" TargetMode="External"/><Relationship Id="rId6" Type="http://schemas.openxmlformats.org/officeDocument/2006/relationships/hyperlink" Target="https://doi.org/10.1016/S0065-2601(05)37005-5" TargetMode="External"/><Relationship Id="rId7" Type="http://schemas.openxmlformats.org/officeDocument/2006/relationships/hyperlink" Target="https://doi.org/10.4135/9781446278819" TargetMode="External"/><Relationship Id="rId8" Type="http://schemas.openxmlformats.org/officeDocument/2006/relationships/hyperlink" Target="https://www.pearson.com/en-us/subject-catalog/p/experiential-learning-experience-as-the-source-of-learning-and-development/P200000003115" TargetMode="External"/><Relationship Id="rId9" Type="http://schemas.openxmlformats.org/officeDocument/2006/relationships/hyperlink" Target="https://doi.org/10.1037/0021-9010.93.1.108" TargetMode="External"/><Relationship Id="rId10" Type="http://schemas.openxmlformats.org/officeDocument/2006/relationships/hyperlink" Target="https://quod.lib.umich.edu/m/mjcsl/3239521.0014.205" TargetMode="External"/><Relationship Id="rId11" Type="http://schemas.openxmlformats.org/officeDocument/2006/relationships/hyperlink" Target="https://doi.org/10.1037/0022-3514.90.5.751" TargetMode="External"/><Relationship Id="rId12" Type="http://schemas.openxmlformats.org/officeDocument/2006/relationships/hyperlink" Target="https://doi.org/10.1037/0022-3514.83.6.1423" TargetMode="External"/><Relationship Id="rId13" Type="http://schemas.openxmlformats.org/officeDocument/2006/relationships/hyperlink" Target="https://doi.org/10.5465/amj.2012.0611" TargetMode="External"/><Relationship Id="rId14" Type="http://schemas.openxmlformats.org/officeDocument/2006/relationships/hyperlink" Target="https://doi.org/10.1002/ejsp.674" TargetMode="External"/><Relationship Id="rId15" Type="http://schemas.openxmlformats.org/officeDocument/2006/relationships/hyperlink" Target="https://doi.org/10.1037/0033-2909.132.3.354" TargetMode="External"/><Relationship Id="rId16" Type="http://schemas.openxmlformats.org/officeDocument/2006/relationships/hyperlink" Target="https://doi.org/10.1126/science.aas8827" TargetMode="External"/><Relationship Id="rId90"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hyperlink" Target="https://doi.org/10.1111/j.1467-9280.2006.01793.x" TargetMode="External"/><Relationship Id="rId2" Type="http://schemas.openxmlformats.org/officeDocument/2006/relationships/hyperlink" Target="https://doi.org/10.1126/science.287.5451.248" TargetMode="External"/><Relationship Id="rId3" Type="http://schemas.openxmlformats.org/officeDocument/2006/relationships/hyperlink" Target="https://doi.org/10.1093/scan/nst060" TargetMode="External"/><Relationship Id="rId4" Type="http://schemas.openxmlformats.org/officeDocument/2006/relationships/hyperlink" Target="https://www.wiley.com/en-us/Transformative+Dimensions+of+Adult+Learning-p-9780470857953" TargetMode="External"/><Relationship Id="rId5" Type="http://schemas.openxmlformats.org/officeDocument/2006/relationships/hyperlink" Target="https://doi.org/10.1146/annurev.psych.56.091103.070141" TargetMode="External"/><Relationship Id="rId6" Type="http://schemas.openxmlformats.org/officeDocument/2006/relationships/hyperlink" Target="https://doi.org/10.1016/S0065-2601(05)37005-5" TargetMode="External"/><Relationship Id="rId7" Type="http://schemas.openxmlformats.org/officeDocument/2006/relationships/hyperlink" Target="https://doi.org/10.4135/9781446278819" TargetMode="External"/><Relationship Id="rId8" Type="http://schemas.openxmlformats.org/officeDocument/2006/relationships/hyperlink" Target="https://www.pearson.com/en-us/subject-catalog/p/experiential-learning-experience-as-the-source-of-learning-and-development/P200000003115" TargetMode="External"/><Relationship Id="rId9" Type="http://schemas.openxmlformats.org/officeDocument/2006/relationships/hyperlink" Target="https://doi.org/10.1037/0021-9010.93.1.108" TargetMode="External"/><Relationship Id="rId10" Type="http://schemas.openxmlformats.org/officeDocument/2006/relationships/hyperlink" Target="https://quod.lib.umich.edu/m/mjcsl/3239521.0014.205" TargetMode="External"/><Relationship Id="rId11" Type="http://schemas.openxmlformats.org/officeDocument/2006/relationships/hyperlink" Target="https://doi.org/10.1037/0022-3514.90.5.751" TargetMode="External"/><Relationship Id="rId12" Type="http://schemas.openxmlformats.org/officeDocument/2006/relationships/hyperlink" Target="https://doi.org/10.1037/0022-3514.83.6.1423" TargetMode="External"/><Relationship Id="rId13" Type="http://schemas.openxmlformats.org/officeDocument/2006/relationships/hyperlink" Target="https://doi.org/10.5465/amj.2012.0611" TargetMode="External"/><Relationship Id="rId14" Type="http://schemas.openxmlformats.org/officeDocument/2006/relationships/hyperlink" Target="https://doi.org/10.1002/ejsp.674" TargetMode="External"/><Relationship Id="rId15" Type="http://schemas.openxmlformats.org/officeDocument/2006/relationships/hyperlink" Target="https://doi.org/10.1037/0033-2909.132.3.354" TargetMode="External"/><Relationship Id="rId16" Type="http://schemas.openxmlformats.org/officeDocument/2006/relationships/hyperlink" Target="https://doi.org/10.1126/science.aas8827" TargetMode="External"/><Relationship Id="rId90"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hyperlink" Target="https://doi.org/10.1111/j.1467-9280.2006.01793.x" TargetMode="External"/><Relationship Id="rId2" Type="http://schemas.openxmlformats.org/officeDocument/2006/relationships/hyperlink" Target="https://doi.org/10.1126/science.287.5451.248" TargetMode="External"/><Relationship Id="rId3" Type="http://schemas.openxmlformats.org/officeDocument/2006/relationships/hyperlink" Target="https://doi.org/10.1093/scan/nst060" TargetMode="External"/><Relationship Id="rId4" Type="http://schemas.openxmlformats.org/officeDocument/2006/relationships/hyperlink" Target="https://www.wiley.com/en-us/Transformative+Dimensions+of+Adult+Learning-p-9780470857953" TargetMode="External"/><Relationship Id="rId5" Type="http://schemas.openxmlformats.org/officeDocument/2006/relationships/hyperlink" Target="https://doi.org/10.1146/annurev.psych.56.091103.070141" TargetMode="External"/><Relationship Id="rId6" Type="http://schemas.openxmlformats.org/officeDocument/2006/relationships/hyperlink" Target="https://doi.org/10.1016/S0065-2601(05)37005-5" TargetMode="External"/><Relationship Id="rId7" Type="http://schemas.openxmlformats.org/officeDocument/2006/relationships/hyperlink" Target="https://doi.org/10.4135/9781446278819" TargetMode="External"/><Relationship Id="rId8" Type="http://schemas.openxmlformats.org/officeDocument/2006/relationships/hyperlink" Target="https://www.pearson.com/en-us/subject-catalog/p/experiential-learning-experience-as-the-source-of-learning-and-development/P200000003115" TargetMode="External"/><Relationship Id="rId9" Type="http://schemas.openxmlformats.org/officeDocument/2006/relationships/hyperlink" Target="https://doi.org/10.1037/0021-9010.93.1.108" TargetMode="External"/><Relationship Id="rId10" Type="http://schemas.openxmlformats.org/officeDocument/2006/relationships/hyperlink" Target="https://quod.lib.umich.edu/m/mjcsl/3239521.0014.205" TargetMode="External"/><Relationship Id="rId11" Type="http://schemas.openxmlformats.org/officeDocument/2006/relationships/hyperlink" Target="https://doi.org/10.1037/0022-3514.90.5.751" TargetMode="External"/><Relationship Id="rId12" Type="http://schemas.openxmlformats.org/officeDocument/2006/relationships/hyperlink" Target="https://doi.org/10.1037/0022-3514.83.6.1423" TargetMode="External"/><Relationship Id="rId13" Type="http://schemas.openxmlformats.org/officeDocument/2006/relationships/hyperlink" Target="https://doi.org/10.5465/amj.2012.0611" TargetMode="External"/><Relationship Id="rId14" Type="http://schemas.openxmlformats.org/officeDocument/2006/relationships/hyperlink" Target="https://doi.org/10.1002/ejsp.674" TargetMode="External"/><Relationship Id="rId15" Type="http://schemas.openxmlformats.org/officeDocument/2006/relationships/hyperlink" Target="https://doi.org/10.1037/0033-2909.132.3.354" TargetMode="External"/><Relationship Id="rId16" Type="http://schemas.openxmlformats.org/officeDocument/2006/relationships/hyperlink" Target="https://doi.org/10.1126/science.aas8827" TargetMode="External"/><Relationship Id="rId90"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3454"/>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EC5C2A"/>
          </a:solidFill>
          <a:ln w="12700">
            <a:solidFill>
              <a:srgbClr val="EC5C2A"/>
            </a:solidFill>
            <a:prstDash val="solid"/>
          </a:ln>
        </p:spPr>
        <p:txBody>
          <a:bodyPr/>
          <a:p/>
        </p:txBody>
      </p:sp>
      <p:sp>
        <p:nvSpPr>
          <p:cNvPr id="3" name="Shape 1"/>
          <p:cNvSpPr/>
          <p:nvPr/>
        </p:nvSpPr>
        <p:spPr>
          <a:xfrm>
            <a:off x="8076895" y="-1371600"/>
            <a:ext cx="5486400" cy="5486400"/>
          </a:xfrm>
          <a:prstGeom prst="ellipse">
            <a:avLst/>
          </a:prstGeom>
          <a:solidFill>
            <a:srgbClr val="0A3454"/>
          </a:solidFill>
          <a:ln w="25400">
            <a:solidFill>
              <a:srgbClr val="B8D8DC"/>
            </a:solidFill>
            <a:prstDash val="solid"/>
          </a:ln>
        </p:spPr>
        <p:txBody>
          <a:bodyPr/>
          <a:p/>
        </p:txBody>
      </p:sp>
      <p:sp>
        <p:nvSpPr>
          <p:cNvPr id="4" name="Shape 2"/>
          <p:cNvSpPr/>
          <p:nvPr/>
        </p:nvSpPr>
        <p:spPr>
          <a:xfrm>
            <a:off x="8534095" y="-914400"/>
            <a:ext cx="4572000" cy="4572000"/>
          </a:xfrm>
          <a:prstGeom prst="ellipse">
            <a:avLst/>
          </a:prstGeom>
          <a:solidFill>
            <a:srgbClr val="0A3454"/>
          </a:solidFill>
          <a:ln w="12700">
            <a:solidFill>
              <a:srgbClr val="4491A9"/>
            </a:solidFill>
            <a:prstDash val="solid"/>
          </a:ln>
        </p:spPr>
        <p:txBody>
          <a:bodyPr/>
          <a:p/>
        </p:txBody>
      </p:sp>
      <p:sp>
        <p:nvSpPr>
          <p:cNvPr id="5" name="Text 3"/>
          <p:cNvSpPr/>
          <p:nvPr/>
        </p:nvSpPr>
        <p:spPr>
          <a:xfrm>
            <a:off x="822960" y="1280160"/>
            <a:ext cx="10972800" cy="457200"/>
          </a:xfrm>
          <a:prstGeom prst="rect">
            <a:avLst/>
          </a:prstGeom>
          <a:noFill/>
          <a:ln/>
        </p:spPr>
        <p:txBody>
          <a:bodyPr wrap="square" rtlCol="0" anchor="ctr"/>
          <a:lstStyle/>
          <a:p>
            <a:pPr indent="0" marL="0">
              <a:buNone/>
            </a:pPr>
            <a:r>
              <a:rPr lang="en-US" sz="1400" b="1" spc="800" kern="0" dirty="0">
                <a:solidFill>
                  <a:srgbClr val="EC5C2A"/>
                </a:solidFill>
                <a:latin typeface="Roboto" pitchFamily="34" charset="0"/>
                <a:ea typeface="Roboto" pitchFamily="34" charset="-122"/>
                <a:cs typeface="Roboto" pitchFamily="34" charset="-120"/>
              </a:rPr>
              <a:t>BUSINESS CASE</a:t>
            </a:r>
            <a:endParaRPr lang="en-US" sz="1400" dirty="0"/>
          </a:p>
        </p:txBody>
      </p:sp>
      <p:sp>
        <p:nvSpPr>
          <p:cNvPr id="6" name="Text 4"/>
          <p:cNvSpPr/>
          <p:nvPr/>
        </p:nvSpPr>
        <p:spPr>
          <a:xfrm>
            <a:off x="822960" y="1783080"/>
            <a:ext cx="10972800" cy="548640"/>
          </a:xfrm>
          <a:prstGeom prst="rect">
            <a:avLst/>
          </a:prstGeom>
          <a:noFill/>
          <a:ln/>
        </p:spPr>
        <p:txBody>
          <a:bodyPr wrap="square" rtlCol="0" anchor="ctr"/>
          <a:lstStyle/>
          <a:p>
            <a:pPr indent="0" marL="0">
              <a:buNone/>
            </a:pPr>
            <a:r>
              <a:rPr lang="en-US" sz="2200" dirty="0">
                <a:solidFill>
                  <a:srgbClr val="B8D8DC"/>
                </a:solidFill>
                <a:latin typeface="Roboto" pitchFamily="34" charset="0"/>
                <a:ea typeface="Roboto" pitchFamily="34" charset="-122"/>
                <a:cs typeface="Roboto" pitchFamily="34" charset="-120"/>
              </a:rPr>
              <a:t>Regional Campus Series</a:t>
            </a:r>
            <a:endParaRPr lang="en-US" sz="2200" dirty="0"/>
          </a:p>
        </p:txBody>
      </p:sp>
      <p:sp>
        <p:nvSpPr>
          <p:cNvPr id="7" name="Text 5"/>
          <p:cNvSpPr/>
          <p:nvPr/>
        </p:nvSpPr>
        <p:spPr>
          <a:xfrm>
            <a:off x="822960" y="2743200"/>
            <a:ext cx="10058400" cy="1463040"/>
          </a:xfrm>
          <a:prstGeom prst="rect">
            <a:avLst/>
          </a:prstGeom>
          <a:noFill/>
          <a:ln/>
        </p:spPr>
        <p:txBody>
          <a:bodyPr wrap="square" rtlCol="0" anchor="ctr"/>
          <a:lstStyle/>
          <a:p>
            <a:pPr indent="0" marL="0">
              <a:buNone/>
            </a:pPr>
            <a:r>
              <a:rPr lang="en-US" sz="5600" b="1" dirty="0">
                <a:solidFill>
                  <a:srgbClr val="FFFFFF"/>
                </a:solidFill>
                <a:latin typeface="Roboto" pitchFamily="34" charset="0"/>
                <a:ea typeface="Roboto" pitchFamily="34" charset="-122"/>
                <a:cs typeface="Roboto" pitchFamily="34" charset="-120"/>
              </a:rPr>
              <a:t>Microsoft</a:t>
            </a:r>
            <a:endParaRPr lang="en-US" sz="5600" dirty="0"/>
          </a:p>
        </p:txBody>
      </p:sp>
      <p:sp>
        <p:nvSpPr>
          <p:cNvPr id="8" name="Text 6"/>
          <p:cNvSpPr/>
          <p:nvPr/>
        </p:nvSpPr>
        <p:spPr>
          <a:xfrm>
            <a:off x="822960" y="4297680"/>
            <a:ext cx="10058400" cy="731520"/>
          </a:xfrm>
          <a:prstGeom prst="rect">
            <a:avLst/>
          </a:prstGeom>
          <a:noFill/>
          <a:ln/>
        </p:spPr>
        <p:txBody>
          <a:bodyPr wrap="square" rtlCol="0" anchor="ctr"/>
          <a:lstStyle/>
          <a:p>
            <a:pPr indent="0" marL="0">
              <a:buNone/>
            </a:pPr>
            <a:r>
              <a:rPr lang="en-US" sz="1800" i="1" dirty="0">
                <a:solidFill>
                  <a:srgbClr val="B8D8DC"/>
                </a:solidFill>
                <a:latin typeface="Roboto" pitchFamily="34" charset="0"/>
                <a:ea typeface="Roboto" pitchFamily="34" charset="-122"/>
                <a:cs typeface="Roboto" pitchFamily="34" charset="-120"/>
              </a:rPr>
              <a:t>A case for sending six employees to the Washington D.C. Regional Campus.</a:t>
            </a:r>
            <a:endParaRPr lang="en-US" sz="1800" dirty="0"/>
          </a:p>
        </p:txBody>
      </p:sp>
      <p:sp>
        <p:nvSpPr>
          <p:cNvPr id="9" name="Shape 7"/>
          <p:cNvSpPr/>
          <p:nvPr/>
        </p:nvSpPr>
        <p:spPr>
          <a:xfrm>
            <a:off x="822960" y="5212080"/>
            <a:ext cx="914400" cy="0"/>
          </a:xfrm>
          <a:prstGeom prst="line">
            <a:avLst/>
          </a:prstGeom>
          <a:noFill/>
          <a:ln w="38100">
            <a:solidFill>
              <a:srgbClr val="EC5C2A"/>
            </a:solidFill>
            <a:prstDash val="solid"/>
          </a:ln>
        </p:spPr>
      </p:sp>
      <p:sp>
        <p:nvSpPr>
          <p:cNvPr id="10" name="Text 8"/>
          <p:cNvSpPr/>
          <p:nvPr/>
        </p:nvSpPr>
        <p:spPr>
          <a:xfrm>
            <a:off x="822960" y="5394960"/>
            <a:ext cx="10972800" cy="1371600"/>
          </a:xfrm>
          <a:prstGeom prst="rect">
            <a:avLst/>
          </a:prstGeom>
          <a:noFill/>
          <a:ln/>
        </p:spPr>
        <p:txBody>
          <a:bodyPr wrap="square" rtlCol="0" anchor="ctr"/>
          <a:lstStyle/>
          <a:p>
            <a:pPr indent="0" marL="0">
              <a:buNone/>
            </a:pPr>
            <a:r>
              <a:rPr lang="en-US" sz="1400" dirty="0">
                <a:solidFill>
                  <a:srgbClr val="B8D8DC"/>
                </a:solidFill>
                <a:latin typeface="Roboto" pitchFamily="34" charset="0"/>
                <a:ea typeface="Roboto" pitchFamily="34" charset="-122"/>
                <a:cs typeface="Roboto" pitchFamily="34" charset="-120"/>
              </a:rPr>
              <a:t>Prepared by </a:t>
            </a:r>
            <a:pPr indent="0" marL="0">
              <a:buNone/>
            </a:pPr>
            <a:r>
              <a:rPr lang="en-US" sz="1400" b="1" dirty="0">
                <a:solidFill>
                  <a:srgbClr val="FFFFFF"/>
                </a:solidFill>
                <a:latin typeface="Roboto" pitchFamily="34" charset="0"/>
                <a:ea typeface="Roboto" pitchFamily="34" charset="-122"/>
                <a:cs typeface="Roboto" pitchFamily="34" charset="-120"/>
              </a:rPr>
              <a:t>John Gates, manager
</a:t>
            </a:r>
            <a:pPr indent="0" marL="0">
              <a:buNone/>
            </a:pPr>
            <a:r>
              <a:rPr lang="en-US" sz="1400" dirty="0">
                <a:solidFill>
                  <a:srgbClr val="B8D8DC"/>
                </a:solidFill>
                <a:latin typeface="Roboto" pitchFamily="34" charset="0"/>
                <a:ea typeface="Roboto" pitchFamily="34" charset="-122"/>
                <a:cs typeface="Roboto" pitchFamily="34" charset="-120"/>
              </a:rPr>
              <a:t>For </a:t>
            </a:r>
            <a:pPr indent="0" marL="0">
              <a:buNone/>
            </a:pPr>
            <a:r>
              <a:rPr lang="en-US" sz="1400" b="1" dirty="0">
                <a:solidFill>
                  <a:srgbClr val="FFFFFF"/>
                </a:solidFill>
                <a:latin typeface="Roboto" pitchFamily="34" charset="0"/>
                <a:ea typeface="Roboto" pitchFamily="34" charset="-122"/>
                <a:cs typeface="Roboto" pitchFamily="34" charset="-120"/>
              </a:rPr>
              <a:t>DEI Leadership · Bill Gates
</a:t>
            </a:r>
            <a:pPr indent="0" marL="0">
              <a:buNone/>
            </a:pPr>
            <a:r>
              <a:rPr lang="en-US" sz="1400" dirty="0">
                <a:solidFill>
                  <a:srgbClr val="B8D8DC"/>
                </a:solidFill>
                <a:latin typeface="Roboto" pitchFamily="34" charset="0"/>
                <a:ea typeface="Roboto" pitchFamily="34" charset="-122"/>
                <a:cs typeface="Roboto" pitchFamily="34" charset="-120"/>
              </a:rPr>
              <a:t>Washington DC · September 2026  ·  6–12 seats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WHERE MICROSOFT IS NOW</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Where Microsoft is now</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94560"/>
            <a:ext cx="7680960" cy="3840480"/>
          </a:xfrm>
          <a:prstGeom prst="rect">
            <a:avLst/>
          </a:prstGeom>
          <a:noFill/>
          <a:ln/>
        </p:spPr>
        <p:txBody>
          <a:bodyPr wrap="square" rtlCol="0" anchor="ctr"/>
          <a:lstStyle/>
          <a:p>
            <a:pPr indent="0" marL="0">
              <a:lnSpc>
                <a:spcPct val="150000"/>
              </a:lnSpc>
              <a:buNone/>
            </a:pPr>
            <a:r>
              <a:rPr lang="en-US" sz="1500" dirty="0">
                <a:solidFill>
                  <a:srgbClr val="404040"/>
                </a:solidFill>
                <a:latin typeface="Roboto" pitchFamily="34" charset="0"/>
                <a:ea typeface="Roboto" pitchFamily="34" charset="-122"/>
                <a:cs typeface="Roboto" pitchFamily="34" charset="-120"/>
              </a:rPr>
              <a:t>Microsoft has 40 years of community commitment and over 700,000 volunteer hours reported in 2022. The logistical structure for participation is in place at global scale. The framework around it is not consistently producing deeper impact. Manager support is uneven, key nonprofit partners feel under-served, and we cannot connect this activity back to retention or to the ROI leadership expects.</a:t>
            </a:r>
            <a:endParaRPr lang="en-US" sz="1500" dirty="0"/>
          </a:p>
        </p:txBody>
      </p:sp>
      <p:sp>
        <p:nvSpPr>
          <p:cNvPr id="6" name="Shape 4"/>
          <p:cNvSpPr/>
          <p:nvPr/>
        </p:nvSpPr>
        <p:spPr>
          <a:xfrm>
            <a:off x="8595360" y="2194560"/>
            <a:ext cx="3108960" cy="3840480"/>
          </a:xfrm>
          <a:prstGeom prst="rect">
            <a:avLst/>
          </a:prstGeom>
          <a:solidFill>
            <a:srgbClr val="B8D8DC"/>
          </a:solidFill>
          <a:ln w="12700">
            <a:solidFill>
              <a:srgbClr val="B8D8DC"/>
            </a:solidFill>
            <a:prstDash val="solid"/>
          </a:ln>
        </p:spPr>
        <p:txBody>
          <a:bodyPr/>
          <a:p/>
        </p:txBody>
      </p:sp>
      <p:sp>
        <p:nvSpPr>
          <p:cNvPr id="7" name="Shape 5"/>
          <p:cNvSpPr/>
          <p:nvPr/>
        </p:nvSpPr>
        <p:spPr>
          <a:xfrm>
            <a:off x="8595360" y="2194560"/>
            <a:ext cx="91440" cy="3840480"/>
          </a:xfrm>
          <a:prstGeom prst="rect">
            <a:avLst/>
          </a:prstGeom>
          <a:solidFill>
            <a:srgbClr val="EC5C2A"/>
          </a:solidFill>
          <a:ln w="12700">
            <a:solidFill>
              <a:srgbClr val="EC5C2A"/>
            </a:solidFill>
            <a:prstDash val="solid"/>
          </a:ln>
        </p:spPr>
        <p:txBody>
          <a:bodyPr/>
          <a:p/>
        </p:txBody>
      </p:sp>
      <p:sp>
        <p:nvSpPr>
          <p:cNvPr id="8" name="Text 6"/>
          <p:cNvSpPr/>
          <p:nvPr/>
        </p:nvSpPr>
        <p:spPr>
          <a:xfrm>
            <a:off x="8778240" y="2377440"/>
            <a:ext cx="2743200" cy="274320"/>
          </a:xfrm>
          <a:prstGeom prst="rect">
            <a:avLst/>
          </a:prstGeom>
          <a:noFill/>
          <a:ln/>
        </p:spPr>
        <p:txBody>
          <a:bodyPr wrap="square" rtlCol="0" anchor="ctr"/>
          <a:lstStyle/>
          <a:p>
            <a:pPr indent="0" marL="0">
              <a:buNone/>
            </a:pPr>
            <a:r>
              <a:rPr lang="en-US" sz="900" b="1" spc="400" kern="0" dirty="0">
                <a:solidFill>
                  <a:srgbClr val="0A3454"/>
                </a:solidFill>
                <a:latin typeface="Roboto Condensed" pitchFamily="34" charset="0"/>
                <a:ea typeface="Roboto Condensed" pitchFamily="34" charset="-122"/>
                <a:cs typeface="Roboto Condensed" pitchFamily="34" charset="-120"/>
              </a:rPr>
              <a:t>THE READ</a:t>
            </a:r>
            <a:endParaRPr lang="en-US" sz="900" dirty="0"/>
          </a:p>
        </p:txBody>
      </p:sp>
      <p:sp>
        <p:nvSpPr>
          <p:cNvPr id="9" name="Text 7"/>
          <p:cNvSpPr/>
          <p:nvPr/>
        </p:nvSpPr>
        <p:spPr>
          <a:xfrm>
            <a:off x="8778240" y="2743200"/>
            <a:ext cx="2743200" cy="3108960"/>
          </a:xfrm>
          <a:prstGeom prst="rect">
            <a:avLst/>
          </a:prstGeom>
          <a:noFill/>
          <a:ln/>
        </p:spPr>
        <p:txBody>
          <a:bodyPr wrap="square" rtlCol="0" anchor="ctr"/>
          <a:lstStyle/>
          <a:p>
            <a:pPr indent="0" marL="0">
              <a:lnSpc>
                <a:spcPct val="130000"/>
              </a:lnSpc>
              <a:buNone/>
            </a:pPr>
            <a:r>
              <a:rPr lang="en-US" sz="1600" i="1" dirty="0">
                <a:solidFill>
                  <a:srgbClr val="0A3454"/>
                </a:solidFill>
                <a:latin typeface="Roboto" pitchFamily="34" charset="0"/>
                <a:ea typeface="Roboto" pitchFamily="34" charset="-122"/>
                <a:cs typeface="Roboto" pitchFamily="34" charset="-120"/>
              </a:rPr>
              <a:t>We have scale in participation. We do not have evidence that it is changing our people, our partners, or the business.</a:t>
            </a:r>
            <a:endParaRPr lang="en-US" sz="1600" dirty="0"/>
          </a:p>
        </p:txBody>
      </p:sp>
      <p:sp>
        <p:nvSpPr>
          <p:cNvPr id="10" name="Shape 8"/>
          <p:cNvSpPr/>
          <p:nvPr/>
        </p:nvSpPr>
        <p:spPr>
          <a:xfrm>
            <a:off x="548640" y="6355080"/>
            <a:ext cx="11094415" cy="0"/>
          </a:xfrm>
          <a:prstGeom prst="line">
            <a:avLst/>
          </a:prstGeom>
          <a:noFill/>
          <a:ln w="6350">
            <a:solidFill>
              <a:srgbClr val="C2C2C6"/>
            </a:solidFill>
            <a:prstDash val="solid"/>
          </a:ln>
        </p:spPr>
        <p:txBody>
          <a:bodyPr/>
          <a:p/>
        </p:txBody>
      </p:sp>
      <p:sp>
        <p:nvSpPr>
          <p:cNvPr id="11" name="Text 9"/>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2" name="Text 10"/>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8"/>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THE STRUCTURAL GAP</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Why most volunteer programs produce activity, not change</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Shape 3"/>
          <p:cNvSpPr/>
          <p:nvPr/>
        </p:nvSpPr>
        <p:spPr>
          <a:xfrm>
            <a:off x="548640" y="2194560"/>
            <a:ext cx="1828800" cy="731520"/>
          </a:xfrm>
          <a:prstGeom prst="roundRect">
            <a:avLst>
              <a:gd name="adj" fmla="val 12500"/>
            </a:avLst>
          </a:prstGeom>
          <a:solidFill>
            <a:srgbClr val="0A3454"/>
          </a:solidFill>
          <a:ln w="12700">
            <a:solidFill>
              <a:srgbClr val="0A3454"/>
            </a:solidFill>
            <a:prstDash val="solid"/>
          </a:ln>
        </p:spPr>
        <p:txBody>
          <a:bodyPr/>
          <a:p/>
        </p:txBody>
      </p:sp>
      <p:sp>
        <p:nvSpPr>
          <p:cNvPr id="6" name="Text 4"/>
          <p:cNvSpPr/>
          <p:nvPr/>
        </p:nvSpPr>
        <p:spPr>
          <a:xfrm>
            <a:off x="548640" y="2194560"/>
            <a:ext cx="1828800" cy="731520"/>
          </a:xfrm>
          <a:prstGeom prst="rect">
            <a:avLst/>
          </a:prstGeom>
          <a:noFill/>
          <a:ln/>
        </p:spPr>
        <p:txBody>
          <a:bodyPr wrap="square" rtlCol="0" anchor="ctr"/>
          <a:lstStyle/>
          <a:p>
            <a:pPr algn="ctr" indent="0" marL="0">
              <a:buNone/>
            </a:pPr>
            <a:r>
              <a:rPr lang="en-US" sz="1200" b="1" spc="200" kern="0" dirty="0">
                <a:solidFill>
                  <a:srgbClr val="FFFFFF"/>
                </a:solidFill>
                <a:latin typeface="Roboto" pitchFamily="34" charset="0"/>
                <a:ea typeface="Roboto" pitchFamily="34" charset="-122"/>
                <a:cs typeface="Roboto" pitchFamily="34" charset="-120"/>
              </a:rPr>
              <a:t>RECRUIT</a:t>
            </a:r>
            <a:endParaRPr lang="en-US" sz="1200" dirty="0"/>
          </a:p>
        </p:txBody>
      </p:sp>
      <p:sp>
        <p:nvSpPr>
          <p:cNvPr id="7" name="Shape 5"/>
          <p:cNvSpPr/>
          <p:nvPr/>
        </p:nvSpPr>
        <p:spPr>
          <a:xfrm>
            <a:off x="2377440" y="2560320"/>
            <a:ext cx="274320" cy="0"/>
          </a:xfrm>
          <a:prstGeom prst="line">
            <a:avLst/>
          </a:prstGeom>
          <a:noFill/>
          <a:ln w="12700">
            <a:solidFill>
              <a:srgbClr val="6B6B6F"/>
            </a:solidFill>
            <a:prstDash val="solid"/>
          </a:ln>
        </p:spPr>
        <p:txBody>
          <a:bodyPr/>
          <a:p/>
        </p:txBody>
      </p:sp>
      <p:sp>
        <p:nvSpPr>
          <p:cNvPr id="8" name="Shape 6"/>
          <p:cNvSpPr/>
          <p:nvPr/>
        </p:nvSpPr>
        <p:spPr>
          <a:xfrm>
            <a:off x="2651760" y="2194560"/>
            <a:ext cx="1828800" cy="731520"/>
          </a:xfrm>
          <a:prstGeom prst="roundRect">
            <a:avLst>
              <a:gd name="adj" fmla="val 12500"/>
            </a:avLst>
          </a:prstGeom>
          <a:solidFill>
            <a:srgbClr val="FFFFFF"/>
          </a:solidFill>
          <a:ln w="25400">
            <a:solidFill>
              <a:srgbClr val="981C20"/>
            </a:solidFill>
            <a:prstDash val="dash"/>
          </a:ln>
        </p:spPr>
        <p:txBody>
          <a:bodyPr/>
          <a:p/>
        </p:txBody>
      </p:sp>
      <p:sp>
        <p:nvSpPr>
          <p:cNvPr id="9" name="Text 7"/>
          <p:cNvSpPr/>
          <p:nvPr/>
        </p:nvSpPr>
        <p:spPr>
          <a:xfrm>
            <a:off x="2651760" y="2194560"/>
            <a:ext cx="1828800" cy="731520"/>
          </a:xfrm>
          <a:prstGeom prst="rect">
            <a:avLst/>
          </a:prstGeom>
          <a:noFill/>
          <a:ln/>
        </p:spPr>
        <p:txBody>
          <a:bodyPr wrap="square" rtlCol="0" anchor="ctr"/>
          <a:lstStyle/>
          <a:p>
            <a:pPr algn="ctr" indent="0" marL="0">
              <a:buNone/>
            </a:pPr>
            <a:r>
              <a:rPr lang="en-US" sz="1200" b="1" spc="200" kern="0" dirty="0">
                <a:solidFill>
                  <a:srgbClr val="981C20"/>
                </a:solidFill>
                <a:latin typeface="Roboto" pitchFamily="34" charset="0"/>
                <a:ea typeface="Roboto" pitchFamily="34" charset="-122"/>
                <a:cs typeface="Roboto" pitchFamily="34" charset="-120"/>
              </a:rPr>
              <a:t>BRIEF</a:t>
            </a:r>
            <a:endParaRPr lang="en-US" sz="1200" dirty="0"/>
          </a:p>
        </p:txBody>
      </p:sp>
      <p:sp>
        <p:nvSpPr>
          <p:cNvPr id="10" name="Text 8"/>
          <p:cNvSpPr/>
          <p:nvPr/>
        </p:nvSpPr>
        <p:spPr>
          <a:xfrm>
            <a:off x="2651760" y="2971800"/>
            <a:ext cx="1828800" cy="274320"/>
          </a:xfrm>
          <a:prstGeom prst="rect">
            <a:avLst/>
          </a:prstGeom>
          <a:noFill/>
          <a:ln/>
        </p:spPr>
        <p:txBody>
          <a:bodyPr wrap="square" rtlCol="0" anchor="ctr"/>
          <a:lstStyle/>
          <a:p>
            <a:pPr algn="ctr" indent="0" marL="0">
              <a:buNone/>
            </a:pPr>
            <a:r>
              <a:rPr lang="en-US" sz="900" b="1" spc="300" kern="0" dirty="0">
                <a:solidFill>
                  <a:srgbClr val="981C20"/>
                </a:solidFill>
                <a:latin typeface="Roboto Condensed" pitchFamily="34" charset="0"/>
                <a:ea typeface="Roboto Condensed" pitchFamily="34" charset="-122"/>
                <a:cs typeface="Roboto Condensed" pitchFamily="34" charset="-120"/>
              </a:rPr>
              <a:t>MISSING</a:t>
            </a:r>
            <a:endParaRPr lang="en-US" sz="900" dirty="0"/>
          </a:p>
        </p:txBody>
      </p:sp>
      <p:sp>
        <p:nvSpPr>
          <p:cNvPr id="11" name="Shape 9"/>
          <p:cNvSpPr/>
          <p:nvPr/>
        </p:nvSpPr>
        <p:spPr>
          <a:xfrm>
            <a:off x="4480560" y="2560320"/>
            <a:ext cx="274320" cy="0"/>
          </a:xfrm>
          <a:prstGeom prst="line">
            <a:avLst/>
          </a:prstGeom>
          <a:noFill/>
          <a:ln w="12700">
            <a:solidFill>
              <a:srgbClr val="6B6B6F"/>
            </a:solidFill>
            <a:prstDash val="solid"/>
          </a:ln>
        </p:spPr>
        <p:txBody>
          <a:bodyPr/>
          <a:p/>
        </p:txBody>
      </p:sp>
      <p:sp>
        <p:nvSpPr>
          <p:cNvPr id="12" name="Shape 10"/>
          <p:cNvSpPr/>
          <p:nvPr/>
        </p:nvSpPr>
        <p:spPr>
          <a:xfrm>
            <a:off x="4754880" y="2194560"/>
            <a:ext cx="1828800" cy="731520"/>
          </a:xfrm>
          <a:prstGeom prst="roundRect">
            <a:avLst>
              <a:gd name="adj" fmla="val 12500"/>
            </a:avLst>
          </a:prstGeom>
          <a:solidFill>
            <a:srgbClr val="0A3454"/>
          </a:solidFill>
          <a:ln w="12700">
            <a:solidFill>
              <a:srgbClr val="0A3454"/>
            </a:solidFill>
            <a:prstDash val="solid"/>
          </a:ln>
        </p:spPr>
        <p:txBody>
          <a:bodyPr/>
          <a:p/>
        </p:txBody>
      </p:sp>
      <p:sp>
        <p:nvSpPr>
          <p:cNvPr id="13" name="Text 11"/>
          <p:cNvSpPr/>
          <p:nvPr/>
        </p:nvSpPr>
        <p:spPr>
          <a:xfrm>
            <a:off x="4754880" y="2194560"/>
            <a:ext cx="1828800" cy="731520"/>
          </a:xfrm>
          <a:prstGeom prst="rect">
            <a:avLst/>
          </a:prstGeom>
          <a:noFill/>
          <a:ln/>
        </p:spPr>
        <p:txBody>
          <a:bodyPr wrap="square" rtlCol="0" anchor="ctr"/>
          <a:lstStyle/>
          <a:p>
            <a:pPr algn="ctr" indent="0" marL="0">
              <a:buNone/>
            </a:pPr>
            <a:r>
              <a:rPr lang="en-US" sz="1200" b="1" spc="200" kern="0" dirty="0">
                <a:solidFill>
                  <a:srgbClr val="FFFFFF"/>
                </a:solidFill>
                <a:latin typeface="Roboto" pitchFamily="34" charset="0"/>
                <a:ea typeface="Roboto" pitchFamily="34" charset="-122"/>
                <a:cs typeface="Roboto" pitchFamily="34" charset="-120"/>
              </a:rPr>
              <a:t>EXPERIENCE</a:t>
            </a:r>
            <a:endParaRPr lang="en-US" sz="1200" dirty="0"/>
          </a:p>
        </p:txBody>
      </p:sp>
      <p:sp>
        <p:nvSpPr>
          <p:cNvPr id="14" name="Shape 12"/>
          <p:cNvSpPr/>
          <p:nvPr/>
        </p:nvSpPr>
        <p:spPr>
          <a:xfrm>
            <a:off x="6583680" y="2560320"/>
            <a:ext cx="274320" cy="0"/>
          </a:xfrm>
          <a:prstGeom prst="line">
            <a:avLst/>
          </a:prstGeom>
          <a:noFill/>
          <a:ln w="12700">
            <a:solidFill>
              <a:srgbClr val="6B6B6F"/>
            </a:solidFill>
            <a:prstDash val="solid"/>
          </a:ln>
        </p:spPr>
        <p:txBody>
          <a:bodyPr/>
          <a:p/>
        </p:txBody>
      </p:sp>
      <p:sp>
        <p:nvSpPr>
          <p:cNvPr id="15" name="Shape 13"/>
          <p:cNvSpPr/>
          <p:nvPr/>
        </p:nvSpPr>
        <p:spPr>
          <a:xfrm>
            <a:off x="6858000" y="2194560"/>
            <a:ext cx="1828800" cy="731520"/>
          </a:xfrm>
          <a:prstGeom prst="roundRect">
            <a:avLst>
              <a:gd name="adj" fmla="val 12500"/>
            </a:avLst>
          </a:prstGeom>
          <a:solidFill>
            <a:srgbClr val="FFFFFF"/>
          </a:solidFill>
          <a:ln w="25400">
            <a:solidFill>
              <a:srgbClr val="981C20"/>
            </a:solidFill>
            <a:prstDash val="dash"/>
          </a:ln>
        </p:spPr>
        <p:txBody>
          <a:bodyPr/>
          <a:p/>
        </p:txBody>
      </p:sp>
      <p:sp>
        <p:nvSpPr>
          <p:cNvPr id="16" name="Text 14"/>
          <p:cNvSpPr/>
          <p:nvPr/>
        </p:nvSpPr>
        <p:spPr>
          <a:xfrm>
            <a:off x="6858000" y="2194560"/>
            <a:ext cx="1828800" cy="731520"/>
          </a:xfrm>
          <a:prstGeom prst="rect">
            <a:avLst/>
          </a:prstGeom>
          <a:noFill/>
          <a:ln/>
        </p:spPr>
        <p:txBody>
          <a:bodyPr wrap="square" rtlCol="0" anchor="ctr"/>
          <a:lstStyle/>
          <a:p>
            <a:pPr algn="ctr" indent="0" marL="0">
              <a:buNone/>
            </a:pPr>
            <a:r>
              <a:rPr lang="en-US" sz="1200" b="1" spc="200" kern="0" dirty="0">
                <a:solidFill>
                  <a:srgbClr val="981C20"/>
                </a:solidFill>
                <a:latin typeface="Roboto" pitchFamily="34" charset="0"/>
                <a:ea typeface="Roboto" pitchFamily="34" charset="-122"/>
                <a:cs typeface="Roboto" pitchFamily="34" charset="-120"/>
              </a:rPr>
              <a:t>DEBRIEF</a:t>
            </a:r>
            <a:endParaRPr lang="en-US" sz="1200" dirty="0"/>
          </a:p>
        </p:txBody>
      </p:sp>
      <p:sp>
        <p:nvSpPr>
          <p:cNvPr id="17" name="Text 15"/>
          <p:cNvSpPr/>
          <p:nvPr/>
        </p:nvSpPr>
        <p:spPr>
          <a:xfrm>
            <a:off x="6858000" y="2971800"/>
            <a:ext cx="1828800" cy="274320"/>
          </a:xfrm>
          <a:prstGeom prst="rect">
            <a:avLst/>
          </a:prstGeom>
          <a:noFill/>
          <a:ln/>
        </p:spPr>
        <p:txBody>
          <a:bodyPr wrap="square" rtlCol="0" anchor="ctr"/>
          <a:lstStyle/>
          <a:p>
            <a:pPr algn="ctr" indent="0" marL="0">
              <a:buNone/>
            </a:pPr>
            <a:r>
              <a:rPr lang="en-US" sz="900" b="1" spc="300" kern="0" dirty="0">
                <a:solidFill>
                  <a:srgbClr val="981C20"/>
                </a:solidFill>
                <a:latin typeface="Roboto Condensed" pitchFamily="34" charset="0"/>
                <a:ea typeface="Roboto Condensed" pitchFamily="34" charset="-122"/>
                <a:cs typeface="Roboto Condensed" pitchFamily="34" charset="-120"/>
              </a:rPr>
              <a:t>MISSING</a:t>
            </a:r>
            <a:endParaRPr lang="en-US" sz="900" dirty="0"/>
          </a:p>
        </p:txBody>
      </p:sp>
      <p:sp>
        <p:nvSpPr>
          <p:cNvPr id="18" name="Shape 16"/>
          <p:cNvSpPr/>
          <p:nvPr/>
        </p:nvSpPr>
        <p:spPr>
          <a:xfrm>
            <a:off x="8686800" y="2560320"/>
            <a:ext cx="274320" cy="0"/>
          </a:xfrm>
          <a:prstGeom prst="line">
            <a:avLst/>
          </a:prstGeom>
          <a:noFill/>
          <a:ln w="12700">
            <a:solidFill>
              <a:srgbClr val="6B6B6F"/>
            </a:solidFill>
            <a:prstDash val="solid"/>
          </a:ln>
        </p:spPr>
        <p:txBody>
          <a:bodyPr/>
          <a:p/>
        </p:txBody>
      </p:sp>
      <p:sp>
        <p:nvSpPr>
          <p:cNvPr id="19" name="Shape 17"/>
          <p:cNvSpPr/>
          <p:nvPr/>
        </p:nvSpPr>
        <p:spPr>
          <a:xfrm>
            <a:off x="8961120" y="2194560"/>
            <a:ext cx="1828800" cy="731520"/>
          </a:xfrm>
          <a:prstGeom prst="roundRect">
            <a:avLst>
              <a:gd name="adj" fmla="val 12500"/>
            </a:avLst>
          </a:prstGeom>
          <a:solidFill>
            <a:srgbClr val="0A3454"/>
          </a:solidFill>
          <a:ln w="12700">
            <a:solidFill>
              <a:srgbClr val="0A3454"/>
            </a:solidFill>
            <a:prstDash val="solid"/>
          </a:ln>
        </p:spPr>
        <p:txBody>
          <a:bodyPr/>
          <a:p/>
        </p:txBody>
      </p:sp>
      <p:sp>
        <p:nvSpPr>
          <p:cNvPr id="20" name="Text 18"/>
          <p:cNvSpPr/>
          <p:nvPr/>
        </p:nvSpPr>
        <p:spPr>
          <a:xfrm>
            <a:off x="8961120" y="2194560"/>
            <a:ext cx="1828800" cy="731520"/>
          </a:xfrm>
          <a:prstGeom prst="rect">
            <a:avLst/>
          </a:prstGeom>
          <a:noFill/>
          <a:ln/>
        </p:spPr>
        <p:txBody>
          <a:bodyPr wrap="square" rtlCol="0" anchor="ctr"/>
          <a:lstStyle/>
          <a:p>
            <a:pPr algn="ctr" indent="0" marL="0">
              <a:buNone/>
            </a:pPr>
            <a:r>
              <a:rPr lang="en-US" sz="1200" b="1" spc="200" kern="0" dirty="0">
                <a:solidFill>
                  <a:srgbClr val="FFFFFF"/>
                </a:solidFill>
                <a:latin typeface="Roboto" pitchFamily="34" charset="0"/>
                <a:ea typeface="Roboto" pitchFamily="34" charset="-122"/>
                <a:cs typeface="Roboto" pitchFamily="34" charset="-120"/>
              </a:rPr>
              <a:t>RETURN</a:t>
            </a:r>
            <a:endParaRPr lang="en-US" sz="1200" dirty="0"/>
          </a:p>
        </p:txBody>
      </p:sp>
      <p:sp>
        <p:nvSpPr>
          <p:cNvPr id="21" name="Text 19"/>
          <p:cNvSpPr/>
          <p:nvPr/>
        </p:nvSpPr>
        <p:spPr>
          <a:xfrm>
            <a:off x="548640" y="3840480"/>
            <a:ext cx="3108960" cy="274320"/>
          </a:xfrm>
          <a:prstGeom prst="rect">
            <a:avLst/>
          </a:prstGeom>
          <a:noFill/>
          <a:ln/>
        </p:spPr>
        <p:txBody>
          <a:bodyPr wrap="square" rtlCol="0" anchor="ctr"/>
          <a:lstStyle/>
          <a:p>
            <a:pPr indent="0" marL="0">
              <a:buNone/>
            </a:pPr>
            <a:r>
              <a:rPr lang="en-US" sz="1000" b="1" spc="400" kern="0" dirty="0">
                <a:solidFill>
                  <a:srgbClr val="EC5C2A"/>
                </a:solidFill>
                <a:latin typeface="Roboto Condensed" pitchFamily="34" charset="0"/>
                <a:ea typeface="Roboto Condensed" pitchFamily="34" charset="-122"/>
                <a:cs typeface="Roboto Condensed" pitchFamily="34" charset="-120"/>
              </a:rPr>
              <a:t>BEFORE</a:t>
            </a:r>
            <a:endParaRPr lang="en-US" sz="1000" dirty="0"/>
          </a:p>
        </p:txBody>
      </p:sp>
      <p:sp>
        <p:nvSpPr>
          <p:cNvPr id="22" name="Text 20"/>
          <p:cNvSpPr/>
          <p:nvPr/>
        </p:nvSpPr>
        <p:spPr>
          <a:xfrm>
            <a:off x="548640" y="4160520"/>
            <a:ext cx="3108960" cy="457200"/>
          </a:xfrm>
          <a:prstGeom prst="rect">
            <a:avLst/>
          </a:prstGeom>
          <a:noFill/>
          <a:ln/>
        </p:spPr>
        <p:txBody>
          <a:bodyPr wrap="square" rtlCol="0" anchor="ctr"/>
          <a:lstStyle/>
          <a:p>
            <a:pPr indent="0" marL="0">
              <a:buNone/>
            </a:pPr>
            <a:r>
              <a:rPr lang="en-US" sz="1600" b="1" dirty="0">
                <a:solidFill>
                  <a:srgbClr val="0A3454"/>
                </a:solidFill>
                <a:latin typeface="Roboto" pitchFamily="34" charset="0"/>
                <a:ea typeface="Roboto" pitchFamily="34" charset="-122"/>
                <a:cs typeface="Roboto" pitchFamily="34" charset="-120"/>
              </a:rPr>
              <a:t>Without a brief</a:t>
            </a:r>
            <a:endParaRPr lang="en-US" sz="1600" dirty="0"/>
          </a:p>
        </p:txBody>
      </p:sp>
      <p:sp>
        <p:nvSpPr>
          <p:cNvPr id="23" name="Text 21"/>
          <p:cNvSpPr/>
          <p:nvPr/>
        </p:nvSpPr>
        <p:spPr>
          <a:xfrm>
            <a:off x="548640" y="4663440"/>
            <a:ext cx="3108960" cy="1554480"/>
          </a:xfrm>
          <a:prstGeom prst="rect">
            <a:avLst/>
          </a:prstGeom>
          <a:noFill/>
          <a:ln/>
        </p:spPr>
        <p:txBody>
          <a:bodyPr wrap="square" rtlCol="0" anchor="ctr"/>
          <a:lstStyle/>
          <a:p>
            <a:pPr indent="0" marL="0">
              <a:lnSpc>
                <a:spcPct val="140000"/>
              </a:lnSpc>
              <a:buNone/>
            </a:pPr>
            <a:r>
              <a:rPr lang="en-US" sz="1100" dirty="0">
                <a:solidFill>
                  <a:srgbClr val="404040"/>
                </a:solidFill>
                <a:latin typeface="Roboto" pitchFamily="34" charset="0"/>
                <a:ea typeface="Roboto" pitchFamily="34" charset="-122"/>
                <a:cs typeface="Roboto" pitchFamily="34" charset="-120"/>
              </a:rPr>
              <a:t>Volunteers arrive in task mode. The part of the brain that processes others as fully human [1] never activates.</a:t>
            </a:r>
            <a:endParaRPr lang="en-US" sz="1100" dirty="0"/>
          </a:p>
        </p:txBody>
      </p:sp>
      <p:sp>
        <p:nvSpPr>
          <p:cNvPr id="24" name="Text 22"/>
          <p:cNvSpPr/>
          <p:nvPr/>
        </p:nvSpPr>
        <p:spPr>
          <a:xfrm>
            <a:off x="4572000" y="3840480"/>
            <a:ext cx="3108960" cy="274320"/>
          </a:xfrm>
          <a:prstGeom prst="rect">
            <a:avLst/>
          </a:prstGeom>
          <a:noFill/>
          <a:ln/>
        </p:spPr>
        <p:txBody>
          <a:bodyPr wrap="square" rtlCol="0" anchor="ctr"/>
          <a:lstStyle/>
          <a:p>
            <a:pPr indent="0" marL="0">
              <a:buNone/>
            </a:pPr>
            <a:r>
              <a:rPr lang="en-US" sz="1000" b="1" spc="400" kern="0" dirty="0">
                <a:solidFill>
                  <a:srgbClr val="EC5C2A"/>
                </a:solidFill>
                <a:latin typeface="Roboto Condensed" pitchFamily="34" charset="0"/>
                <a:ea typeface="Roboto Condensed" pitchFamily="34" charset="-122"/>
                <a:cs typeface="Roboto Condensed" pitchFamily="34" charset="-120"/>
              </a:rPr>
              <a:t>DURING</a:t>
            </a:r>
            <a:endParaRPr lang="en-US" sz="1000" dirty="0"/>
          </a:p>
        </p:txBody>
      </p:sp>
      <p:sp>
        <p:nvSpPr>
          <p:cNvPr id="25" name="Text 23"/>
          <p:cNvSpPr/>
          <p:nvPr/>
        </p:nvSpPr>
        <p:spPr>
          <a:xfrm>
            <a:off x="4572000" y="4160520"/>
            <a:ext cx="3108960" cy="457200"/>
          </a:xfrm>
          <a:prstGeom prst="rect">
            <a:avLst/>
          </a:prstGeom>
          <a:noFill/>
          <a:ln/>
        </p:spPr>
        <p:txBody>
          <a:bodyPr wrap="square" rtlCol="0" anchor="ctr"/>
          <a:lstStyle/>
          <a:p>
            <a:pPr indent="0" marL="0">
              <a:buNone/>
            </a:pPr>
            <a:r>
              <a:rPr lang="en-US" sz="1600" b="1" dirty="0">
                <a:solidFill>
                  <a:srgbClr val="0A3454"/>
                </a:solidFill>
                <a:latin typeface="Roboto" pitchFamily="34" charset="0"/>
                <a:ea typeface="Roboto" pitchFamily="34" charset="-122"/>
                <a:cs typeface="Roboto" pitchFamily="34" charset="-120"/>
              </a:rPr>
              <a:t>Without a guide</a:t>
            </a:r>
            <a:endParaRPr lang="en-US" sz="1600" dirty="0"/>
          </a:p>
        </p:txBody>
      </p:sp>
      <p:sp>
        <p:nvSpPr>
          <p:cNvPr id="26" name="Text 24"/>
          <p:cNvSpPr/>
          <p:nvPr/>
        </p:nvSpPr>
        <p:spPr>
          <a:xfrm>
            <a:off x="4572000" y="4663440"/>
            <a:ext cx="3108960" cy="1554480"/>
          </a:xfrm>
          <a:prstGeom prst="rect">
            <a:avLst/>
          </a:prstGeom>
          <a:noFill/>
          <a:ln/>
        </p:spPr>
        <p:txBody>
          <a:bodyPr wrap="square" rtlCol="0" anchor="ctr"/>
          <a:lstStyle/>
          <a:p>
            <a:pPr indent="0" marL="0">
              <a:lnSpc>
                <a:spcPct val="140000"/>
              </a:lnSpc>
              <a:buNone/>
            </a:pPr>
            <a:r>
              <a:rPr lang="en-US" sz="1100" dirty="0">
                <a:solidFill>
                  <a:srgbClr val="404040"/>
                </a:solidFill>
                <a:latin typeface="Roboto" pitchFamily="34" charset="0"/>
                <a:ea typeface="Roboto" pitchFamily="34" charset="-122"/>
                <a:cs typeface="Roboto" pitchFamily="34" charset="-120"/>
              </a:rPr>
              <a:t>First-timers and veterans get the same assignment. The experience is pleasant but flat. Nobody calibrates challenge to contribution.</a:t>
            </a:r>
            <a:endParaRPr lang="en-US" sz="1100" dirty="0"/>
          </a:p>
        </p:txBody>
      </p:sp>
      <p:sp>
        <p:nvSpPr>
          <p:cNvPr id="27" name="Text 25"/>
          <p:cNvSpPr/>
          <p:nvPr/>
        </p:nvSpPr>
        <p:spPr>
          <a:xfrm>
            <a:off x="8595360" y="3840480"/>
            <a:ext cx="3108960" cy="274320"/>
          </a:xfrm>
          <a:prstGeom prst="rect">
            <a:avLst/>
          </a:prstGeom>
          <a:noFill/>
          <a:ln/>
        </p:spPr>
        <p:txBody>
          <a:bodyPr wrap="square" rtlCol="0" anchor="ctr"/>
          <a:lstStyle/>
          <a:p>
            <a:pPr indent="0" marL="0">
              <a:buNone/>
            </a:pPr>
            <a:r>
              <a:rPr lang="en-US" sz="1000" b="1" spc="400" kern="0" dirty="0">
                <a:solidFill>
                  <a:srgbClr val="EC5C2A"/>
                </a:solidFill>
                <a:latin typeface="Roboto Condensed" pitchFamily="34" charset="0"/>
                <a:ea typeface="Roboto Condensed" pitchFamily="34" charset="-122"/>
                <a:cs typeface="Roboto Condensed" pitchFamily="34" charset="-120"/>
              </a:rPr>
              <a:t>AFTER</a:t>
            </a:r>
            <a:endParaRPr lang="en-US" sz="1000" dirty="0"/>
          </a:p>
        </p:txBody>
      </p:sp>
      <p:sp>
        <p:nvSpPr>
          <p:cNvPr id="28" name="Text 26"/>
          <p:cNvSpPr/>
          <p:nvPr/>
        </p:nvSpPr>
        <p:spPr>
          <a:xfrm>
            <a:off x="8595360" y="4160520"/>
            <a:ext cx="3108960" cy="457200"/>
          </a:xfrm>
          <a:prstGeom prst="rect">
            <a:avLst/>
          </a:prstGeom>
          <a:noFill/>
          <a:ln/>
        </p:spPr>
        <p:txBody>
          <a:bodyPr wrap="square" rtlCol="0" anchor="ctr"/>
          <a:lstStyle/>
          <a:p>
            <a:pPr indent="0" marL="0">
              <a:buNone/>
            </a:pPr>
            <a:r>
              <a:rPr lang="en-US" sz="1600" b="1" dirty="0">
                <a:solidFill>
                  <a:srgbClr val="0A3454"/>
                </a:solidFill>
                <a:latin typeface="Roboto" pitchFamily="34" charset="0"/>
                <a:ea typeface="Roboto" pitchFamily="34" charset="-122"/>
                <a:cs typeface="Roboto" pitchFamily="34" charset="-120"/>
              </a:rPr>
              <a:t>Without a debrief</a:t>
            </a:r>
            <a:endParaRPr lang="en-US" sz="1600" dirty="0"/>
          </a:p>
        </p:txBody>
      </p:sp>
      <p:sp>
        <p:nvSpPr>
          <p:cNvPr id="29" name="Text 27"/>
          <p:cNvSpPr/>
          <p:nvPr/>
        </p:nvSpPr>
        <p:spPr>
          <a:xfrm>
            <a:off x="8595360" y="4663440"/>
            <a:ext cx="3108960" cy="1554480"/>
          </a:xfrm>
          <a:prstGeom prst="rect">
            <a:avLst/>
          </a:prstGeom>
          <a:noFill/>
          <a:ln/>
        </p:spPr>
        <p:txBody>
          <a:bodyPr wrap="square" rtlCol="0" anchor="ctr"/>
          <a:lstStyle/>
          <a:p>
            <a:pPr indent="0" marL="0">
              <a:lnSpc>
                <a:spcPct val="140000"/>
              </a:lnSpc>
              <a:buNone/>
            </a:pPr>
            <a:r>
              <a:rPr lang="en-US" sz="1100" dirty="0">
                <a:solidFill>
                  <a:srgbClr val="404040"/>
                </a:solidFill>
                <a:latin typeface="Roboto" pitchFamily="34" charset="0"/>
                <a:ea typeface="Roboto" pitchFamily="34" charset="-122"/>
                <a:cs typeface="Roboto" pitchFamily="34" charset="-120"/>
              </a:rPr>
              <a:t>The 0–40 minute window for memory consolidation [2] closes. Champions burn out. Repeated exposure without structured processing activates pain-sharing rather than compassion circuits [3].</a:t>
            </a:r>
            <a:endParaRPr lang="en-US" sz="1100" dirty="0"/>
          </a:p>
        </p:txBody>
      </p:sp>
      <p:sp>
        <p:nvSpPr>
          <p:cNvPr id="30" name="Shape 28"/>
          <p:cNvSpPr/>
          <p:nvPr/>
        </p:nvSpPr>
        <p:spPr>
          <a:xfrm>
            <a:off x="548640" y="6355080"/>
            <a:ext cx="11094415" cy="0"/>
          </a:xfrm>
          <a:prstGeom prst="line">
            <a:avLst/>
          </a:prstGeom>
          <a:noFill/>
          <a:ln w="6350">
            <a:solidFill>
              <a:srgbClr val="C2C2C6"/>
            </a:solidFill>
            <a:prstDash val="solid"/>
          </a:ln>
        </p:spPr>
        <p:txBody>
          <a:bodyPr/>
          <a:p/>
        </p:txBody>
      </p:sp>
      <p:sp>
        <p:nvSpPr>
          <p:cNvPr id="31" name="Text 29"/>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32" name="Text 30"/>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HOW ADULTS CHANGE PRACTICE</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Why immersive learning changes practice, not just knowledge</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sp>
      <p:sp>
        <p:nvSpPr>
          <p:cNvPr id="5" name="Shape 3"/>
          <p:cNvSpPr/>
          <p:nvPr/>
        </p:nvSpPr>
        <p:spPr>
          <a:xfrm>
            <a:off x="548640" y="2194560"/>
            <a:ext cx="2697480" cy="3657600"/>
          </a:xfrm>
          <a:prstGeom prst="roundRect">
            <a:avLst>
              <a:gd name="adj" fmla="val 2712"/>
            </a:avLst>
          </a:prstGeom>
          <a:solidFill>
            <a:srgbClr val="F6F7F8"/>
          </a:solidFill>
          <a:ln w="6350">
            <a:solidFill>
              <a:srgbClr val="C2C2C6"/>
            </a:solidFill>
            <a:prstDash val="solid"/>
          </a:ln>
        </p:spPr>
      </p:sp>
      <p:sp>
        <p:nvSpPr>
          <p:cNvPr id="6" name="Shape 4"/>
          <p:cNvSpPr/>
          <p:nvPr/>
        </p:nvSpPr>
        <p:spPr>
          <a:xfrm>
            <a:off x="777240" y="2423160"/>
            <a:ext cx="640080" cy="640080"/>
          </a:xfrm>
          <a:prstGeom prst="ellipse">
            <a:avLst/>
          </a:prstGeom>
          <a:solidFill>
            <a:srgbClr val="EC5C2A"/>
          </a:solidFill>
          <a:ln w="12700">
            <a:solidFill>
              <a:srgbClr val="EC5C2A"/>
            </a:solidFill>
            <a:prstDash val="solid"/>
          </a:ln>
        </p:spPr>
      </p:sp>
      <p:sp>
        <p:nvSpPr>
          <p:cNvPr id="7" name="Text 5"/>
          <p:cNvSpPr/>
          <p:nvPr/>
        </p:nvSpPr>
        <p:spPr>
          <a:xfrm>
            <a:off x="777240" y="242316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01</a:t>
            </a:r>
            <a:endParaRPr lang="en-US" sz="1300" dirty="0"/>
          </a:p>
        </p:txBody>
      </p:sp>
      <p:sp>
        <p:nvSpPr>
          <p:cNvPr id="8" name="Text 6"/>
          <p:cNvSpPr/>
          <p:nvPr/>
        </p:nvSpPr>
        <p:spPr>
          <a:xfrm>
            <a:off x="777240" y="3200400"/>
            <a:ext cx="2331720" cy="8229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Practice, not lecture</a:t>
            </a:r>
            <a:endParaRPr lang="en-US" sz="1400" dirty="0"/>
          </a:p>
        </p:txBody>
      </p:sp>
      <p:sp>
        <p:nvSpPr>
          <p:cNvPr id="9" name="Text 7"/>
          <p:cNvSpPr/>
          <p:nvPr/>
        </p:nvSpPr>
        <p:spPr>
          <a:xfrm>
            <a:off x="777240" y="4023360"/>
            <a:ext cx="2331720" cy="1737360"/>
          </a:xfrm>
          <a:prstGeom prst="rect">
            <a:avLst/>
          </a:prstGeom>
          <a:noFill/>
          <a:ln/>
        </p:spPr>
        <p:txBody>
          <a:bodyPr wrap="square" rtlCol="0" anchor="ctr"/>
          <a:lstStyle/>
          <a:p>
            <a:pPr indent="0" marL="0">
              <a:lnSpc>
                <a:spcPct val="140000"/>
              </a:lnSpc>
              <a:buNone/>
            </a:pPr>
            <a:r>
              <a:rPr lang="en-US" sz="1050" dirty="0">
                <a:solidFill>
                  <a:srgbClr val="404040"/>
                </a:solidFill>
                <a:latin typeface="Roboto" pitchFamily="34" charset="0"/>
                <a:ea typeface="Roboto" pitchFamily="34" charset="-122"/>
                <a:cs typeface="Roboto" pitchFamily="34" charset="-120"/>
              </a:rPr>
              <a:t>Participants conduct real Briefs and Debriefs with live volunteers. Skill acquisition requires doing, not watching. [9]</a:t>
            </a:r>
            <a:endParaRPr lang="en-US" sz="1050" dirty="0"/>
          </a:p>
        </p:txBody>
      </p:sp>
      <p:sp>
        <p:nvSpPr>
          <p:cNvPr id="10" name="Shape 8"/>
          <p:cNvSpPr/>
          <p:nvPr/>
        </p:nvSpPr>
        <p:spPr>
          <a:xfrm>
            <a:off x="3429000" y="2194560"/>
            <a:ext cx="2697480" cy="3657600"/>
          </a:xfrm>
          <a:prstGeom prst="roundRect">
            <a:avLst>
              <a:gd name="adj" fmla="val 2712"/>
            </a:avLst>
          </a:prstGeom>
          <a:solidFill>
            <a:srgbClr val="F6F7F8"/>
          </a:solidFill>
          <a:ln w="6350">
            <a:solidFill>
              <a:srgbClr val="C2C2C6"/>
            </a:solidFill>
            <a:prstDash val="solid"/>
          </a:ln>
        </p:spPr>
      </p:sp>
      <p:sp>
        <p:nvSpPr>
          <p:cNvPr id="11" name="Shape 9"/>
          <p:cNvSpPr/>
          <p:nvPr/>
        </p:nvSpPr>
        <p:spPr>
          <a:xfrm>
            <a:off x="3657600" y="2423160"/>
            <a:ext cx="640080" cy="640080"/>
          </a:xfrm>
          <a:prstGeom prst="ellipse">
            <a:avLst/>
          </a:prstGeom>
          <a:solidFill>
            <a:srgbClr val="EC5C2A"/>
          </a:solidFill>
          <a:ln w="12700">
            <a:solidFill>
              <a:srgbClr val="EC5C2A"/>
            </a:solidFill>
            <a:prstDash val="solid"/>
          </a:ln>
        </p:spPr>
      </p:sp>
      <p:sp>
        <p:nvSpPr>
          <p:cNvPr id="12" name="Text 10"/>
          <p:cNvSpPr/>
          <p:nvPr/>
        </p:nvSpPr>
        <p:spPr>
          <a:xfrm>
            <a:off x="3657600" y="242316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02</a:t>
            </a:r>
            <a:endParaRPr lang="en-US" sz="1300" dirty="0"/>
          </a:p>
        </p:txBody>
      </p:sp>
      <p:sp>
        <p:nvSpPr>
          <p:cNvPr id="13" name="Text 11"/>
          <p:cNvSpPr/>
          <p:nvPr/>
        </p:nvSpPr>
        <p:spPr>
          <a:xfrm>
            <a:off x="3657600" y="3200400"/>
            <a:ext cx="2331720" cy="8229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Disorienting dilemma</a:t>
            </a:r>
            <a:endParaRPr lang="en-US" sz="1400" dirty="0"/>
          </a:p>
        </p:txBody>
      </p:sp>
      <p:sp>
        <p:nvSpPr>
          <p:cNvPr id="14" name="Text 12"/>
          <p:cNvSpPr/>
          <p:nvPr/>
        </p:nvSpPr>
        <p:spPr>
          <a:xfrm>
            <a:off x="3657600" y="4023360"/>
            <a:ext cx="2331720" cy="1737360"/>
          </a:xfrm>
          <a:prstGeom prst="rect">
            <a:avLst/>
          </a:prstGeom>
          <a:noFill/>
          <a:ln/>
        </p:spPr>
        <p:txBody>
          <a:bodyPr wrap="square" rtlCol="0" anchor="ctr"/>
          <a:lstStyle/>
          <a:p>
            <a:pPr indent="0" marL="0">
              <a:lnSpc>
                <a:spcPct val="140000"/>
              </a:lnSpc>
              <a:buNone/>
            </a:pPr>
            <a:r>
              <a:rPr lang="en-US" sz="1050" dirty="0">
                <a:solidFill>
                  <a:srgbClr val="404040"/>
                </a:solidFill>
                <a:latin typeface="Roboto" pitchFamily="34" charset="0"/>
                <a:ea typeface="Roboto" pitchFamily="34" charset="-122"/>
                <a:cs typeface="Roboto" pitchFamily="34" charset="-120"/>
              </a:rPr>
              <a:t>A live nonprofit experience challenges assumptions about who needs help and why. The gap between expectation and reality is the learning. [4]</a:t>
            </a:r>
            <a:endParaRPr lang="en-US" sz="1050" dirty="0"/>
          </a:p>
        </p:txBody>
      </p:sp>
      <p:sp>
        <p:nvSpPr>
          <p:cNvPr id="15" name="Shape 13"/>
          <p:cNvSpPr/>
          <p:nvPr/>
        </p:nvSpPr>
        <p:spPr>
          <a:xfrm>
            <a:off x="6309360" y="2194560"/>
            <a:ext cx="2697480" cy="3657600"/>
          </a:xfrm>
          <a:prstGeom prst="roundRect">
            <a:avLst>
              <a:gd name="adj" fmla="val 2712"/>
            </a:avLst>
          </a:prstGeom>
          <a:solidFill>
            <a:srgbClr val="F6F7F8"/>
          </a:solidFill>
          <a:ln w="6350">
            <a:solidFill>
              <a:srgbClr val="C2C2C6"/>
            </a:solidFill>
            <a:prstDash val="solid"/>
          </a:ln>
        </p:spPr>
      </p:sp>
      <p:sp>
        <p:nvSpPr>
          <p:cNvPr id="16" name="Shape 14"/>
          <p:cNvSpPr/>
          <p:nvPr/>
        </p:nvSpPr>
        <p:spPr>
          <a:xfrm>
            <a:off x="6537960" y="2423160"/>
            <a:ext cx="640080" cy="640080"/>
          </a:xfrm>
          <a:prstGeom prst="ellipse">
            <a:avLst/>
          </a:prstGeom>
          <a:solidFill>
            <a:srgbClr val="EC5C2A"/>
          </a:solidFill>
          <a:ln w="12700">
            <a:solidFill>
              <a:srgbClr val="EC5C2A"/>
            </a:solidFill>
            <a:prstDash val="solid"/>
          </a:ln>
        </p:spPr>
      </p:sp>
      <p:sp>
        <p:nvSpPr>
          <p:cNvPr id="17" name="Text 15"/>
          <p:cNvSpPr/>
          <p:nvPr/>
        </p:nvSpPr>
        <p:spPr>
          <a:xfrm>
            <a:off x="6537960" y="242316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03</a:t>
            </a:r>
            <a:endParaRPr lang="en-US" sz="1300" dirty="0"/>
          </a:p>
        </p:txBody>
      </p:sp>
      <p:sp>
        <p:nvSpPr>
          <p:cNvPr id="18" name="Text 16"/>
          <p:cNvSpPr/>
          <p:nvPr/>
        </p:nvSpPr>
        <p:spPr>
          <a:xfrm>
            <a:off x="6537960" y="3200400"/>
            <a:ext cx="2331720" cy="8229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40-minute debrief window</a:t>
            </a:r>
            <a:endParaRPr lang="en-US" sz="1400" dirty="0"/>
          </a:p>
        </p:txBody>
      </p:sp>
      <p:sp>
        <p:nvSpPr>
          <p:cNvPr id="19" name="Text 17"/>
          <p:cNvSpPr/>
          <p:nvPr/>
        </p:nvSpPr>
        <p:spPr>
          <a:xfrm>
            <a:off x="6537960" y="4023360"/>
            <a:ext cx="2331720" cy="1737360"/>
          </a:xfrm>
          <a:prstGeom prst="rect">
            <a:avLst/>
          </a:prstGeom>
          <a:noFill/>
          <a:ln/>
        </p:spPr>
        <p:txBody>
          <a:bodyPr wrap="square" rtlCol="0" anchor="ctr"/>
          <a:lstStyle/>
          <a:p>
            <a:pPr indent="0" marL="0">
              <a:lnSpc>
                <a:spcPct val="140000"/>
              </a:lnSpc>
              <a:buNone/>
            </a:pPr>
            <a:r>
              <a:rPr lang="en-US" sz="1050" dirty="0">
                <a:solidFill>
                  <a:srgbClr val="404040"/>
                </a:solidFill>
                <a:latin typeface="Roboto" pitchFamily="34" charset="0"/>
                <a:ea typeface="Roboto" pitchFamily="34" charset="-122"/>
                <a:cs typeface="Roboto" pitchFamily="34" charset="-120"/>
              </a:rPr>
              <a:t>Structured reflection inside the memory consolidation window. Same-day debrief is a neurological design requirement, not a scheduling preference. [2]</a:t>
            </a:r>
            <a:endParaRPr lang="en-US" sz="1050" dirty="0"/>
          </a:p>
        </p:txBody>
      </p:sp>
      <p:sp>
        <p:nvSpPr>
          <p:cNvPr id="20" name="Shape 18"/>
          <p:cNvSpPr/>
          <p:nvPr/>
        </p:nvSpPr>
        <p:spPr>
          <a:xfrm>
            <a:off x="9189720" y="2194560"/>
            <a:ext cx="2697480" cy="3657600"/>
          </a:xfrm>
          <a:prstGeom prst="roundRect">
            <a:avLst>
              <a:gd name="adj" fmla="val 2712"/>
            </a:avLst>
          </a:prstGeom>
          <a:solidFill>
            <a:srgbClr val="F6F7F8"/>
          </a:solidFill>
          <a:ln w="6350">
            <a:solidFill>
              <a:srgbClr val="C2C2C6"/>
            </a:solidFill>
            <a:prstDash val="solid"/>
          </a:ln>
        </p:spPr>
      </p:sp>
      <p:sp>
        <p:nvSpPr>
          <p:cNvPr id="21" name="Shape 19"/>
          <p:cNvSpPr/>
          <p:nvPr/>
        </p:nvSpPr>
        <p:spPr>
          <a:xfrm>
            <a:off x="9418320" y="2423160"/>
            <a:ext cx="640080" cy="640080"/>
          </a:xfrm>
          <a:prstGeom prst="ellipse">
            <a:avLst/>
          </a:prstGeom>
          <a:solidFill>
            <a:srgbClr val="EC5C2A"/>
          </a:solidFill>
          <a:ln w="12700">
            <a:solidFill>
              <a:srgbClr val="EC5C2A"/>
            </a:solidFill>
            <a:prstDash val="solid"/>
          </a:ln>
        </p:spPr>
      </p:sp>
      <p:sp>
        <p:nvSpPr>
          <p:cNvPr id="22" name="Text 20"/>
          <p:cNvSpPr/>
          <p:nvPr/>
        </p:nvSpPr>
        <p:spPr>
          <a:xfrm>
            <a:off x="9418320" y="242316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04</a:t>
            </a:r>
            <a:endParaRPr lang="en-US" sz="1300" dirty="0"/>
          </a:p>
        </p:txBody>
      </p:sp>
      <p:sp>
        <p:nvSpPr>
          <p:cNvPr id="23" name="Text 21"/>
          <p:cNvSpPr/>
          <p:nvPr/>
        </p:nvSpPr>
        <p:spPr>
          <a:xfrm>
            <a:off x="9418320" y="3200400"/>
            <a:ext cx="2331720" cy="8229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Cohort identity</a:t>
            </a:r>
            <a:endParaRPr lang="en-US" sz="1400" dirty="0"/>
          </a:p>
        </p:txBody>
      </p:sp>
      <p:sp>
        <p:nvSpPr>
          <p:cNvPr id="24" name="Text 22"/>
          <p:cNvSpPr/>
          <p:nvPr/>
        </p:nvSpPr>
        <p:spPr>
          <a:xfrm>
            <a:off x="9418320" y="4023360"/>
            <a:ext cx="2331720" cy="1737360"/>
          </a:xfrm>
          <a:prstGeom prst="rect">
            <a:avLst/>
          </a:prstGeom>
          <a:noFill/>
          <a:ln/>
        </p:spPr>
        <p:txBody>
          <a:bodyPr wrap="square" rtlCol="0" anchor="ctr"/>
          <a:lstStyle/>
          <a:p>
            <a:pPr indent="0" marL="0">
              <a:lnSpc>
                <a:spcPct val="140000"/>
              </a:lnSpc>
              <a:buNone/>
            </a:pPr>
            <a:r>
              <a:rPr lang="en-US" sz="1050" dirty="0">
                <a:solidFill>
                  <a:srgbClr val="404040"/>
                </a:solidFill>
                <a:latin typeface="Roboto" pitchFamily="34" charset="0"/>
                <a:ea typeface="Roboto" pitchFamily="34" charset="-122"/>
                <a:cs typeface="Roboto" pitchFamily="34" charset="-120"/>
              </a:rPr>
              <a:t>Cross-company peer group continues for 6 months. Shared identity amplifies behavioral commitment to the new practice. [6][8]</a:t>
            </a:r>
            <a:endParaRPr lang="en-US" sz="1050" dirty="0"/>
          </a:p>
        </p:txBody>
      </p:sp>
      <p:sp>
        <p:nvSpPr>
          <p:cNvPr id="25" name="Shape 23"/>
          <p:cNvSpPr/>
          <p:nvPr/>
        </p:nvSpPr>
        <p:spPr>
          <a:xfrm>
            <a:off x="548640" y="6355080"/>
            <a:ext cx="11094415" cy="0"/>
          </a:xfrm>
          <a:prstGeom prst="line">
            <a:avLst/>
          </a:prstGeom>
          <a:noFill/>
          <a:ln w="6350">
            <a:solidFill>
              <a:srgbClr val="C2C2C6"/>
            </a:solidFill>
            <a:prstDash val="solid"/>
          </a:ln>
        </p:spPr>
      </p:sp>
      <p:sp>
        <p:nvSpPr>
          <p:cNvPr id="26" name="Text 24"/>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27" name="Text 25"/>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WHAT TRAINED CHAMPIONS DO AT MICROSOFT</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600" b="1" dirty="0">
                <a:solidFill>
                  <a:srgbClr val="3C3F44"/>
                </a:solidFill>
                <a:latin typeface="Roboto" pitchFamily="34" charset="0"/>
                <a:ea typeface="Roboto" pitchFamily="34" charset="-122"/>
                <a:cs typeface="Roboto" pitchFamily="34" charset="-120"/>
              </a:rPr>
              <a:t>What trained champions do differently at Microsoft</a:t>
            </a:r>
            <a:endParaRPr lang="en-US" sz="26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640080"/>
          </a:xfrm>
          <a:prstGeom prst="rect">
            <a:avLst/>
          </a:prstGeom>
          <a:noFill/>
          <a:ln/>
        </p:spPr>
        <p:txBody>
          <a:bodyPr wrap="square" rtlCol="0" anchor="ctr"/>
          <a:lstStyle/>
          <a:p>
            <a:pPr indent="0" marL="0">
              <a:lnSpc>
                <a:spcPct val="140000"/>
              </a:lnSpc>
              <a:buNone/>
            </a:pPr>
            <a:r>
              <a:rPr lang="en-US" sz="1300" i="1" dirty="0">
                <a:solidFill>
                  <a:srgbClr val="6B6B6F"/>
                </a:solidFill>
                <a:latin typeface="Roboto" pitchFamily="34" charset="0"/>
                <a:ea typeface="Roboto" pitchFamily="34" charset="-122"/>
                <a:cs typeface="Roboto" pitchFamily="34" charset="-120"/>
              </a:rPr>
              <a:t>These six champions move beyond event coordination. They design and facilitate experiences that build manager-employee trust and connect people across internal teams.</a:t>
            </a:r>
            <a:endParaRPr lang="en-US" sz="1300" dirty="0"/>
          </a:p>
        </p:txBody>
      </p:sp>
      <p:sp>
        <p:nvSpPr>
          <p:cNvPr id="6" name="Shape 4"/>
          <p:cNvSpPr/>
          <p:nvPr/>
        </p:nvSpPr>
        <p:spPr>
          <a:xfrm>
            <a:off x="548640" y="2926080"/>
            <a:ext cx="640080" cy="640080"/>
          </a:xfrm>
          <a:prstGeom prst="ellipse">
            <a:avLst/>
          </a:prstGeom>
          <a:solidFill>
            <a:srgbClr val="EC5C2A"/>
          </a:solidFill>
          <a:ln w="12700">
            <a:solidFill>
              <a:srgbClr val="EC5C2A"/>
            </a:solidFill>
            <a:prstDash val="solid"/>
          </a:ln>
        </p:spPr>
        <p:txBody>
          <a:bodyPr/>
          <a:p/>
        </p:txBody>
      </p:sp>
      <p:sp>
        <p:nvSpPr>
          <p:cNvPr id="7" name="Text 5"/>
          <p:cNvSpPr/>
          <p:nvPr/>
        </p:nvSpPr>
        <p:spPr>
          <a:xfrm>
            <a:off x="548640" y="292608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01</a:t>
            </a:r>
            <a:endParaRPr lang="en-US" sz="1300" dirty="0"/>
          </a:p>
        </p:txBody>
      </p:sp>
      <p:sp>
        <p:nvSpPr>
          <p:cNvPr id="8" name="Text 6"/>
          <p:cNvSpPr/>
          <p:nvPr/>
        </p:nvSpPr>
        <p:spPr>
          <a:xfrm>
            <a:off x="1371600" y="2880360"/>
            <a:ext cx="10058400" cy="3657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They change how colleagues show up</a:t>
            </a:r>
            <a:endParaRPr lang="en-US" sz="1400" dirty="0"/>
          </a:p>
        </p:txBody>
      </p:sp>
      <p:sp>
        <p:nvSpPr>
          <p:cNvPr id="9" name="Text 7"/>
          <p:cNvSpPr/>
          <p:nvPr/>
        </p:nvSpPr>
        <p:spPr>
          <a:xfrm>
            <a:off x="1371600" y="3246120"/>
            <a:ext cx="10058400" cy="640080"/>
          </a:xfrm>
          <a:prstGeom prst="rect">
            <a:avLst/>
          </a:prstGeom>
          <a:noFill/>
          <a:ln/>
        </p:spPr>
        <p:txBody>
          <a:bodyPr wrap="square" rtlCol="0" anchor="ctr"/>
          <a:lstStyle/>
          <a:p>
            <a:pPr indent="0" marL="0">
              <a:lnSpc>
                <a:spcPct val="130000"/>
              </a:lnSpc>
              <a:buNone/>
            </a:pPr>
            <a:r>
              <a:rPr lang="en-US" sz="1100" dirty="0">
                <a:solidFill>
                  <a:srgbClr val="404040"/>
                </a:solidFill>
                <a:latin typeface="Roboto" pitchFamily="34" charset="0"/>
                <a:ea typeface="Roboto" pitchFamily="34" charset="-122"/>
                <a:cs typeface="Roboto" pitchFamily="34" charset="-120"/>
              </a:rPr>
              <a:t>A 5-minute brief reactivates the part of the brain that processes others as fully human [1]. Volunteers contribute at a higher level and come back. Direct beneficiary contact durably increases effort for over a month [10].</a:t>
            </a:r>
            <a:endParaRPr lang="en-US" sz="1100" dirty="0"/>
          </a:p>
        </p:txBody>
      </p:sp>
      <p:sp>
        <p:nvSpPr>
          <p:cNvPr id="10" name="Shape 8"/>
          <p:cNvSpPr/>
          <p:nvPr/>
        </p:nvSpPr>
        <p:spPr>
          <a:xfrm>
            <a:off x="548640" y="3931920"/>
            <a:ext cx="640080" cy="640080"/>
          </a:xfrm>
          <a:prstGeom prst="ellipse">
            <a:avLst/>
          </a:prstGeom>
          <a:solidFill>
            <a:srgbClr val="EC5C2A"/>
          </a:solidFill>
          <a:ln w="12700">
            <a:solidFill>
              <a:srgbClr val="EC5C2A"/>
            </a:solidFill>
            <a:prstDash val="solid"/>
          </a:ln>
        </p:spPr>
        <p:txBody>
          <a:bodyPr/>
          <a:p/>
        </p:txBody>
      </p:sp>
      <p:sp>
        <p:nvSpPr>
          <p:cNvPr id="11" name="Text 9"/>
          <p:cNvSpPr/>
          <p:nvPr/>
        </p:nvSpPr>
        <p:spPr>
          <a:xfrm>
            <a:off x="548640" y="393192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02</a:t>
            </a:r>
            <a:endParaRPr lang="en-US" sz="1300" dirty="0"/>
          </a:p>
        </p:txBody>
      </p:sp>
      <p:sp>
        <p:nvSpPr>
          <p:cNvPr id="12" name="Text 10"/>
          <p:cNvSpPr/>
          <p:nvPr/>
        </p:nvSpPr>
        <p:spPr>
          <a:xfrm>
            <a:off x="1371600" y="3886200"/>
            <a:ext cx="10058400" cy="3657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They build real nonprofit partnerships</a:t>
            </a:r>
            <a:endParaRPr lang="en-US" sz="1400" dirty="0"/>
          </a:p>
        </p:txBody>
      </p:sp>
      <p:sp>
        <p:nvSpPr>
          <p:cNvPr id="13" name="Text 11"/>
          <p:cNvSpPr/>
          <p:nvPr/>
        </p:nvSpPr>
        <p:spPr>
          <a:xfrm>
            <a:off x="1371600" y="4251960"/>
            <a:ext cx="10058400" cy="640080"/>
          </a:xfrm>
          <a:prstGeom prst="rect">
            <a:avLst/>
          </a:prstGeom>
          <a:noFill/>
          <a:ln/>
        </p:spPr>
        <p:txBody>
          <a:bodyPr wrap="square" rtlCol="0" anchor="ctr"/>
          <a:lstStyle/>
          <a:p>
            <a:pPr indent="0" marL="0">
              <a:lnSpc>
                <a:spcPct val="130000"/>
              </a:lnSpc>
              <a:buNone/>
            </a:pPr>
            <a:r>
              <a:rPr lang="en-US" sz="1100" dirty="0">
                <a:solidFill>
                  <a:srgbClr val="404040"/>
                </a:solidFill>
                <a:latin typeface="Roboto" pitchFamily="34" charset="0"/>
                <a:ea typeface="Roboto" pitchFamily="34" charset="-122"/>
                <a:cs typeface="Roboto" pitchFamily="34" charset="-120"/>
              </a:rPr>
              <a:t>Trained champions scope projects WITH partners, not FOR them. They frame the experience so volunteers encounter the work as partners — meeting the conditions for positive intergroup contact [11][12].</a:t>
            </a:r>
            <a:endParaRPr lang="en-US" sz="1100" dirty="0"/>
          </a:p>
        </p:txBody>
      </p:sp>
      <p:sp>
        <p:nvSpPr>
          <p:cNvPr id="14" name="Shape 12"/>
          <p:cNvSpPr/>
          <p:nvPr/>
        </p:nvSpPr>
        <p:spPr>
          <a:xfrm>
            <a:off x="548640" y="4937760"/>
            <a:ext cx="640080" cy="640080"/>
          </a:xfrm>
          <a:prstGeom prst="ellipse">
            <a:avLst/>
          </a:prstGeom>
          <a:solidFill>
            <a:srgbClr val="EC5C2A"/>
          </a:solidFill>
          <a:ln w="12700">
            <a:solidFill>
              <a:srgbClr val="EC5C2A"/>
            </a:solidFill>
            <a:prstDash val="solid"/>
          </a:ln>
        </p:spPr>
        <p:txBody>
          <a:bodyPr/>
          <a:p/>
        </p:txBody>
      </p:sp>
      <p:sp>
        <p:nvSpPr>
          <p:cNvPr id="15" name="Text 13"/>
          <p:cNvSpPr/>
          <p:nvPr/>
        </p:nvSpPr>
        <p:spPr>
          <a:xfrm>
            <a:off x="548640" y="4937760"/>
            <a:ext cx="640080" cy="640080"/>
          </a:xfrm>
          <a:prstGeom prst="rect">
            <a:avLst/>
          </a:prstGeom>
          <a:noFill/>
          <a:ln/>
        </p:spPr>
        <p:txBody>
          <a:bodyPr wrap="square" rtlCol="0" anchor="ctr"/>
          <a:lstStyle/>
          <a:p>
            <a:pPr algn="ctr" indent="0" marL="0">
              <a:buNone/>
            </a:pPr>
            <a:r>
              <a:rPr lang="en-US" sz="1300" b="1" dirty="0">
                <a:solidFill>
                  <a:srgbClr val="FFFFFF"/>
                </a:solidFill>
                <a:latin typeface="Roboto" pitchFamily="34" charset="0"/>
                <a:ea typeface="Roboto" pitchFamily="34" charset="-122"/>
                <a:cs typeface="Roboto" pitchFamily="34" charset="-120"/>
              </a:rPr>
              <a:t>03</a:t>
            </a:r>
            <a:endParaRPr lang="en-US" sz="1300" dirty="0"/>
          </a:p>
        </p:txBody>
      </p:sp>
      <p:sp>
        <p:nvSpPr>
          <p:cNvPr id="16" name="Text 14"/>
          <p:cNvSpPr/>
          <p:nvPr/>
        </p:nvSpPr>
        <p:spPr>
          <a:xfrm>
            <a:off x="1371600" y="4892040"/>
            <a:ext cx="10058400" cy="365760"/>
          </a:xfrm>
          <a:prstGeom prst="rect">
            <a:avLst/>
          </a:prstGeom>
          <a:noFill/>
          <a:ln/>
        </p:spPr>
        <p:txBody>
          <a:bodyPr wrap="square" rtlCol="0" anchor="ctr"/>
          <a:lstStyle/>
          <a:p>
            <a:pPr indent="0" marL="0">
              <a:buNone/>
            </a:pPr>
            <a:r>
              <a:rPr lang="en-US" sz="1400" b="1" dirty="0">
                <a:solidFill>
                  <a:srgbClr val="0A3454"/>
                </a:solidFill>
                <a:latin typeface="Roboto" pitchFamily="34" charset="0"/>
                <a:ea typeface="Roboto" pitchFamily="34" charset="-122"/>
                <a:cs typeface="Roboto" pitchFamily="34" charset="-120"/>
              </a:rPr>
              <a:t>They turn a good day into a lasting shift</a:t>
            </a:r>
            <a:endParaRPr lang="en-US" sz="1400" dirty="0"/>
          </a:p>
        </p:txBody>
      </p:sp>
      <p:sp>
        <p:nvSpPr>
          <p:cNvPr id="17" name="Text 15"/>
          <p:cNvSpPr/>
          <p:nvPr/>
        </p:nvSpPr>
        <p:spPr>
          <a:xfrm>
            <a:off x="1371600" y="5257800"/>
            <a:ext cx="10058400" cy="640080"/>
          </a:xfrm>
          <a:prstGeom prst="rect">
            <a:avLst/>
          </a:prstGeom>
          <a:noFill/>
          <a:ln/>
        </p:spPr>
        <p:txBody>
          <a:bodyPr wrap="square" rtlCol="0" anchor="ctr"/>
          <a:lstStyle/>
          <a:p>
            <a:pPr indent="0" marL="0">
              <a:lnSpc>
                <a:spcPct val="130000"/>
              </a:lnSpc>
              <a:buNone/>
            </a:pPr>
            <a:r>
              <a:rPr lang="en-US" sz="1100" dirty="0">
                <a:solidFill>
                  <a:srgbClr val="404040"/>
                </a:solidFill>
                <a:latin typeface="Roboto" pitchFamily="34" charset="0"/>
                <a:ea typeface="Roboto" pitchFamily="34" charset="-122"/>
                <a:cs typeface="Roboto" pitchFamily="34" charset="-120"/>
              </a:rPr>
              <a:t>A structured debrief within 40 minutes [2] uses the gap between expectation and reality [4] as the mechanism for prosocial identity change [5]. The result is a shift in how someone understands themselves.</a:t>
            </a:r>
            <a:endParaRPr lang="en-US" sz="1100" dirty="0"/>
          </a:p>
        </p:txBody>
      </p:sp>
      <p:sp>
        <p:nvSpPr>
          <p:cNvPr id="18" name="Shape 16"/>
          <p:cNvSpPr/>
          <p:nvPr/>
        </p:nvSpPr>
        <p:spPr>
          <a:xfrm>
            <a:off x="548640" y="6355080"/>
            <a:ext cx="11094415" cy="0"/>
          </a:xfrm>
          <a:prstGeom prst="line">
            <a:avLst/>
          </a:prstGeom>
          <a:noFill/>
          <a:ln w="6350">
            <a:solidFill>
              <a:srgbClr val="C2C2C6"/>
            </a:solidFill>
            <a:prstDash val="solid"/>
          </a:ln>
        </p:spPr>
        <p:txBody>
          <a:bodyPr/>
          <a:p/>
        </p:txBody>
      </p:sp>
      <p:sp>
        <p:nvSpPr>
          <p:cNvPr id="19" name="Text 1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20" name="Text 1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8"/>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THREE AUDIENCES, THREE OUTCOMES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600" b="1" dirty="0">
                <a:solidFill>
                  <a:srgbClr val="3C3F44"/>
                </a:solidFill>
                <a:latin typeface="Roboto" pitchFamily="34" charset="0"/>
                <a:ea typeface="Roboto" pitchFamily="34" charset="-122"/>
                <a:cs typeface="Roboto" pitchFamily="34" charset="-120"/>
              </a:rPr>
              <a:t>What changes for the employee, the company, and the community</a:t>
            </a:r>
            <a:endParaRPr lang="en-US" sz="2600" dirty="0"/>
          </a:p>
        </p:txBody>
      </p:sp>
      <p:sp>
        <p:nvSpPr>
          <p:cNvPr id="4" name="Shape 2"/>
          <p:cNvSpPr/>
          <p:nvPr/>
        </p:nvSpPr>
        <p:spPr>
          <a:xfrm>
            <a:off x="548640" y="1874520"/>
            <a:ext cx="914400" cy="0"/>
          </a:xfrm>
          <a:prstGeom prst="line">
            <a:avLst/>
          </a:prstGeom>
          <a:noFill/>
          <a:ln w="38100">
            <a:solidFill>
              <a:srgbClr val="EC5C2A"/>
            </a:solidFill>
            <a:prstDash val="solid"/>
          </a:ln>
        </p:spPr>
      </p:sp>
      <p:sp>
        <p:nvSpPr>
          <p:cNvPr id="5" name="Shape 3"/>
          <p:cNvSpPr/>
          <p:nvPr/>
        </p:nvSpPr>
        <p:spPr>
          <a:xfrm>
            <a:off x="548640" y="2194560"/>
            <a:ext cx="3657600" cy="4023360"/>
          </a:xfrm>
          <a:prstGeom prst="rect">
            <a:avLst/>
          </a:prstGeom>
          <a:solidFill>
            <a:srgbClr val="FFFFFF"/>
          </a:solidFill>
          <a:ln w="6350">
            <a:solidFill>
              <a:srgbClr val="C2C2C6"/>
            </a:solidFill>
            <a:prstDash val="solid"/>
          </a:ln>
        </p:spPr>
      </p:sp>
      <p:sp>
        <p:nvSpPr>
          <p:cNvPr id="6" name="Shape 4"/>
          <p:cNvSpPr/>
          <p:nvPr/>
        </p:nvSpPr>
        <p:spPr>
          <a:xfrm>
            <a:off x="822960" y="2423160"/>
            <a:ext cx="548640" cy="548640"/>
          </a:xfrm>
          <a:prstGeom prst="ellipse">
            <a:avLst/>
          </a:prstGeom>
          <a:solidFill>
            <a:srgbClr val="B8D8DC"/>
          </a:solidFill>
          <a:ln w="12700">
            <a:solidFill>
              <a:srgbClr val="B8D8DC"/>
            </a:solidFill>
            <a:prstDash val="solid"/>
          </a:ln>
        </p:spPr>
      </p:sp>
      <p:sp>
        <p:nvSpPr>
          <p:cNvPr id="7" name="Shape 5"/>
          <p:cNvSpPr/>
          <p:nvPr/>
        </p:nvSpPr>
        <p:spPr>
          <a:xfrm>
            <a:off x="932688" y="2532888"/>
            <a:ext cx="329184" cy="329184"/>
          </a:xfrm>
          <a:prstGeom prst="ellipse">
            <a:avLst/>
          </a:prstGeom>
          <a:solidFill>
            <a:srgbClr val="EC5C2A"/>
          </a:solidFill>
          <a:ln w="12700">
            <a:solidFill>
              <a:srgbClr val="EC5C2A"/>
            </a:solidFill>
            <a:prstDash val="solid"/>
          </a:ln>
        </p:spPr>
      </p:sp>
      <p:sp>
        <p:nvSpPr>
          <p:cNvPr id="8" name="Text 6"/>
          <p:cNvSpPr/>
          <p:nvPr/>
        </p:nvSpPr>
        <p:spPr>
          <a:xfrm>
            <a:off x="822960" y="3108960"/>
            <a:ext cx="3200400" cy="274320"/>
          </a:xfrm>
          <a:prstGeom prst="rect">
            <a:avLst/>
          </a:prstGeom>
          <a:noFill/>
          <a:ln/>
        </p:spPr>
        <p:txBody>
          <a:bodyPr wrap="square" rtlCol="0" anchor="ctr"/>
          <a:lstStyle/>
          <a:p>
            <a:pPr indent="0" marL="0">
              <a:buNone/>
            </a:pPr>
            <a:r>
              <a:rPr lang="en-US" sz="900" b="1" spc="400" kern="0" dirty="0">
                <a:solidFill>
                  <a:srgbClr val="EC5C2A"/>
                </a:solidFill>
                <a:latin typeface="Roboto Condensed" pitchFamily="34" charset="0"/>
                <a:ea typeface="Roboto Condensed" pitchFamily="34" charset="-122"/>
                <a:cs typeface="Roboto Condensed" pitchFamily="34" charset="-120"/>
              </a:rPr>
              <a:t>FOR THE EMPLOYEE</a:t>
            </a:r>
            <a:endParaRPr lang="en-US" sz="900" dirty="0"/>
          </a:p>
        </p:txBody>
      </p:sp>
      <p:sp>
        <p:nvSpPr>
          <p:cNvPr id="9" name="Text 7"/>
          <p:cNvSpPr/>
          <p:nvPr/>
        </p:nvSpPr>
        <p:spPr>
          <a:xfrm>
            <a:off x="822960" y="3383280"/>
            <a:ext cx="3200400" cy="548640"/>
          </a:xfrm>
          <a:prstGeom prst="rect">
            <a:avLst/>
          </a:prstGeom>
          <a:noFill/>
          <a:ln/>
        </p:spPr>
        <p:txBody>
          <a:bodyPr wrap="square" rtlCol="0" anchor="ctr"/>
          <a:lstStyle/>
          <a:p>
            <a:pPr indent="0" marL="0">
              <a:buNone/>
            </a:pPr>
            <a:r>
              <a:rPr lang="en-US" sz="1600" b="1" dirty="0">
                <a:solidFill>
                  <a:srgbClr val="0A3454"/>
                </a:solidFill>
                <a:latin typeface="Roboto" pitchFamily="34" charset="0"/>
                <a:ea typeface="Roboto" pitchFamily="34" charset="-122"/>
                <a:cs typeface="Roboto" pitchFamily="34" charset="-120"/>
              </a:rPr>
              <a:t>The person who attends</a:t>
            </a:r>
            <a:endParaRPr lang="en-US" sz="1600" dirty="0"/>
          </a:p>
        </p:txBody>
      </p:sp>
      <p:sp>
        <p:nvSpPr>
          <p:cNvPr id="10" name="Text 8"/>
          <p:cNvSpPr/>
          <p:nvPr/>
        </p:nvSpPr>
        <p:spPr>
          <a:xfrm>
            <a:off x="822960" y="4023360"/>
            <a:ext cx="3200400" cy="2103120"/>
          </a:xfrm>
          <a:prstGeom prst="rect">
            <a:avLst/>
          </a:prstGeom>
          <a:noFill/>
          <a:ln/>
        </p:spPr>
        <p:txBody>
          <a:bodyPr wrap="square" rtlCol="0" anchor="ctr"/>
          <a:lstStyle/>
          <a:p>
            <a:pPr indent="0" marL="0">
              <a:lnSpc>
                <a:spcPct val="140000"/>
              </a:lnSpc>
              <a:buNone/>
            </a:pPr>
            <a:r>
              <a:rPr lang="en-US" sz="1100" dirty="0">
                <a:solidFill>
                  <a:srgbClr val="404040"/>
                </a:solidFill>
                <a:latin typeface="Roboto" pitchFamily="34" charset="0"/>
                <a:ea typeface="Roboto" pitchFamily="34" charset="-122"/>
                <a:cs typeface="Roboto" pitchFamily="34" charset="-120"/>
              </a:rPr>
              <a:t>Prosocial identity change [5] generalizes across life domains [13]. Employees move from 'I did a good thing' to 'this is part of who I am'. The shift persists because it is identity-level, not task-level.</a:t>
            </a:r>
            <a:endParaRPr lang="en-US" sz="1100" dirty="0"/>
          </a:p>
        </p:txBody>
      </p:sp>
      <p:sp>
        <p:nvSpPr>
          <p:cNvPr id="11" name="Shape 9"/>
          <p:cNvSpPr/>
          <p:nvPr/>
        </p:nvSpPr>
        <p:spPr>
          <a:xfrm>
            <a:off x="4434840" y="2194560"/>
            <a:ext cx="3657600" cy="4023360"/>
          </a:xfrm>
          <a:prstGeom prst="rect">
            <a:avLst/>
          </a:prstGeom>
          <a:solidFill>
            <a:srgbClr val="FFFFFF"/>
          </a:solidFill>
          <a:ln w="6350">
            <a:solidFill>
              <a:srgbClr val="C2C2C6"/>
            </a:solidFill>
            <a:prstDash val="solid"/>
          </a:ln>
        </p:spPr>
      </p:sp>
      <p:sp>
        <p:nvSpPr>
          <p:cNvPr id="12" name="Shape 10"/>
          <p:cNvSpPr/>
          <p:nvPr/>
        </p:nvSpPr>
        <p:spPr>
          <a:xfrm>
            <a:off x="4709160" y="2423160"/>
            <a:ext cx="548640" cy="548640"/>
          </a:xfrm>
          <a:prstGeom prst="ellipse">
            <a:avLst/>
          </a:prstGeom>
          <a:solidFill>
            <a:srgbClr val="B8D8DC"/>
          </a:solidFill>
          <a:ln w="12700">
            <a:solidFill>
              <a:srgbClr val="B8D8DC"/>
            </a:solidFill>
            <a:prstDash val="solid"/>
          </a:ln>
        </p:spPr>
      </p:sp>
      <p:sp>
        <p:nvSpPr>
          <p:cNvPr id="13" name="Shape 11"/>
          <p:cNvSpPr/>
          <p:nvPr/>
        </p:nvSpPr>
        <p:spPr>
          <a:xfrm>
            <a:off x="4818888" y="2532888"/>
            <a:ext cx="329184" cy="329184"/>
          </a:xfrm>
          <a:prstGeom prst="ellipse">
            <a:avLst/>
          </a:prstGeom>
          <a:solidFill>
            <a:srgbClr val="EC5C2A"/>
          </a:solidFill>
          <a:ln w="12700">
            <a:solidFill>
              <a:srgbClr val="EC5C2A"/>
            </a:solidFill>
            <a:prstDash val="solid"/>
          </a:ln>
        </p:spPr>
      </p:sp>
      <p:sp>
        <p:nvSpPr>
          <p:cNvPr id="14" name="Text 12"/>
          <p:cNvSpPr/>
          <p:nvPr/>
        </p:nvSpPr>
        <p:spPr>
          <a:xfrm>
            <a:off x="4709160" y="3108960"/>
            <a:ext cx="3200400" cy="274320"/>
          </a:xfrm>
          <a:prstGeom prst="rect">
            <a:avLst/>
          </a:prstGeom>
          <a:noFill/>
          <a:ln/>
        </p:spPr>
        <p:txBody>
          <a:bodyPr wrap="square" rtlCol="0" anchor="ctr"/>
          <a:lstStyle/>
          <a:p>
            <a:pPr indent="0" marL="0">
              <a:buNone/>
            </a:pPr>
            <a:r>
              <a:rPr lang="en-US" sz="900" b="1" spc="400" kern="0" dirty="0">
                <a:solidFill>
                  <a:srgbClr val="EC5C2A"/>
                </a:solidFill>
                <a:latin typeface="Roboto Condensed" pitchFamily="34" charset="0"/>
                <a:ea typeface="Roboto Condensed" pitchFamily="34" charset="-122"/>
                <a:cs typeface="Roboto Condensed" pitchFamily="34" charset="-120"/>
              </a:rPr>
              <a:t>FOR THE COMPANY</a:t>
            </a:r>
            <a:endParaRPr lang="en-US" sz="900" dirty="0"/>
          </a:p>
        </p:txBody>
      </p:sp>
      <p:sp>
        <p:nvSpPr>
          <p:cNvPr id="15" name="Text 13"/>
          <p:cNvSpPr/>
          <p:nvPr/>
        </p:nvSpPr>
        <p:spPr>
          <a:xfrm>
            <a:off x="4709160" y="3383280"/>
            <a:ext cx="3200400" cy="548640"/>
          </a:xfrm>
          <a:prstGeom prst="rect">
            <a:avLst/>
          </a:prstGeom>
          <a:noFill/>
          <a:ln/>
        </p:spPr>
        <p:txBody>
          <a:bodyPr wrap="square" rtlCol="0" anchor="ctr"/>
          <a:lstStyle/>
          <a:p>
            <a:pPr indent="0" marL="0">
              <a:buNone/>
            </a:pPr>
            <a:r>
              <a:rPr lang="en-US" sz="1600" b="1" dirty="0">
                <a:solidFill>
                  <a:srgbClr val="0A3454"/>
                </a:solidFill>
                <a:latin typeface="Roboto" pitchFamily="34" charset="0"/>
                <a:ea typeface="Roboto" pitchFamily="34" charset="-122"/>
                <a:cs typeface="Roboto" pitchFamily="34" charset="-120"/>
              </a:rPr>
              <a:t>The organization that invests</a:t>
            </a:r>
            <a:endParaRPr lang="en-US" sz="1600" dirty="0"/>
          </a:p>
        </p:txBody>
      </p:sp>
      <p:sp>
        <p:nvSpPr>
          <p:cNvPr id="16" name="Text 14"/>
          <p:cNvSpPr/>
          <p:nvPr/>
        </p:nvSpPr>
        <p:spPr>
          <a:xfrm>
            <a:off x="4709160" y="4023360"/>
            <a:ext cx="3200400" cy="2103120"/>
          </a:xfrm>
          <a:prstGeom prst="rect">
            <a:avLst/>
          </a:prstGeom>
          <a:noFill/>
          <a:ln/>
        </p:spPr>
        <p:txBody>
          <a:bodyPr wrap="square" rtlCol="0" anchor="ctr"/>
          <a:lstStyle/>
          <a:p>
            <a:pPr indent="0" marL="0">
              <a:lnSpc>
                <a:spcPct val="140000"/>
              </a:lnSpc>
              <a:buNone/>
            </a:pPr>
            <a:r>
              <a:rPr lang="en-US" sz="1100" dirty="0">
                <a:solidFill>
                  <a:srgbClr val="404040"/>
                </a:solidFill>
                <a:latin typeface="Roboto" pitchFamily="34" charset="0"/>
                <a:ea typeface="Roboto" pitchFamily="34" charset="-122"/>
                <a:cs typeface="Roboto" pitchFamily="34" charset="-120"/>
              </a:rPr>
              <a:t>When prosocial identity is supported by the employer, the company becomes associated with that part of the self-concept [6]. Brand perception built on internalized identity is qualitatively different from perception built on messaging.</a:t>
            </a:r>
            <a:endParaRPr lang="en-US" sz="1100" dirty="0"/>
          </a:p>
        </p:txBody>
      </p:sp>
      <p:sp>
        <p:nvSpPr>
          <p:cNvPr id="17" name="Shape 15"/>
          <p:cNvSpPr/>
          <p:nvPr/>
        </p:nvSpPr>
        <p:spPr>
          <a:xfrm>
            <a:off x="8321040" y="2194560"/>
            <a:ext cx="3657600" cy="4023360"/>
          </a:xfrm>
          <a:prstGeom prst="rect">
            <a:avLst/>
          </a:prstGeom>
          <a:solidFill>
            <a:srgbClr val="FFFFFF"/>
          </a:solidFill>
          <a:ln w="6350">
            <a:solidFill>
              <a:srgbClr val="C2C2C6"/>
            </a:solidFill>
            <a:prstDash val="solid"/>
          </a:ln>
        </p:spPr>
      </p:sp>
      <p:sp>
        <p:nvSpPr>
          <p:cNvPr id="18" name="Shape 16"/>
          <p:cNvSpPr/>
          <p:nvPr/>
        </p:nvSpPr>
        <p:spPr>
          <a:xfrm>
            <a:off x="8595360" y="2423160"/>
            <a:ext cx="548640" cy="548640"/>
          </a:xfrm>
          <a:prstGeom prst="ellipse">
            <a:avLst/>
          </a:prstGeom>
          <a:solidFill>
            <a:srgbClr val="B8D8DC"/>
          </a:solidFill>
          <a:ln w="12700">
            <a:solidFill>
              <a:srgbClr val="B8D8DC"/>
            </a:solidFill>
            <a:prstDash val="solid"/>
          </a:ln>
        </p:spPr>
      </p:sp>
      <p:sp>
        <p:nvSpPr>
          <p:cNvPr id="19" name="Shape 17"/>
          <p:cNvSpPr/>
          <p:nvPr/>
        </p:nvSpPr>
        <p:spPr>
          <a:xfrm>
            <a:off x="8705088" y="2532888"/>
            <a:ext cx="329184" cy="329184"/>
          </a:xfrm>
          <a:prstGeom prst="ellipse">
            <a:avLst/>
          </a:prstGeom>
          <a:solidFill>
            <a:srgbClr val="EC5C2A"/>
          </a:solidFill>
          <a:ln w="12700">
            <a:solidFill>
              <a:srgbClr val="EC5C2A"/>
            </a:solidFill>
            <a:prstDash val="solid"/>
          </a:ln>
        </p:spPr>
      </p:sp>
      <p:sp>
        <p:nvSpPr>
          <p:cNvPr id="20" name="Text 18"/>
          <p:cNvSpPr/>
          <p:nvPr/>
        </p:nvSpPr>
        <p:spPr>
          <a:xfrm>
            <a:off x="8595360" y="3108960"/>
            <a:ext cx="3200400" cy="274320"/>
          </a:xfrm>
          <a:prstGeom prst="rect">
            <a:avLst/>
          </a:prstGeom>
          <a:noFill/>
          <a:ln/>
        </p:spPr>
        <p:txBody>
          <a:bodyPr wrap="square" rtlCol="0" anchor="ctr"/>
          <a:lstStyle/>
          <a:p>
            <a:pPr indent="0" marL="0">
              <a:buNone/>
            </a:pPr>
            <a:r>
              <a:rPr lang="en-US" sz="900" b="1" spc="400" kern="0" dirty="0">
                <a:solidFill>
                  <a:srgbClr val="EC5C2A"/>
                </a:solidFill>
                <a:latin typeface="Roboto Condensed" pitchFamily="34" charset="0"/>
                <a:ea typeface="Roboto Condensed" pitchFamily="34" charset="-122"/>
                <a:cs typeface="Roboto Condensed" pitchFamily="34" charset="-120"/>
              </a:rPr>
              <a:t>FOR THE COMMUNITY</a:t>
            </a:r>
            <a:endParaRPr lang="en-US" sz="900" dirty="0"/>
          </a:p>
        </p:txBody>
      </p:sp>
      <p:sp>
        <p:nvSpPr>
          <p:cNvPr id="21" name="Text 19"/>
          <p:cNvSpPr/>
          <p:nvPr/>
        </p:nvSpPr>
        <p:spPr>
          <a:xfrm>
            <a:off x="8595360" y="3383280"/>
            <a:ext cx="3200400" cy="548640"/>
          </a:xfrm>
          <a:prstGeom prst="rect">
            <a:avLst/>
          </a:prstGeom>
          <a:noFill/>
          <a:ln/>
        </p:spPr>
        <p:txBody>
          <a:bodyPr wrap="square" rtlCol="0" anchor="ctr"/>
          <a:lstStyle/>
          <a:p>
            <a:pPr indent="0" marL="0">
              <a:buNone/>
            </a:pPr>
            <a:r>
              <a:rPr lang="en-US" sz="1600" b="1" dirty="0">
                <a:solidFill>
                  <a:srgbClr val="0A3454"/>
                </a:solidFill>
                <a:latin typeface="Roboto" pitchFamily="34" charset="0"/>
                <a:ea typeface="Roboto" pitchFamily="34" charset="-122"/>
                <a:cs typeface="Roboto" pitchFamily="34" charset="-120"/>
              </a:rPr>
              <a:t>The nonprofits served</a:t>
            </a:r>
            <a:endParaRPr lang="en-US" sz="1600" dirty="0"/>
          </a:p>
        </p:txBody>
      </p:sp>
      <p:sp>
        <p:nvSpPr>
          <p:cNvPr id="22" name="Text 20"/>
          <p:cNvSpPr/>
          <p:nvPr/>
        </p:nvSpPr>
        <p:spPr>
          <a:xfrm>
            <a:off x="8595360" y="4023360"/>
            <a:ext cx="3200400" cy="2103120"/>
          </a:xfrm>
          <a:prstGeom prst="rect">
            <a:avLst/>
          </a:prstGeom>
          <a:noFill/>
          <a:ln/>
        </p:spPr>
        <p:txBody>
          <a:bodyPr wrap="square" rtlCol="0" anchor="ctr"/>
          <a:lstStyle/>
          <a:p>
            <a:pPr indent="0" marL="0">
              <a:lnSpc>
                <a:spcPct val="140000"/>
              </a:lnSpc>
              <a:buNone/>
            </a:pPr>
            <a:r>
              <a:rPr lang="en-US" sz="1100" dirty="0">
                <a:solidFill>
                  <a:srgbClr val="404040"/>
                </a:solidFill>
                <a:latin typeface="Roboto" pitchFamily="34" charset="0"/>
                <a:ea typeface="Roboto" pitchFamily="34" charset="-122"/>
                <a:cs typeface="Roboto" pitchFamily="34" charset="-120"/>
              </a:rPr>
              <a:t>Projects scoped around actual need [11]. Volunteers oriented toward the work. Reciprocal, recurring relationships [12] that produce sustained connection rather than photo opportunities.</a:t>
            </a:r>
            <a:endParaRPr lang="en-US" sz="1100" dirty="0"/>
          </a:p>
        </p:txBody>
      </p:sp>
      <p:sp>
        <p:nvSpPr>
          <p:cNvPr id="23" name="Shape 21"/>
          <p:cNvSpPr/>
          <p:nvPr/>
        </p:nvSpPr>
        <p:spPr>
          <a:xfrm>
            <a:off x="548640" y="6355080"/>
            <a:ext cx="11094415" cy="0"/>
          </a:xfrm>
          <a:prstGeom prst="line">
            <a:avLst/>
          </a:prstGeom>
          <a:noFill/>
          <a:ln w="6350">
            <a:solidFill>
              <a:srgbClr val="C2C2C6"/>
            </a:solidFill>
            <a:prstDash val="solid"/>
          </a:ln>
        </p:spPr>
      </p:sp>
      <p:sp>
        <p:nvSpPr>
          <p:cNvPr id="24" name="Text 22"/>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25" name="Text 23"/>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RIPPLE EFFECT AT SCALE</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400" b="1" dirty="0">
                <a:solidFill>
                  <a:srgbClr val="3C3F44"/>
                </a:solidFill>
                <a:latin typeface="Roboto" pitchFamily="34" charset="0"/>
                <a:ea typeface="Roboto" pitchFamily="34" charset="-122"/>
                <a:cs typeface="Roboto" pitchFamily="34" charset="-120"/>
              </a:rPr>
              <a:t>What six trained champions can change about a global program.</a:t>
            </a:r>
            <a:endParaRPr lang="en-US" sz="24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5669280" cy="3840480"/>
          </a:xfrm>
          <a:prstGeom prst="rect">
            <a:avLst/>
          </a:prstGeom>
          <a:noFill/>
          <a:ln/>
        </p:spPr>
        <p:txBody>
          <a:bodyPr wrap="square" rtlCol="0" anchor="ctr"/>
          <a:lstStyle/>
          <a:p>
            <a:pPr indent="0" marL="0">
              <a:lnSpc>
                <a:spcPct val="150000"/>
              </a:lnSpc>
              <a:buNone/>
            </a:pPr>
            <a:r>
              <a:rPr lang="en-US" sz="1300" dirty="0">
                <a:solidFill>
                  <a:srgbClr val="404040"/>
                </a:solidFill>
                <a:latin typeface="Roboto" pitchFamily="34" charset="0"/>
                <a:ea typeface="Roboto" pitchFamily="34" charset="-122"/>
                <a:cs typeface="Roboto" pitchFamily="34" charset="-120"/>
              </a:rPr>
              <a:t>Six trained champions return with a repeatable framework for Transformative Volunteering. They run it in their own programs and they coach peers across regions. The point of the cohort is not the six people. It is the model they become for the wider champion community, and the path that creates from quantity to quality.</a:t>
            </a:r>
            <a:endParaRPr lang="en-US" sz="1300" dirty="0"/>
          </a:p>
        </p:txBody>
      </p:sp>
      <p:sp>
        <p:nvSpPr>
          <p:cNvPr id="6" name="Shape 4"/>
          <p:cNvSpPr/>
          <p:nvPr/>
        </p:nvSpPr>
        <p:spPr>
          <a:xfrm>
            <a:off x="6583680" y="2194560"/>
            <a:ext cx="5120640" cy="3657600"/>
          </a:xfrm>
          <a:prstGeom prst="rect">
            <a:avLst/>
          </a:prstGeom>
          <a:solidFill>
            <a:srgbClr val="F6F7F8"/>
          </a:solidFill>
          <a:ln w="6350">
            <a:solidFill>
              <a:srgbClr val="C2C2C6"/>
            </a:solidFill>
            <a:prstDash val="solid"/>
          </a:ln>
        </p:spPr>
      </p:sp>
      <p:sp>
        <p:nvSpPr>
          <p:cNvPr id="7" name="Text 5"/>
          <p:cNvSpPr/>
          <p:nvPr/>
        </p:nvSpPr>
        <p:spPr>
          <a:xfrm>
            <a:off x="6766560" y="2331720"/>
            <a:ext cx="4754880" cy="274320"/>
          </a:xfrm>
          <a:prstGeom prst="rect">
            <a:avLst/>
          </a:prstGeom>
          <a:noFill/>
          <a:ln/>
        </p:spPr>
        <p:txBody>
          <a:bodyPr wrap="square" rtlCol="0" anchor="ctr"/>
          <a:lstStyle/>
          <a:p>
            <a:pPr indent="0" marL="0">
              <a:buNone/>
            </a:pPr>
            <a:r>
              <a:rPr lang="en-US" sz="900" b="1" spc="400" kern="0" dirty="0">
                <a:solidFill>
                  <a:srgbClr val="EC5C2A"/>
                </a:solidFill>
                <a:latin typeface="Roboto Condensed" pitchFamily="34" charset="0"/>
                <a:ea typeface="Roboto Condensed" pitchFamily="34" charset="-122"/>
                <a:cs typeface="Roboto Condensed" pitchFamily="34" charset="-120"/>
              </a:rPr>
              <a:t>EVENTS TOUCHED PER YEAR</a:t>
            </a:r>
            <a:endParaRPr lang="en-US" sz="900" dirty="0"/>
          </a:p>
        </p:txBody>
      </p:sp>
      <p:sp>
        <p:nvSpPr>
          <p:cNvPr id="8" name="Shape 6"/>
          <p:cNvSpPr/>
          <p:nvPr/>
        </p:nvSpPr>
        <p:spPr>
          <a:xfrm>
            <a:off x="7040880" y="5210937"/>
            <a:ext cx="548640" cy="92583"/>
          </a:xfrm>
          <a:prstGeom prst="rect">
            <a:avLst/>
          </a:prstGeom>
          <a:solidFill>
            <a:srgbClr val="7FB5C2"/>
          </a:solidFill>
          <a:ln w="12700">
            <a:solidFill>
              <a:srgbClr val="7FB5C2"/>
            </a:solidFill>
            <a:prstDash val="solid"/>
          </a:ln>
        </p:spPr>
      </p:sp>
      <p:sp>
        <p:nvSpPr>
          <p:cNvPr id="9" name="Shape 7"/>
          <p:cNvSpPr/>
          <p:nvPr/>
        </p:nvSpPr>
        <p:spPr>
          <a:xfrm>
            <a:off x="7680960" y="4748022"/>
            <a:ext cx="548640" cy="555498"/>
          </a:xfrm>
          <a:prstGeom prst="rect">
            <a:avLst/>
          </a:prstGeom>
          <a:solidFill>
            <a:srgbClr val="EC5C2A"/>
          </a:solidFill>
          <a:ln w="12700">
            <a:solidFill>
              <a:srgbClr val="EC5C2A"/>
            </a:solidFill>
            <a:prstDash val="solid"/>
          </a:ln>
        </p:spPr>
      </p:sp>
      <p:sp>
        <p:nvSpPr>
          <p:cNvPr id="10" name="Text 8"/>
          <p:cNvSpPr/>
          <p:nvPr/>
        </p:nvSpPr>
        <p:spPr>
          <a:xfrm>
            <a:off x="6858000" y="5349240"/>
            <a:ext cx="1554480" cy="274320"/>
          </a:xfrm>
          <a:prstGeom prst="rect">
            <a:avLst/>
          </a:prstGeom>
          <a:noFill/>
          <a:ln/>
        </p:spPr>
        <p:txBody>
          <a:bodyPr wrap="square" rtlCol="0" anchor="ctr"/>
          <a:lstStyle/>
          <a:p>
            <a:pPr algn="ctr" indent="0" marL="0">
              <a:buNone/>
            </a:pPr>
            <a:r>
              <a:rPr lang="en-US" sz="1000" b="1" dirty="0">
                <a:solidFill>
                  <a:srgbClr val="0A3454"/>
                </a:solidFill>
                <a:latin typeface="Roboto Condensed" pitchFamily="34" charset="0"/>
                <a:ea typeface="Roboto Condensed" pitchFamily="34" charset="-122"/>
                <a:cs typeface="Roboto Condensed" pitchFamily="34" charset="-120"/>
              </a:rPr>
              <a:t>6-pack</a:t>
            </a:r>
            <a:endParaRPr lang="en-US" sz="1000" dirty="0"/>
          </a:p>
        </p:txBody>
      </p:sp>
      <p:sp>
        <p:nvSpPr>
          <p:cNvPr id="11" name="Text 9"/>
          <p:cNvSpPr/>
          <p:nvPr/>
        </p:nvSpPr>
        <p:spPr>
          <a:xfrm>
            <a:off x="7680960" y="4473702"/>
            <a:ext cx="548640" cy="274320"/>
          </a:xfrm>
          <a:prstGeom prst="rect">
            <a:avLst/>
          </a:prstGeom>
          <a:noFill/>
          <a:ln/>
        </p:spPr>
        <p:txBody>
          <a:bodyPr wrap="square" rtlCol="0" anchor="ctr"/>
          <a:lstStyle/>
          <a:p>
            <a:pPr algn="ctr" indent="0" marL="0">
              <a:buNone/>
            </a:pPr>
            <a:r>
              <a:rPr lang="en-US" sz="1000" b="1" dirty="0">
                <a:solidFill>
                  <a:srgbClr val="EC5C2A"/>
                </a:solidFill>
                <a:latin typeface="Roboto" pitchFamily="34" charset="0"/>
                <a:ea typeface="Roboto" pitchFamily="34" charset="-122"/>
                <a:cs typeface="Roboto" pitchFamily="34" charset="-120"/>
              </a:rPr>
              <a:t>180</a:t>
            </a:r>
            <a:endParaRPr lang="en-US" sz="1000" dirty="0"/>
          </a:p>
        </p:txBody>
      </p:sp>
      <p:sp>
        <p:nvSpPr>
          <p:cNvPr id="12" name="Shape 10"/>
          <p:cNvSpPr/>
          <p:nvPr/>
        </p:nvSpPr>
        <p:spPr>
          <a:xfrm>
            <a:off x="8595360" y="5118354"/>
            <a:ext cx="548640" cy="185166"/>
          </a:xfrm>
          <a:prstGeom prst="rect">
            <a:avLst/>
          </a:prstGeom>
          <a:solidFill>
            <a:srgbClr val="7FB5C2"/>
          </a:solidFill>
          <a:ln w="12700">
            <a:solidFill>
              <a:srgbClr val="7FB5C2"/>
            </a:solidFill>
            <a:prstDash val="solid"/>
          </a:ln>
        </p:spPr>
      </p:sp>
      <p:sp>
        <p:nvSpPr>
          <p:cNvPr id="13" name="Shape 11"/>
          <p:cNvSpPr/>
          <p:nvPr/>
        </p:nvSpPr>
        <p:spPr>
          <a:xfrm>
            <a:off x="9235440" y="4007358"/>
            <a:ext cx="548640" cy="1296162"/>
          </a:xfrm>
          <a:prstGeom prst="rect">
            <a:avLst/>
          </a:prstGeom>
          <a:solidFill>
            <a:srgbClr val="EC5C2A"/>
          </a:solidFill>
          <a:ln w="12700">
            <a:solidFill>
              <a:srgbClr val="EC5C2A"/>
            </a:solidFill>
            <a:prstDash val="solid"/>
          </a:ln>
        </p:spPr>
      </p:sp>
      <p:sp>
        <p:nvSpPr>
          <p:cNvPr id="14" name="Text 12"/>
          <p:cNvSpPr/>
          <p:nvPr/>
        </p:nvSpPr>
        <p:spPr>
          <a:xfrm>
            <a:off x="8412480" y="5349240"/>
            <a:ext cx="1554480" cy="274320"/>
          </a:xfrm>
          <a:prstGeom prst="rect">
            <a:avLst/>
          </a:prstGeom>
          <a:noFill/>
          <a:ln/>
        </p:spPr>
        <p:txBody>
          <a:bodyPr wrap="square" rtlCol="0" anchor="ctr"/>
          <a:lstStyle/>
          <a:p>
            <a:pPr algn="ctr" indent="0" marL="0">
              <a:buNone/>
            </a:pPr>
            <a:r>
              <a:rPr lang="en-US" sz="1000" b="1" dirty="0">
                <a:solidFill>
                  <a:srgbClr val="0A3454"/>
                </a:solidFill>
                <a:latin typeface="Roboto Condensed" pitchFamily="34" charset="0"/>
                <a:ea typeface="Roboto Condensed" pitchFamily="34" charset="-122"/>
                <a:cs typeface="Roboto Condensed" pitchFamily="34" charset="-120"/>
              </a:rPr>
              <a:t>12-pack</a:t>
            </a:r>
            <a:endParaRPr lang="en-US" sz="1000" dirty="0"/>
          </a:p>
        </p:txBody>
      </p:sp>
      <p:sp>
        <p:nvSpPr>
          <p:cNvPr id="15" name="Text 13"/>
          <p:cNvSpPr/>
          <p:nvPr/>
        </p:nvSpPr>
        <p:spPr>
          <a:xfrm>
            <a:off x="9235440" y="3733038"/>
            <a:ext cx="548640" cy="274320"/>
          </a:xfrm>
          <a:prstGeom prst="rect">
            <a:avLst/>
          </a:prstGeom>
          <a:noFill/>
          <a:ln/>
        </p:spPr>
        <p:txBody>
          <a:bodyPr wrap="square" rtlCol="0" anchor="ctr"/>
          <a:lstStyle/>
          <a:p>
            <a:pPr algn="ctr" indent="0" marL="0">
              <a:buNone/>
            </a:pPr>
            <a:r>
              <a:rPr lang="en-US" sz="1000" b="1" dirty="0">
                <a:solidFill>
                  <a:srgbClr val="EC5C2A"/>
                </a:solidFill>
                <a:latin typeface="Roboto" pitchFamily="34" charset="0"/>
                <a:ea typeface="Roboto" pitchFamily="34" charset="-122"/>
                <a:cs typeface="Roboto" pitchFamily="34" charset="-120"/>
              </a:rPr>
              <a:t>420</a:t>
            </a:r>
            <a:endParaRPr lang="en-US" sz="1000" dirty="0"/>
          </a:p>
        </p:txBody>
      </p:sp>
      <p:sp>
        <p:nvSpPr>
          <p:cNvPr id="16" name="Shape 14"/>
          <p:cNvSpPr/>
          <p:nvPr/>
        </p:nvSpPr>
        <p:spPr>
          <a:xfrm>
            <a:off x="10149840" y="5025771"/>
            <a:ext cx="548640" cy="277749"/>
          </a:xfrm>
          <a:prstGeom prst="rect">
            <a:avLst/>
          </a:prstGeom>
          <a:solidFill>
            <a:srgbClr val="7FB5C2"/>
          </a:solidFill>
          <a:ln w="12700">
            <a:solidFill>
              <a:srgbClr val="7FB5C2"/>
            </a:solidFill>
            <a:prstDash val="solid"/>
          </a:ln>
        </p:spPr>
      </p:sp>
      <p:sp>
        <p:nvSpPr>
          <p:cNvPr id="17" name="Shape 15"/>
          <p:cNvSpPr/>
          <p:nvPr/>
        </p:nvSpPr>
        <p:spPr>
          <a:xfrm>
            <a:off x="10789920" y="3081528"/>
            <a:ext cx="548640" cy="2221992"/>
          </a:xfrm>
          <a:prstGeom prst="rect">
            <a:avLst/>
          </a:prstGeom>
          <a:solidFill>
            <a:srgbClr val="EC5C2A"/>
          </a:solidFill>
          <a:ln w="12700">
            <a:solidFill>
              <a:srgbClr val="EC5C2A"/>
            </a:solidFill>
            <a:prstDash val="solid"/>
          </a:ln>
        </p:spPr>
      </p:sp>
      <p:sp>
        <p:nvSpPr>
          <p:cNvPr id="18" name="Text 16"/>
          <p:cNvSpPr/>
          <p:nvPr/>
        </p:nvSpPr>
        <p:spPr>
          <a:xfrm>
            <a:off x="9966960" y="5349240"/>
            <a:ext cx="1554480" cy="274320"/>
          </a:xfrm>
          <a:prstGeom prst="rect">
            <a:avLst/>
          </a:prstGeom>
          <a:noFill/>
          <a:ln/>
        </p:spPr>
        <p:txBody>
          <a:bodyPr wrap="square" rtlCol="0" anchor="ctr"/>
          <a:lstStyle/>
          <a:p>
            <a:pPr algn="ctr" indent="0" marL="0">
              <a:buNone/>
            </a:pPr>
            <a:r>
              <a:rPr lang="en-US" sz="1000" b="1" dirty="0">
                <a:solidFill>
                  <a:srgbClr val="0A3454"/>
                </a:solidFill>
                <a:latin typeface="Roboto Condensed" pitchFamily="34" charset="0"/>
                <a:ea typeface="Roboto Condensed" pitchFamily="34" charset="-122"/>
                <a:cs typeface="Roboto Condensed" pitchFamily="34" charset="-120"/>
              </a:rPr>
              <a:t>18-pack</a:t>
            </a:r>
            <a:endParaRPr lang="en-US" sz="1000" dirty="0"/>
          </a:p>
        </p:txBody>
      </p:sp>
      <p:sp>
        <p:nvSpPr>
          <p:cNvPr id="19" name="Text 17"/>
          <p:cNvSpPr/>
          <p:nvPr/>
        </p:nvSpPr>
        <p:spPr>
          <a:xfrm>
            <a:off x="10789920" y="2807208"/>
            <a:ext cx="548640" cy="274320"/>
          </a:xfrm>
          <a:prstGeom prst="rect">
            <a:avLst/>
          </a:prstGeom>
          <a:noFill/>
          <a:ln/>
        </p:spPr>
        <p:txBody>
          <a:bodyPr wrap="square" rtlCol="0" anchor="ctr"/>
          <a:lstStyle/>
          <a:p>
            <a:pPr algn="ctr" indent="0" marL="0">
              <a:buNone/>
            </a:pPr>
            <a:r>
              <a:rPr lang="en-US" sz="1000" b="1" dirty="0">
                <a:solidFill>
                  <a:srgbClr val="EC5C2A"/>
                </a:solidFill>
                <a:latin typeface="Roboto" pitchFamily="34" charset="0"/>
                <a:ea typeface="Roboto" pitchFamily="34" charset="-122"/>
                <a:cs typeface="Roboto" pitchFamily="34" charset="-120"/>
              </a:rPr>
              <a:t>720</a:t>
            </a:r>
            <a:endParaRPr lang="en-US" sz="1000" dirty="0"/>
          </a:p>
        </p:txBody>
      </p:sp>
      <p:sp>
        <p:nvSpPr>
          <p:cNvPr id="20" name="Shape 18"/>
          <p:cNvSpPr/>
          <p:nvPr/>
        </p:nvSpPr>
        <p:spPr>
          <a:xfrm>
            <a:off x="6858000" y="5486400"/>
            <a:ext cx="182880" cy="137160"/>
          </a:xfrm>
          <a:prstGeom prst="rect">
            <a:avLst/>
          </a:prstGeom>
          <a:solidFill>
            <a:srgbClr val="7FB5C2"/>
          </a:solidFill>
          <a:ln w="12700">
            <a:solidFill>
              <a:srgbClr val="7FB5C2"/>
            </a:solidFill>
            <a:prstDash val="solid"/>
          </a:ln>
        </p:spPr>
      </p:sp>
      <p:sp>
        <p:nvSpPr>
          <p:cNvPr id="21" name="Text 19"/>
          <p:cNvSpPr/>
          <p:nvPr/>
        </p:nvSpPr>
        <p:spPr>
          <a:xfrm>
            <a:off x="7086600" y="5440680"/>
            <a:ext cx="1828800" cy="228600"/>
          </a:xfrm>
          <a:prstGeom prst="rect">
            <a:avLst/>
          </a:prstGeom>
          <a:noFill/>
          <a:ln/>
        </p:spPr>
        <p:txBody>
          <a:bodyPr wrap="square" rtlCol="0" anchor="ctr"/>
          <a:lstStyle/>
          <a:p>
            <a:pPr indent="0" marL="0">
              <a:buNone/>
            </a:pPr>
            <a:r>
              <a:rPr lang="en-US" sz="900" dirty="0">
                <a:solidFill>
                  <a:srgbClr val="6B6B6F"/>
                </a:solidFill>
                <a:latin typeface="Roboto Condensed" pitchFamily="34" charset="0"/>
                <a:ea typeface="Roboto Condensed" pitchFamily="34" charset="-122"/>
                <a:cs typeface="Roboto Condensed" pitchFamily="34" charset="-120"/>
              </a:rPr>
              <a:t>Untrained champion</a:t>
            </a:r>
            <a:endParaRPr lang="en-US" sz="900" dirty="0"/>
          </a:p>
        </p:txBody>
      </p:sp>
      <p:sp>
        <p:nvSpPr>
          <p:cNvPr id="22" name="Shape 20"/>
          <p:cNvSpPr/>
          <p:nvPr/>
        </p:nvSpPr>
        <p:spPr>
          <a:xfrm>
            <a:off x="8961120" y="5486400"/>
            <a:ext cx="182880" cy="137160"/>
          </a:xfrm>
          <a:prstGeom prst="rect">
            <a:avLst/>
          </a:prstGeom>
          <a:solidFill>
            <a:srgbClr val="EC5C2A"/>
          </a:solidFill>
          <a:ln w="12700">
            <a:solidFill>
              <a:srgbClr val="EC5C2A"/>
            </a:solidFill>
            <a:prstDash val="solid"/>
          </a:ln>
        </p:spPr>
      </p:sp>
      <p:sp>
        <p:nvSpPr>
          <p:cNvPr id="23" name="Text 21"/>
          <p:cNvSpPr/>
          <p:nvPr/>
        </p:nvSpPr>
        <p:spPr>
          <a:xfrm>
            <a:off x="9189720" y="5440680"/>
            <a:ext cx="1828800" cy="228600"/>
          </a:xfrm>
          <a:prstGeom prst="rect">
            <a:avLst/>
          </a:prstGeom>
          <a:noFill/>
          <a:ln/>
        </p:spPr>
        <p:txBody>
          <a:bodyPr wrap="square" rtlCol="0" anchor="ctr"/>
          <a:lstStyle/>
          <a:p>
            <a:pPr indent="0" marL="0">
              <a:buNone/>
            </a:pPr>
            <a:r>
              <a:rPr lang="en-US" sz="900" dirty="0">
                <a:solidFill>
                  <a:srgbClr val="6B6B6F"/>
                </a:solidFill>
                <a:latin typeface="Roboto Condensed" pitchFamily="34" charset="0"/>
                <a:ea typeface="Roboto Condensed" pitchFamily="34" charset="-122"/>
                <a:cs typeface="Roboto Condensed" pitchFamily="34" charset="-120"/>
              </a:rPr>
              <a:t>Trained champion</a:t>
            </a:r>
            <a:endParaRPr lang="en-US" sz="900" dirty="0"/>
          </a:p>
        </p:txBody>
      </p:sp>
      <p:sp>
        <p:nvSpPr>
          <p:cNvPr id="24" name="Shape 22"/>
          <p:cNvSpPr/>
          <p:nvPr/>
        </p:nvSpPr>
        <p:spPr>
          <a:xfrm>
            <a:off x="548640" y="6355080"/>
            <a:ext cx="11094415" cy="0"/>
          </a:xfrm>
          <a:prstGeom prst="line">
            <a:avLst/>
          </a:prstGeom>
          <a:noFill/>
          <a:ln w="6350">
            <a:solidFill>
              <a:srgbClr val="C2C2C6"/>
            </a:solidFill>
            <a:prstDash val="solid"/>
          </a:ln>
        </p:spPr>
      </p:sp>
      <p:sp>
        <p:nvSpPr>
          <p:cNvPr id="25" name="Text 23"/>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26" name="Text 24"/>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8"/>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THE CAMPUS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Two days, designed end-to-end</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sp>
      <p:sp>
        <p:nvSpPr>
          <p:cNvPr id="5" name="Shape 3"/>
          <p:cNvSpPr/>
          <p:nvPr/>
        </p:nvSpPr>
        <p:spPr>
          <a:xfrm>
            <a:off x="548640" y="2194560"/>
            <a:ext cx="1371600" cy="1828800"/>
          </a:xfrm>
          <a:prstGeom prst="rect">
            <a:avLst/>
          </a:prstGeom>
          <a:solidFill>
            <a:srgbClr val="0A3454"/>
          </a:solidFill>
          <a:ln w="12700">
            <a:solidFill>
              <a:srgbClr val="0A3454"/>
            </a:solidFill>
            <a:prstDash val="solid"/>
          </a:ln>
        </p:spPr>
      </p:sp>
      <p:sp>
        <p:nvSpPr>
          <p:cNvPr id="6" name="Text 4"/>
          <p:cNvSpPr/>
          <p:nvPr/>
        </p:nvSpPr>
        <p:spPr>
          <a:xfrm>
            <a:off x="548640" y="2377440"/>
            <a:ext cx="1371600" cy="365760"/>
          </a:xfrm>
          <a:prstGeom prst="rect">
            <a:avLst/>
          </a:prstGeom>
          <a:noFill/>
          <a:ln/>
        </p:spPr>
        <p:txBody>
          <a:bodyPr wrap="square" rtlCol="0" anchor="ctr"/>
          <a:lstStyle/>
          <a:p>
            <a:pPr algn="ctr" indent="0" marL="0">
              <a:buNone/>
            </a:pPr>
            <a:r>
              <a:rPr lang="en-US" sz="1400" b="1" spc="400" kern="0" dirty="0">
                <a:solidFill>
                  <a:srgbClr val="EC5C2A"/>
                </a:solidFill>
                <a:latin typeface="Roboto" pitchFamily="34" charset="0"/>
                <a:ea typeface="Roboto" pitchFamily="34" charset="-122"/>
                <a:cs typeface="Roboto" pitchFamily="34" charset="-120"/>
              </a:rPr>
              <a:t>DAY 1</a:t>
            </a:r>
            <a:endParaRPr lang="en-US" sz="1400" dirty="0"/>
          </a:p>
        </p:txBody>
      </p:sp>
      <p:sp>
        <p:nvSpPr>
          <p:cNvPr id="7" name="Text 5"/>
          <p:cNvSpPr/>
          <p:nvPr/>
        </p:nvSpPr>
        <p:spPr>
          <a:xfrm>
            <a:off x="548640" y="2834640"/>
            <a:ext cx="1371600" cy="1097280"/>
          </a:xfrm>
          <a:prstGeom prst="rect">
            <a:avLst/>
          </a:prstGeom>
          <a:noFill/>
          <a:ln/>
        </p:spPr>
        <p:txBody>
          <a:bodyPr wrap="square" rtlCol="0" anchor="ctr"/>
          <a:lstStyle/>
          <a:p>
            <a:pPr algn="ctr" indent="0" marL="0">
              <a:lnSpc>
                <a:spcPct val="130000"/>
              </a:lnSpc>
              <a:buNone/>
            </a:pPr>
            <a:r>
              <a:rPr lang="en-US" sz="1100" i="1" dirty="0">
                <a:solidFill>
                  <a:srgbClr val="B8D8DC"/>
                </a:solidFill>
                <a:latin typeface="Roboto" pitchFamily="34" charset="0"/>
                <a:ea typeface="Roboto" pitchFamily="34" charset="-122"/>
                <a:cs typeface="Roboto" pitchFamily="34" charset="-120"/>
              </a:rPr>
              <a:t>Brief, experience, debrief — live</a:t>
            </a:r>
            <a:endParaRPr lang="en-US" sz="1100" dirty="0"/>
          </a:p>
        </p:txBody>
      </p:sp>
      <p:sp>
        <p:nvSpPr>
          <p:cNvPr id="8" name="Shape 6"/>
          <p:cNvSpPr/>
          <p:nvPr/>
        </p:nvSpPr>
        <p:spPr>
          <a:xfrm>
            <a:off x="2103120" y="2194560"/>
            <a:ext cx="3108960" cy="1828800"/>
          </a:xfrm>
          <a:prstGeom prst="rect">
            <a:avLst/>
          </a:prstGeom>
          <a:solidFill>
            <a:srgbClr val="FFFFFF"/>
          </a:solidFill>
          <a:ln w="6350">
            <a:solidFill>
              <a:srgbClr val="C2C2C6"/>
            </a:solidFill>
            <a:prstDash val="solid"/>
          </a:ln>
        </p:spPr>
      </p:sp>
      <p:sp>
        <p:nvSpPr>
          <p:cNvPr id="9" name="Text 7"/>
          <p:cNvSpPr/>
          <p:nvPr/>
        </p:nvSpPr>
        <p:spPr>
          <a:xfrm>
            <a:off x="2286000" y="2377440"/>
            <a:ext cx="2743200" cy="274320"/>
          </a:xfrm>
          <a:prstGeom prst="rect">
            <a:avLst/>
          </a:prstGeom>
          <a:noFill/>
          <a:ln/>
        </p:spPr>
        <p:txBody>
          <a:bodyPr wrap="square" rtlCol="0" anchor="ctr"/>
          <a:lstStyle/>
          <a:p>
            <a:pPr indent="0" marL="0">
              <a:buNone/>
            </a:pPr>
            <a:r>
              <a:rPr lang="en-US" sz="900" b="1" spc="300" kern="0" dirty="0">
                <a:solidFill>
                  <a:srgbClr val="EC5C2A"/>
                </a:solidFill>
                <a:latin typeface="Roboto Condensed" pitchFamily="34" charset="0"/>
                <a:ea typeface="Roboto Condensed" pitchFamily="34" charset="-122"/>
                <a:cs typeface="Roboto Condensed" pitchFamily="34" charset="-120"/>
              </a:rPr>
              <a:t>MORNING</a:t>
            </a:r>
            <a:endParaRPr lang="en-US" sz="900" dirty="0"/>
          </a:p>
        </p:txBody>
      </p:sp>
      <p:sp>
        <p:nvSpPr>
          <p:cNvPr id="10" name="Text 8"/>
          <p:cNvSpPr/>
          <p:nvPr/>
        </p:nvSpPr>
        <p:spPr>
          <a:xfrm>
            <a:off x="2286000" y="2697480"/>
            <a:ext cx="2743200" cy="457200"/>
          </a:xfrm>
          <a:prstGeom prst="rect">
            <a:avLst/>
          </a:prstGeom>
          <a:noFill/>
          <a:ln/>
        </p:spPr>
        <p:txBody>
          <a:bodyPr wrap="square" rtlCol="0" anchor="ctr"/>
          <a:lstStyle/>
          <a:p>
            <a:pPr indent="0" marL="0">
              <a:buNone/>
            </a:pPr>
            <a:r>
              <a:rPr lang="en-US" sz="1300" b="1" dirty="0">
                <a:solidFill>
                  <a:srgbClr val="0A3454"/>
                </a:solidFill>
                <a:latin typeface="Roboto" pitchFamily="34" charset="0"/>
                <a:ea typeface="Roboto" pitchFamily="34" charset="-122"/>
                <a:cs typeface="Roboto" pitchFamily="34" charset="-120"/>
              </a:rPr>
              <a:t>Brief masterclass</a:t>
            </a:r>
            <a:endParaRPr lang="en-US" sz="1300" dirty="0"/>
          </a:p>
        </p:txBody>
      </p:sp>
      <p:sp>
        <p:nvSpPr>
          <p:cNvPr id="11" name="Text 9"/>
          <p:cNvSpPr/>
          <p:nvPr/>
        </p:nvSpPr>
        <p:spPr>
          <a:xfrm>
            <a:off x="2286000" y="3200400"/>
            <a:ext cx="2743200" cy="777240"/>
          </a:xfrm>
          <a:prstGeom prst="rect">
            <a:avLst/>
          </a:prstGeom>
          <a:noFill/>
          <a:ln/>
        </p:spPr>
        <p:txBody>
          <a:bodyPr wrap="square" rtlCol="0" anchor="ctr"/>
          <a:lstStyle/>
          <a:p>
            <a:pPr indent="0" marL="0">
              <a:lnSpc>
                <a:spcPct val="130000"/>
              </a:lnSpc>
              <a:buNone/>
            </a:pPr>
            <a:r>
              <a:rPr lang="en-US" sz="1000" dirty="0">
                <a:solidFill>
                  <a:srgbClr val="404040"/>
                </a:solidFill>
                <a:latin typeface="Roboto" pitchFamily="34" charset="0"/>
                <a:ea typeface="Roboto" pitchFamily="34" charset="-122"/>
                <a:cs typeface="Roboto" pitchFamily="34" charset="-120"/>
              </a:rPr>
              <a:t>Frame, connect, set conditions for transformation.</a:t>
            </a:r>
            <a:endParaRPr lang="en-US" sz="1000" dirty="0"/>
          </a:p>
        </p:txBody>
      </p:sp>
      <p:sp>
        <p:nvSpPr>
          <p:cNvPr id="12" name="Shape 10"/>
          <p:cNvSpPr/>
          <p:nvPr/>
        </p:nvSpPr>
        <p:spPr>
          <a:xfrm>
            <a:off x="5394960" y="2194560"/>
            <a:ext cx="3108960" cy="1828800"/>
          </a:xfrm>
          <a:prstGeom prst="rect">
            <a:avLst/>
          </a:prstGeom>
          <a:solidFill>
            <a:srgbClr val="FFFFFF"/>
          </a:solidFill>
          <a:ln w="6350">
            <a:solidFill>
              <a:srgbClr val="C2C2C6"/>
            </a:solidFill>
            <a:prstDash val="solid"/>
          </a:ln>
        </p:spPr>
      </p:sp>
      <p:sp>
        <p:nvSpPr>
          <p:cNvPr id="13" name="Text 11"/>
          <p:cNvSpPr/>
          <p:nvPr/>
        </p:nvSpPr>
        <p:spPr>
          <a:xfrm>
            <a:off x="5577840" y="2377440"/>
            <a:ext cx="2743200" cy="274320"/>
          </a:xfrm>
          <a:prstGeom prst="rect">
            <a:avLst/>
          </a:prstGeom>
          <a:noFill/>
          <a:ln/>
        </p:spPr>
        <p:txBody>
          <a:bodyPr wrap="square" rtlCol="0" anchor="ctr"/>
          <a:lstStyle/>
          <a:p>
            <a:pPr indent="0" marL="0">
              <a:buNone/>
            </a:pPr>
            <a:r>
              <a:rPr lang="en-US" sz="900" b="1" spc="300" kern="0" dirty="0">
                <a:solidFill>
                  <a:srgbClr val="EC5C2A"/>
                </a:solidFill>
                <a:latin typeface="Roboto Condensed" pitchFamily="34" charset="0"/>
                <a:ea typeface="Roboto Condensed" pitchFamily="34" charset="-122"/>
                <a:cs typeface="Roboto Condensed" pitchFamily="34" charset="-120"/>
              </a:rPr>
              <a:t>MIDDAY</a:t>
            </a:r>
            <a:endParaRPr lang="en-US" sz="900" dirty="0"/>
          </a:p>
        </p:txBody>
      </p:sp>
      <p:sp>
        <p:nvSpPr>
          <p:cNvPr id="14" name="Text 12"/>
          <p:cNvSpPr/>
          <p:nvPr/>
        </p:nvSpPr>
        <p:spPr>
          <a:xfrm>
            <a:off x="5577840" y="2697480"/>
            <a:ext cx="2743200" cy="457200"/>
          </a:xfrm>
          <a:prstGeom prst="rect">
            <a:avLst/>
          </a:prstGeom>
          <a:noFill/>
          <a:ln/>
        </p:spPr>
        <p:txBody>
          <a:bodyPr wrap="square" rtlCol="0" anchor="ctr"/>
          <a:lstStyle/>
          <a:p>
            <a:pPr indent="0" marL="0">
              <a:buNone/>
            </a:pPr>
            <a:r>
              <a:rPr lang="en-US" sz="1300" b="1" dirty="0">
                <a:solidFill>
                  <a:srgbClr val="0A3454"/>
                </a:solidFill>
                <a:latin typeface="Roboto" pitchFamily="34" charset="0"/>
                <a:ea typeface="Roboto" pitchFamily="34" charset="-122"/>
                <a:cs typeface="Roboto" pitchFamily="34" charset="-120"/>
              </a:rPr>
              <a:t>Live nonprofit experience</a:t>
            </a:r>
            <a:endParaRPr lang="en-US" sz="1300" dirty="0"/>
          </a:p>
        </p:txBody>
      </p:sp>
      <p:sp>
        <p:nvSpPr>
          <p:cNvPr id="15" name="Text 13"/>
          <p:cNvSpPr/>
          <p:nvPr/>
        </p:nvSpPr>
        <p:spPr>
          <a:xfrm>
            <a:off x="5577840" y="3200400"/>
            <a:ext cx="2743200" cy="777240"/>
          </a:xfrm>
          <a:prstGeom prst="rect">
            <a:avLst/>
          </a:prstGeom>
          <a:noFill/>
          <a:ln/>
        </p:spPr>
        <p:txBody>
          <a:bodyPr wrap="square" rtlCol="0" anchor="ctr"/>
          <a:lstStyle/>
          <a:p>
            <a:pPr indent="0" marL="0">
              <a:lnSpc>
                <a:spcPct val="130000"/>
              </a:lnSpc>
              <a:buNone/>
            </a:pPr>
            <a:r>
              <a:rPr lang="en-US" sz="1000" dirty="0">
                <a:solidFill>
                  <a:srgbClr val="404040"/>
                </a:solidFill>
                <a:latin typeface="Roboto" pitchFamily="34" charset="0"/>
                <a:ea typeface="Roboto" pitchFamily="34" charset="-122"/>
                <a:cs typeface="Roboto" pitchFamily="34" charset="-120"/>
              </a:rPr>
              <a:t>Real volunteer work with a partner organization.</a:t>
            </a:r>
            <a:endParaRPr lang="en-US" sz="1000" dirty="0"/>
          </a:p>
        </p:txBody>
      </p:sp>
      <p:sp>
        <p:nvSpPr>
          <p:cNvPr id="16" name="Shape 14"/>
          <p:cNvSpPr/>
          <p:nvPr/>
        </p:nvSpPr>
        <p:spPr>
          <a:xfrm>
            <a:off x="8686800" y="2194560"/>
            <a:ext cx="3108960" cy="1828800"/>
          </a:xfrm>
          <a:prstGeom prst="rect">
            <a:avLst/>
          </a:prstGeom>
          <a:solidFill>
            <a:srgbClr val="FFFFFF"/>
          </a:solidFill>
          <a:ln w="6350">
            <a:solidFill>
              <a:srgbClr val="C2C2C6"/>
            </a:solidFill>
            <a:prstDash val="solid"/>
          </a:ln>
        </p:spPr>
      </p:sp>
      <p:sp>
        <p:nvSpPr>
          <p:cNvPr id="17" name="Text 15"/>
          <p:cNvSpPr/>
          <p:nvPr/>
        </p:nvSpPr>
        <p:spPr>
          <a:xfrm>
            <a:off x="8869680" y="2377440"/>
            <a:ext cx="2743200" cy="274320"/>
          </a:xfrm>
          <a:prstGeom prst="rect">
            <a:avLst/>
          </a:prstGeom>
          <a:noFill/>
          <a:ln/>
        </p:spPr>
        <p:txBody>
          <a:bodyPr wrap="square" rtlCol="0" anchor="ctr"/>
          <a:lstStyle/>
          <a:p>
            <a:pPr indent="0" marL="0">
              <a:buNone/>
            </a:pPr>
            <a:r>
              <a:rPr lang="en-US" sz="900" b="1" spc="300" kern="0" dirty="0">
                <a:solidFill>
                  <a:srgbClr val="EC5C2A"/>
                </a:solidFill>
                <a:latin typeface="Roboto Condensed" pitchFamily="34" charset="0"/>
                <a:ea typeface="Roboto Condensed" pitchFamily="34" charset="-122"/>
                <a:cs typeface="Roboto Condensed" pitchFamily="34" charset="-120"/>
              </a:rPr>
              <a:t>AFTERNOON</a:t>
            </a:r>
            <a:endParaRPr lang="en-US" sz="900" dirty="0"/>
          </a:p>
        </p:txBody>
      </p:sp>
      <p:sp>
        <p:nvSpPr>
          <p:cNvPr id="18" name="Text 16"/>
          <p:cNvSpPr/>
          <p:nvPr/>
        </p:nvSpPr>
        <p:spPr>
          <a:xfrm>
            <a:off x="8869680" y="2697480"/>
            <a:ext cx="2743200" cy="457200"/>
          </a:xfrm>
          <a:prstGeom prst="rect">
            <a:avLst/>
          </a:prstGeom>
          <a:noFill/>
          <a:ln/>
        </p:spPr>
        <p:txBody>
          <a:bodyPr wrap="square" rtlCol="0" anchor="ctr"/>
          <a:lstStyle/>
          <a:p>
            <a:pPr indent="0" marL="0">
              <a:buNone/>
            </a:pPr>
            <a:r>
              <a:rPr lang="en-US" sz="1300" b="1" dirty="0">
                <a:solidFill>
                  <a:srgbClr val="0A3454"/>
                </a:solidFill>
                <a:latin typeface="Roboto" pitchFamily="34" charset="0"/>
                <a:ea typeface="Roboto" pitchFamily="34" charset="-122"/>
                <a:cs typeface="Roboto" pitchFamily="34" charset="-120"/>
              </a:rPr>
              <a:t>40-minute debrief</a:t>
            </a:r>
            <a:endParaRPr lang="en-US" sz="1300" dirty="0"/>
          </a:p>
        </p:txBody>
      </p:sp>
      <p:sp>
        <p:nvSpPr>
          <p:cNvPr id="19" name="Text 17"/>
          <p:cNvSpPr/>
          <p:nvPr/>
        </p:nvSpPr>
        <p:spPr>
          <a:xfrm>
            <a:off x="8869680" y="3200400"/>
            <a:ext cx="2743200" cy="777240"/>
          </a:xfrm>
          <a:prstGeom prst="rect">
            <a:avLst/>
          </a:prstGeom>
          <a:noFill/>
          <a:ln/>
        </p:spPr>
        <p:txBody>
          <a:bodyPr wrap="square" rtlCol="0" anchor="ctr"/>
          <a:lstStyle/>
          <a:p>
            <a:pPr indent="0" marL="0">
              <a:lnSpc>
                <a:spcPct val="130000"/>
              </a:lnSpc>
              <a:buNone/>
            </a:pPr>
            <a:r>
              <a:rPr lang="en-US" sz="1000" dirty="0">
                <a:solidFill>
                  <a:srgbClr val="404040"/>
                </a:solidFill>
                <a:latin typeface="Roboto" pitchFamily="34" charset="0"/>
                <a:ea typeface="Roboto" pitchFamily="34" charset="-122"/>
                <a:cs typeface="Roboto" pitchFamily="34" charset="-120"/>
              </a:rPr>
              <a:t>Structured reflection in the consolidation window.</a:t>
            </a:r>
            <a:endParaRPr lang="en-US" sz="1000" dirty="0"/>
          </a:p>
        </p:txBody>
      </p:sp>
      <p:sp>
        <p:nvSpPr>
          <p:cNvPr id="20" name="Shape 18"/>
          <p:cNvSpPr/>
          <p:nvPr/>
        </p:nvSpPr>
        <p:spPr>
          <a:xfrm>
            <a:off x="548640" y="4389120"/>
            <a:ext cx="1371600" cy="1828800"/>
          </a:xfrm>
          <a:prstGeom prst="rect">
            <a:avLst/>
          </a:prstGeom>
          <a:solidFill>
            <a:srgbClr val="0A3454"/>
          </a:solidFill>
          <a:ln w="12700">
            <a:solidFill>
              <a:srgbClr val="0A3454"/>
            </a:solidFill>
            <a:prstDash val="solid"/>
          </a:ln>
        </p:spPr>
      </p:sp>
      <p:sp>
        <p:nvSpPr>
          <p:cNvPr id="21" name="Text 19"/>
          <p:cNvSpPr/>
          <p:nvPr/>
        </p:nvSpPr>
        <p:spPr>
          <a:xfrm>
            <a:off x="548640" y="4572000"/>
            <a:ext cx="1371600" cy="365760"/>
          </a:xfrm>
          <a:prstGeom prst="rect">
            <a:avLst/>
          </a:prstGeom>
          <a:noFill/>
          <a:ln/>
        </p:spPr>
        <p:txBody>
          <a:bodyPr wrap="square" rtlCol="0" anchor="ctr"/>
          <a:lstStyle/>
          <a:p>
            <a:pPr algn="ctr" indent="0" marL="0">
              <a:buNone/>
            </a:pPr>
            <a:r>
              <a:rPr lang="en-US" sz="1400" b="1" spc="400" kern="0" dirty="0">
                <a:solidFill>
                  <a:srgbClr val="EC5C2A"/>
                </a:solidFill>
                <a:latin typeface="Roboto" pitchFamily="34" charset="0"/>
                <a:ea typeface="Roboto" pitchFamily="34" charset="-122"/>
                <a:cs typeface="Roboto" pitchFamily="34" charset="-120"/>
              </a:rPr>
              <a:t>DAY 2</a:t>
            </a:r>
            <a:endParaRPr lang="en-US" sz="1400" dirty="0"/>
          </a:p>
        </p:txBody>
      </p:sp>
      <p:sp>
        <p:nvSpPr>
          <p:cNvPr id="22" name="Text 20"/>
          <p:cNvSpPr/>
          <p:nvPr/>
        </p:nvSpPr>
        <p:spPr>
          <a:xfrm>
            <a:off x="548640" y="5029200"/>
            <a:ext cx="1371600" cy="1097280"/>
          </a:xfrm>
          <a:prstGeom prst="rect">
            <a:avLst/>
          </a:prstGeom>
          <a:noFill/>
          <a:ln/>
        </p:spPr>
        <p:txBody>
          <a:bodyPr wrap="square" rtlCol="0" anchor="ctr"/>
          <a:lstStyle/>
          <a:p>
            <a:pPr algn="ctr" indent="0" marL="0">
              <a:lnSpc>
                <a:spcPct val="130000"/>
              </a:lnSpc>
              <a:buNone/>
            </a:pPr>
            <a:r>
              <a:rPr lang="en-US" sz="1100" i="1" dirty="0">
                <a:solidFill>
                  <a:srgbClr val="B8D8DC"/>
                </a:solidFill>
                <a:latin typeface="Roboto" pitchFamily="34" charset="0"/>
                <a:ea typeface="Roboto" pitchFamily="34" charset="-122"/>
                <a:cs typeface="Roboto" pitchFamily="34" charset="-120"/>
              </a:rPr>
              <a:t>Design, practice, commit</a:t>
            </a:r>
            <a:endParaRPr lang="en-US" sz="1100" dirty="0"/>
          </a:p>
        </p:txBody>
      </p:sp>
      <p:sp>
        <p:nvSpPr>
          <p:cNvPr id="23" name="Shape 21"/>
          <p:cNvSpPr/>
          <p:nvPr/>
        </p:nvSpPr>
        <p:spPr>
          <a:xfrm>
            <a:off x="2103120" y="4389120"/>
            <a:ext cx="3108960" cy="1828800"/>
          </a:xfrm>
          <a:prstGeom prst="rect">
            <a:avLst/>
          </a:prstGeom>
          <a:solidFill>
            <a:srgbClr val="FFFFFF"/>
          </a:solidFill>
          <a:ln w="6350">
            <a:solidFill>
              <a:srgbClr val="C2C2C6"/>
            </a:solidFill>
            <a:prstDash val="solid"/>
          </a:ln>
        </p:spPr>
      </p:sp>
      <p:sp>
        <p:nvSpPr>
          <p:cNvPr id="24" name="Text 22"/>
          <p:cNvSpPr/>
          <p:nvPr/>
        </p:nvSpPr>
        <p:spPr>
          <a:xfrm>
            <a:off x="2286000" y="4572000"/>
            <a:ext cx="2743200" cy="274320"/>
          </a:xfrm>
          <a:prstGeom prst="rect">
            <a:avLst/>
          </a:prstGeom>
          <a:noFill/>
          <a:ln/>
        </p:spPr>
        <p:txBody>
          <a:bodyPr wrap="square" rtlCol="0" anchor="ctr"/>
          <a:lstStyle/>
          <a:p>
            <a:pPr indent="0" marL="0">
              <a:buNone/>
            </a:pPr>
            <a:r>
              <a:rPr lang="en-US" sz="900" b="1" spc="300" kern="0" dirty="0">
                <a:solidFill>
                  <a:srgbClr val="EC5C2A"/>
                </a:solidFill>
                <a:latin typeface="Roboto Condensed" pitchFamily="34" charset="0"/>
                <a:ea typeface="Roboto Condensed" pitchFamily="34" charset="-122"/>
                <a:cs typeface="Roboto Condensed" pitchFamily="34" charset="-120"/>
              </a:rPr>
              <a:t>MORNING</a:t>
            </a:r>
            <a:endParaRPr lang="en-US" sz="900" dirty="0"/>
          </a:p>
        </p:txBody>
      </p:sp>
      <p:sp>
        <p:nvSpPr>
          <p:cNvPr id="25" name="Text 23"/>
          <p:cNvSpPr/>
          <p:nvPr/>
        </p:nvSpPr>
        <p:spPr>
          <a:xfrm>
            <a:off x="2286000" y="4892040"/>
            <a:ext cx="2743200" cy="457200"/>
          </a:xfrm>
          <a:prstGeom prst="rect">
            <a:avLst/>
          </a:prstGeom>
          <a:noFill/>
          <a:ln/>
        </p:spPr>
        <p:txBody>
          <a:bodyPr wrap="square" rtlCol="0" anchor="ctr"/>
          <a:lstStyle/>
          <a:p>
            <a:pPr indent="0" marL="0">
              <a:buNone/>
            </a:pPr>
            <a:r>
              <a:rPr lang="en-US" sz="1300" b="1" dirty="0">
                <a:solidFill>
                  <a:srgbClr val="0A3454"/>
                </a:solidFill>
                <a:latin typeface="Roboto" pitchFamily="34" charset="0"/>
                <a:ea typeface="Roboto" pitchFamily="34" charset="-122"/>
                <a:cs typeface="Roboto" pitchFamily="34" charset="-120"/>
              </a:rPr>
              <a:t>Design workshop</a:t>
            </a:r>
            <a:endParaRPr lang="en-US" sz="1300" dirty="0"/>
          </a:p>
        </p:txBody>
      </p:sp>
      <p:sp>
        <p:nvSpPr>
          <p:cNvPr id="26" name="Text 24"/>
          <p:cNvSpPr/>
          <p:nvPr/>
        </p:nvSpPr>
        <p:spPr>
          <a:xfrm>
            <a:off x="2286000" y="5394960"/>
            <a:ext cx="2743200" cy="777240"/>
          </a:xfrm>
          <a:prstGeom prst="rect">
            <a:avLst/>
          </a:prstGeom>
          <a:noFill/>
          <a:ln/>
        </p:spPr>
        <p:txBody>
          <a:bodyPr wrap="square" rtlCol="0" anchor="ctr"/>
          <a:lstStyle/>
          <a:p>
            <a:pPr indent="0" marL="0">
              <a:lnSpc>
                <a:spcPct val="130000"/>
              </a:lnSpc>
              <a:buNone/>
            </a:pPr>
            <a:r>
              <a:rPr lang="en-US" sz="1000" dirty="0">
                <a:solidFill>
                  <a:srgbClr val="404040"/>
                </a:solidFill>
                <a:latin typeface="Roboto" pitchFamily="34" charset="0"/>
                <a:ea typeface="Roboto" pitchFamily="34" charset="-122"/>
                <a:cs typeface="Roboto" pitchFamily="34" charset="-120"/>
              </a:rPr>
              <a:t>Build experiences for your own program, with peers.</a:t>
            </a:r>
            <a:endParaRPr lang="en-US" sz="1000" dirty="0"/>
          </a:p>
        </p:txBody>
      </p:sp>
      <p:sp>
        <p:nvSpPr>
          <p:cNvPr id="27" name="Shape 25"/>
          <p:cNvSpPr/>
          <p:nvPr/>
        </p:nvSpPr>
        <p:spPr>
          <a:xfrm>
            <a:off x="5394960" y="4389120"/>
            <a:ext cx="3108960" cy="1828800"/>
          </a:xfrm>
          <a:prstGeom prst="rect">
            <a:avLst/>
          </a:prstGeom>
          <a:solidFill>
            <a:srgbClr val="FFFFFF"/>
          </a:solidFill>
          <a:ln w="6350">
            <a:solidFill>
              <a:srgbClr val="C2C2C6"/>
            </a:solidFill>
            <a:prstDash val="solid"/>
          </a:ln>
        </p:spPr>
      </p:sp>
      <p:sp>
        <p:nvSpPr>
          <p:cNvPr id="28" name="Text 26"/>
          <p:cNvSpPr/>
          <p:nvPr/>
        </p:nvSpPr>
        <p:spPr>
          <a:xfrm>
            <a:off x="5577840" y="4572000"/>
            <a:ext cx="2743200" cy="274320"/>
          </a:xfrm>
          <a:prstGeom prst="rect">
            <a:avLst/>
          </a:prstGeom>
          <a:noFill/>
          <a:ln/>
        </p:spPr>
        <p:txBody>
          <a:bodyPr wrap="square" rtlCol="0" anchor="ctr"/>
          <a:lstStyle/>
          <a:p>
            <a:pPr indent="0" marL="0">
              <a:buNone/>
            </a:pPr>
            <a:r>
              <a:rPr lang="en-US" sz="900" b="1" spc="300" kern="0" dirty="0">
                <a:solidFill>
                  <a:srgbClr val="EC5C2A"/>
                </a:solidFill>
                <a:latin typeface="Roboto Condensed" pitchFamily="34" charset="0"/>
                <a:ea typeface="Roboto Condensed" pitchFamily="34" charset="-122"/>
                <a:cs typeface="Roboto Condensed" pitchFamily="34" charset="-120"/>
              </a:rPr>
              <a:t>MIDDAY</a:t>
            </a:r>
            <a:endParaRPr lang="en-US" sz="900" dirty="0"/>
          </a:p>
        </p:txBody>
      </p:sp>
      <p:sp>
        <p:nvSpPr>
          <p:cNvPr id="29" name="Text 27"/>
          <p:cNvSpPr/>
          <p:nvPr/>
        </p:nvSpPr>
        <p:spPr>
          <a:xfrm>
            <a:off x="5577840" y="4892040"/>
            <a:ext cx="2743200" cy="457200"/>
          </a:xfrm>
          <a:prstGeom prst="rect">
            <a:avLst/>
          </a:prstGeom>
          <a:noFill/>
          <a:ln/>
        </p:spPr>
        <p:txBody>
          <a:bodyPr wrap="square" rtlCol="0" anchor="ctr"/>
          <a:lstStyle/>
          <a:p>
            <a:pPr indent="0" marL="0">
              <a:buNone/>
            </a:pPr>
            <a:r>
              <a:rPr lang="en-US" sz="1300" b="1" dirty="0">
                <a:solidFill>
                  <a:srgbClr val="0A3454"/>
                </a:solidFill>
                <a:latin typeface="Roboto" pitchFamily="34" charset="0"/>
                <a:ea typeface="Roboto" pitchFamily="34" charset="-122"/>
                <a:cs typeface="Roboto" pitchFamily="34" charset="-120"/>
              </a:rPr>
              <a:t>Practice rounds</a:t>
            </a:r>
            <a:endParaRPr lang="en-US" sz="1300" dirty="0"/>
          </a:p>
        </p:txBody>
      </p:sp>
      <p:sp>
        <p:nvSpPr>
          <p:cNvPr id="30" name="Text 28"/>
          <p:cNvSpPr/>
          <p:nvPr/>
        </p:nvSpPr>
        <p:spPr>
          <a:xfrm>
            <a:off x="5577840" y="5394960"/>
            <a:ext cx="2743200" cy="777240"/>
          </a:xfrm>
          <a:prstGeom prst="rect">
            <a:avLst/>
          </a:prstGeom>
          <a:noFill/>
          <a:ln/>
        </p:spPr>
        <p:txBody>
          <a:bodyPr wrap="square" rtlCol="0" anchor="ctr"/>
          <a:lstStyle/>
          <a:p>
            <a:pPr indent="0" marL="0">
              <a:lnSpc>
                <a:spcPct val="130000"/>
              </a:lnSpc>
              <a:buNone/>
            </a:pPr>
            <a:r>
              <a:rPr lang="en-US" sz="1000" dirty="0">
                <a:solidFill>
                  <a:srgbClr val="404040"/>
                </a:solidFill>
                <a:latin typeface="Roboto" pitchFamily="34" charset="0"/>
                <a:ea typeface="Roboto" pitchFamily="34" charset="-122"/>
                <a:cs typeface="Roboto" pitchFamily="34" charset="-120"/>
              </a:rPr>
              <a:t>Conduct briefs and debriefs with feedback.</a:t>
            </a:r>
            <a:endParaRPr lang="en-US" sz="1000" dirty="0"/>
          </a:p>
        </p:txBody>
      </p:sp>
      <p:sp>
        <p:nvSpPr>
          <p:cNvPr id="31" name="Shape 29"/>
          <p:cNvSpPr/>
          <p:nvPr/>
        </p:nvSpPr>
        <p:spPr>
          <a:xfrm>
            <a:off x="8686800" y="4389120"/>
            <a:ext cx="3108960" cy="1828800"/>
          </a:xfrm>
          <a:prstGeom prst="rect">
            <a:avLst/>
          </a:prstGeom>
          <a:solidFill>
            <a:srgbClr val="FFFFFF"/>
          </a:solidFill>
          <a:ln w="6350">
            <a:solidFill>
              <a:srgbClr val="C2C2C6"/>
            </a:solidFill>
            <a:prstDash val="solid"/>
          </a:ln>
        </p:spPr>
      </p:sp>
      <p:sp>
        <p:nvSpPr>
          <p:cNvPr id="32" name="Text 30"/>
          <p:cNvSpPr/>
          <p:nvPr/>
        </p:nvSpPr>
        <p:spPr>
          <a:xfrm>
            <a:off x="8869680" y="4572000"/>
            <a:ext cx="2743200" cy="274320"/>
          </a:xfrm>
          <a:prstGeom prst="rect">
            <a:avLst/>
          </a:prstGeom>
          <a:noFill/>
          <a:ln/>
        </p:spPr>
        <p:txBody>
          <a:bodyPr wrap="square" rtlCol="0" anchor="ctr"/>
          <a:lstStyle/>
          <a:p>
            <a:pPr indent="0" marL="0">
              <a:buNone/>
            </a:pPr>
            <a:r>
              <a:rPr lang="en-US" sz="900" b="1" spc="300" kern="0" dirty="0">
                <a:solidFill>
                  <a:srgbClr val="EC5C2A"/>
                </a:solidFill>
                <a:latin typeface="Roboto Condensed" pitchFamily="34" charset="0"/>
                <a:ea typeface="Roboto Condensed" pitchFamily="34" charset="-122"/>
                <a:cs typeface="Roboto Condensed" pitchFamily="34" charset="-120"/>
              </a:rPr>
              <a:t>AFTERNOON</a:t>
            </a:r>
            <a:endParaRPr lang="en-US" sz="900" dirty="0"/>
          </a:p>
        </p:txBody>
      </p:sp>
      <p:sp>
        <p:nvSpPr>
          <p:cNvPr id="33" name="Text 31"/>
          <p:cNvSpPr/>
          <p:nvPr/>
        </p:nvSpPr>
        <p:spPr>
          <a:xfrm>
            <a:off x="8869680" y="4892040"/>
            <a:ext cx="2743200" cy="457200"/>
          </a:xfrm>
          <a:prstGeom prst="rect">
            <a:avLst/>
          </a:prstGeom>
          <a:noFill/>
          <a:ln/>
        </p:spPr>
        <p:txBody>
          <a:bodyPr wrap="square" rtlCol="0" anchor="ctr"/>
          <a:lstStyle/>
          <a:p>
            <a:pPr indent="0" marL="0">
              <a:buNone/>
            </a:pPr>
            <a:r>
              <a:rPr lang="en-US" sz="1300" b="1" dirty="0">
                <a:solidFill>
                  <a:srgbClr val="0A3454"/>
                </a:solidFill>
                <a:latin typeface="Roboto" pitchFamily="34" charset="0"/>
                <a:ea typeface="Roboto" pitchFamily="34" charset="-122"/>
                <a:cs typeface="Roboto" pitchFamily="34" charset="-120"/>
              </a:rPr>
              <a:t>Cohort commitments</a:t>
            </a:r>
            <a:endParaRPr lang="en-US" sz="1300" dirty="0"/>
          </a:p>
        </p:txBody>
      </p:sp>
      <p:sp>
        <p:nvSpPr>
          <p:cNvPr id="34" name="Text 32"/>
          <p:cNvSpPr/>
          <p:nvPr/>
        </p:nvSpPr>
        <p:spPr>
          <a:xfrm>
            <a:off x="8869680" y="5394960"/>
            <a:ext cx="2743200" cy="777240"/>
          </a:xfrm>
          <a:prstGeom prst="rect">
            <a:avLst/>
          </a:prstGeom>
          <a:noFill/>
          <a:ln/>
        </p:spPr>
        <p:txBody>
          <a:bodyPr wrap="square" rtlCol="0" anchor="ctr"/>
          <a:lstStyle/>
          <a:p>
            <a:pPr indent="0" marL="0">
              <a:lnSpc>
                <a:spcPct val="130000"/>
              </a:lnSpc>
              <a:buNone/>
            </a:pPr>
            <a:r>
              <a:rPr lang="en-US" sz="1000" dirty="0">
                <a:solidFill>
                  <a:srgbClr val="404040"/>
                </a:solidFill>
                <a:latin typeface="Roboto" pitchFamily="34" charset="0"/>
                <a:ea typeface="Roboto" pitchFamily="34" charset="-122"/>
                <a:cs typeface="Roboto" pitchFamily="34" charset="-120"/>
              </a:rPr>
              <a:t>6-month implementation plan + peer pairing.</a:t>
            </a:r>
            <a:endParaRPr lang="en-US" sz="1000" dirty="0"/>
          </a:p>
        </p:txBody>
      </p:sp>
      <p:sp>
        <p:nvSpPr>
          <p:cNvPr id="35" name="Shape 33"/>
          <p:cNvSpPr/>
          <p:nvPr/>
        </p:nvSpPr>
        <p:spPr>
          <a:xfrm>
            <a:off x="548640" y="6355080"/>
            <a:ext cx="11094415" cy="0"/>
          </a:xfrm>
          <a:prstGeom prst="line">
            <a:avLst/>
          </a:prstGeom>
          <a:noFill/>
          <a:ln w="6350">
            <a:solidFill>
              <a:srgbClr val="C2C2C6"/>
            </a:solidFill>
            <a:prstDash val="solid"/>
          </a:ln>
        </p:spPr>
      </p:sp>
      <p:sp>
        <p:nvSpPr>
          <p:cNvPr id="36" name="Text 34"/>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37" name="Text 35"/>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THE CREDENTIAL</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A recognized professional development track</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Shape 3"/>
          <p:cNvSpPr/>
          <p:nvPr/>
        </p:nvSpPr>
        <p:spPr>
          <a:xfrm>
            <a:off x="548640" y="2194560"/>
            <a:ext cx="5486400" cy="4023360"/>
          </a:xfrm>
          <a:prstGeom prst="rect">
            <a:avLst/>
          </a:prstGeom>
          <a:solidFill>
            <a:srgbClr val="EC5C2A"/>
          </a:solidFill>
          <a:ln w="12700">
            <a:solidFill>
              <a:srgbClr val="EC5C2A"/>
            </a:solidFill>
            <a:prstDash val="solid"/>
          </a:ln>
        </p:spPr>
        <p:txBody>
          <a:bodyPr/>
          <a:p/>
        </p:txBody>
      </p:sp>
      <p:sp>
        <p:nvSpPr>
          <p:cNvPr id="6" name="Text 4"/>
          <p:cNvSpPr/>
          <p:nvPr/>
        </p:nvSpPr>
        <p:spPr>
          <a:xfrm>
            <a:off x="914400" y="2377440"/>
            <a:ext cx="4754880" cy="365760"/>
          </a:xfrm>
          <a:prstGeom prst="rect">
            <a:avLst/>
          </a:prstGeom>
          <a:noFill/>
          <a:ln/>
        </p:spPr>
        <p:txBody>
          <a:bodyPr wrap="square" rtlCol="0" anchor="ctr"/>
          <a:lstStyle/>
          <a:p>
            <a:pPr indent="0" marL="0">
              <a:buNone/>
            </a:pPr>
            <a:r>
              <a:rPr lang="en-US" sz="1100" b="1" spc="500" kern="0" dirty="0">
                <a:solidFill>
                  <a:srgbClr val="FFFFFF"/>
                </a:solidFill>
                <a:latin typeface="Roboto Condensed" pitchFamily="34" charset="0"/>
                <a:ea typeface="Roboto Condensed" pitchFamily="34" charset="-122"/>
                <a:cs typeface="Roboto Condensed" pitchFamily="34" charset="-120"/>
              </a:rPr>
              <a:t>STAGE 1</a:t>
            </a:r>
            <a:endParaRPr lang="en-US" sz="1100" dirty="0"/>
          </a:p>
        </p:txBody>
      </p:sp>
      <p:sp>
        <p:nvSpPr>
          <p:cNvPr id="7" name="Text 5"/>
          <p:cNvSpPr/>
          <p:nvPr/>
        </p:nvSpPr>
        <p:spPr>
          <a:xfrm>
            <a:off x="914400" y="2834640"/>
            <a:ext cx="4754880" cy="1097280"/>
          </a:xfrm>
          <a:prstGeom prst="rect">
            <a:avLst/>
          </a:prstGeom>
          <a:noFill/>
          <a:ln/>
        </p:spPr>
        <p:txBody>
          <a:bodyPr wrap="square" rtlCol="0" anchor="ctr"/>
          <a:lstStyle/>
          <a:p>
            <a:pPr indent="0" marL="0">
              <a:lnSpc>
                <a:spcPct val="110000"/>
              </a:lnSpc>
              <a:buNone/>
            </a:pPr>
            <a:r>
              <a:rPr lang="en-US" sz="2200" b="1" dirty="0">
                <a:solidFill>
                  <a:srgbClr val="FFFFFF"/>
                </a:solidFill>
                <a:latin typeface="Roboto" pitchFamily="34" charset="0"/>
                <a:ea typeface="Roboto" pitchFamily="34" charset="-122"/>
                <a:cs typeface="Roboto" pitchFamily="34" charset="-120"/>
              </a:rPr>
              <a:t>Certificate of Completion</a:t>
            </a:r>
            <a:endParaRPr lang="en-US" sz="2200" dirty="0"/>
          </a:p>
        </p:txBody>
      </p:sp>
      <p:sp>
        <p:nvSpPr>
          <p:cNvPr id="8" name="Text 6"/>
          <p:cNvSpPr/>
          <p:nvPr/>
        </p:nvSpPr>
        <p:spPr>
          <a:xfrm>
            <a:off x="914400" y="4023360"/>
            <a:ext cx="4754880" cy="2103120"/>
          </a:xfrm>
          <a:prstGeom prst="rect">
            <a:avLst/>
          </a:prstGeom>
          <a:noFill/>
          <a:ln/>
        </p:spPr>
        <p:txBody>
          <a:bodyPr wrap="square" rtlCol="0" anchor="ctr"/>
          <a:lstStyle/>
          <a:p>
            <a:pPr indent="0" marL="0">
              <a:lnSpc>
                <a:spcPct val="140000"/>
              </a:lnSpc>
              <a:buNone/>
            </a:pPr>
            <a:r>
              <a:rPr lang="en-US" sz="1100" dirty="0">
                <a:solidFill>
                  <a:srgbClr val="FFFFFF"/>
                </a:solidFill>
                <a:latin typeface="Roboto" pitchFamily="34" charset="0"/>
                <a:ea typeface="Roboto" pitchFamily="34" charset="-122"/>
                <a:cs typeface="Roboto" pitchFamily="34" charset="-120"/>
              </a:rPr>
              <a:t>Awarded after the two-day campus. Validates competency in the three keystone behaviors: conducting the Brief, guiding the experience, and conducting the Debrief. Trainable, repeatable facilitation skills grounded in behavioral science [1][4][5]. Included in registration.</a:t>
            </a:r>
            <a:endParaRPr lang="en-US" sz="1100" dirty="0"/>
          </a:p>
        </p:txBody>
      </p:sp>
      <p:sp>
        <p:nvSpPr>
          <p:cNvPr id="9" name="Shape 7"/>
          <p:cNvSpPr/>
          <p:nvPr/>
        </p:nvSpPr>
        <p:spPr>
          <a:xfrm>
            <a:off x="6217920" y="2194560"/>
            <a:ext cx="5486400" cy="4023360"/>
          </a:xfrm>
          <a:prstGeom prst="rect">
            <a:avLst/>
          </a:prstGeom>
          <a:solidFill>
            <a:srgbClr val="0A3454"/>
          </a:solidFill>
          <a:ln w="12700">
            <a:solidFill>
              <a:srgbClr val="0A3454"/>
            </a:solidFill>
            <a:prstDash val="solid"/>
          </a:ln>
        </p:spPr>
        <p:txBody>
          <a:bodyPr/>
          <a:p/>
        </p:txBody>
      </p:sp>
      <p:sp>
        <p:nvSpPr>
          <p:cNvPr id="10" name="Text 8"/>
          <p:cNvSpPr/>
          <p:nvPr/>
        </p:nvSpPr>
        <p:spPr>
          <a:xfrm>
            <a:off x="6583680" y="2377440"/>
            <a:ext cx="4754880" cy="365760"/>
          </a:xfrm>
          <a:prstGeom prst="rect">
            <a:avLst/>
          </a:prstGeom>
          <a:noFill/>
          <a:ln/>
        </p:spPr>
        <p:txBody>
          <a:bodyPr wrap="square" rtlCol="0" anchor="ctr"/>
          <a:lstStyle/>
          <a:p>
            <a:pPr indent="0" marL="0">
              <a:buNone/>
            </a:pPr>
            <a:r>
              <a:rPr lang="en-US" sz="1100" b="1" spc="500" kern="0" dirty="0">
                <a:solidFill>
                  <a:srgbClr val="FFFFFF"/>
                </a:solidFill>
                <a:latin typeface="Roboto Condensed" pitchFamily="34" charset="0"/>
                <a:ea typeface="Roboto Condensed" pitchFamily="34" charset="-122"/>
                <a:cs typeface="Roboto Condensed" pitchFamily="34" charset="-120"/>
              </a:rPr>
              <a:t>STAGE 2 · OPTIONAL</a:t>
            </a:r>
            <a:endParaRPr lang="en-US" sz="1100" dirty="0"/>
          </a:p>
        </p:txBody>
      </p:sp>
      <p:sp>
        <p:nvSpPr>
          <p:cNvPr id="11" name="Text 9"/>
          <p:cNvSpPr/>
          <p:nvPr/>
        </p:nvSpPr>
        <p:spPr>
          <a:xfrm>
            <a:off x="6583680" y="2834640"/>
            <a:ext cx="4754880" cy="1097280"/>
          </a:xfrm>
          <a:prstGeom prst="rect">
            <a:avLst/>
          </a:prstGeom>
          <a:noFill/>
          <a:ln/>
        </p:spPr>
        <p:txBody>
          <a:bodyPr wrap="square" rtlCol="0" anchor="ctr"/>
          <a:lstStyle/>
          <a:p>
            <a:pPr indent="0" marL="0">
              <a:lnSpc>
                <a:spcPct val="110000"/>
              </a:lnSpc>
              <a:buNone/>
            </a:pPr>
            <a:r>
              <a:rPr lang="en-US" sz="2200" b="1" dirty="0">
                <a:solidFill>
                  <a:srgbClr val="FFFFFF"/>
                </a:solidFill>
                <a:latin typeface="Roboto" pitchFamily="34" charset="0"/>
                <a:ea typeface="Roboto" pitchFamily="34" charset="-122"/>
                <a:cs typeface="Roboto" pitchFamily="34" charset="-120"/>
              </a:rPr>
              <a:t>Certified Transformative Volunteering Leader</a:t>
            </a:r>
            <a:endParaRPr lang="en-US" sz="2200" dirty="0"/>
          </a:p>
        </p:txBody>
      </p:sp>
      <p:sp>
        <p:nvSpPr>
          <p:cNvPr id="12" name="Text 10"/>
          <p:cNvSpPr/>
          <p:nvPr/>
        </p:nvSpPr>
        <p:spPr>
          <a:xfrm>
            <a:off x="6583680" y="4023360"/>
            <a:ext cx="4754880" cy="2103120"/>
          </a:xfrm>
          <a:prstGeom prst="rect">
            <a:avLst/>
          </a:prstGeom>
          <a:noFill/>
          <a:ln/>
        </p:spPr>
        <p:txBody>
          <a:bodyPr wrap="square" rtlCol="0" anchor="ctr"/>
          <a:lstStyle/>
          <a:p>
            <a:pPr indent="0" marL="0">
              <a:lnSpc>
                <a:spcPct val="140000"/>
              </a:lnSpc>
              <a:buNone/>
            </a:pPr>
            <a:r>
              <a:rPr lang="en-US" sz="1100" dirty="0">
                <a:solidFill>
                  <a:srgbClr val="FFFFFF"/>
                </a:solidFill>
                <a:latin typeface="Roboto" pitchFamily="34" charset="0"/>
                <a:ea typeface="Roboto" pitchFamily="34" charset="-122"/>
                <a:cs typeface="Roboto" pitchFamily="34" charset="-120"/>
              </a:rPr>
              <a:t>Awarded after the 6-month cohort, sustained implementation, and competency verification. Complex prosocial behaviors require repeated, spaced practice to reach automaticity [17][18]. The cohort provides that structure. Positions volunteer leadership as a recognized professional development track.</a:t>
            </a:r>
            <a:endParaRPr lang="en-US" sz="1100" dirty="0"/>
          </a:p>
        </p:txBody>
      </p:sp>
      <p:sp>
        <p:nvSpPr>
          <p:cNvPr id="13" name="Shape 11"/>
          <p:cNvSpPr/>
          <p:nvPr/>
        </p:nvSpPr>
        <p:spPr>
          <a:xfrm>
            <a:off x="548640" y="6355080"/>
            <a:ext cx="11094415" cy="0"/>
          </a:xfrm>
          <a:prstGeom prst="line">
            <a:avLst/>
          </a:prstGeom>
          <a:noFill/>
          <a:ln w="6350">
            <a:solidFill>
              <a:srgbClr val="C2C2C6"/>
            </a:solidFill>
            <a:prstDash val="solid"/>
          </a:ln>
        </p:spPr>
        <p:txBody>
          <a:bodyPr/>
          <a:p/>
        </p:txBody>
      </p:sp>
      <p:sp>
        <p:nvSpPr>
          <p:cNvPr id="14" name="Text 12"/>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5" name="Text 13"/>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INVESTMENT</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Pricing for the 2026 cohort</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sp>
      <p:sp>
        <p:nvSpPr>
          <p:cNvPr id="5" name="Text 3"/>
          <p:cNvSpPr/>
          <p:nvPr/>
        </p:nvSpPr>
        <p:spPr>
          <a:xfrm>
            <a:off x="548640" y="2103120"/>
            <a:ext cx="10972800" cy="365760"/>
          </a:xfrm>
          <a:prstGeom prst="rect">
            <a:avLst/>
          </a:prstGeom>
          <a:noFill/>
          <a:ln/>
        </p:spPr>
        <p:txBody>
          <a:bodyPr wrap="square" rtlCol="0" anchor="ctr"/>
          <a:lstStyle/>
          <a:p>
            <a:pPr indent="0" marL="0">
              <a:buNone/>
            </a:pPr>
            <a:r>
              <a:rPr lang="en-US" sz="1200" dirty="0">
                <a:solidFill>
                  <a:srgbClr val="4491A9"/>
                </a:solidFill>
                <a:latin typeface="Roboto Condensed" pitchFamily="34" charset="0"/>
                <a:ea typeface="Roboto Condensed" pitchFamily="34" charset="-122"/>
                <a:cs typeface="Roboto Condensed" pitchFamily="34" charset="-120"/>
              </a:rPr>
              <a:t>Campus: Washington DC · September 2026</a:t>
            </a:r>
            <a:endParaRPr lang="en-US" sz="1200" dirty="0"/>
          </a:p>
        </p:txBody>
      </p:sp>
      <p:sp>
        <p:nvSpPr>
          <p:cNvPr id="6" name="Shape 4"/>
          <p:cNvSpPr/>
          <p:nvPr/>
        </p:nvSpPr>
        <p:spPr>
          <a:xfrm>
            <a:off x="548640" y="2651760"/>
            <a:ext cx="3291840" cy="594360"/>
          </a:xfrm>
          <a:prstGeom prst="rect">
            <a:avLst/>
          </a:prstGeom>
          <a:solidFill>
            <a:srgbClr val="0A3454"/>
          </a:solidFill>
          <a:ln w="12700">
            <a:solidFill>
              <a:srgbClr val="0A3454"/>
            </a:solidFill>
            <a:prstDash val="solid"/>
          </a:ln>
        </p:spPr>
      </p:sp>
      <p:sp>
        <p:nvSpPr>
          <p:cNvPr id="7" name="Text 5"/>
          <p:cNvSpPr/>
          <p:nvPr/>
        </p:nvSpPr>
        <p:spPr>
          <a:xfrm>
            <a:off x="548640" y="2651760"/>
            <a:ext cx="3291840" cy="594360"/>
          </a:xfrm>
          <a:prstGeom prst="rect">
            <a:avLst/>
          </a:prstGeom>
          <a:noFill/>
          <a:ln/>
        </p:spPr>
        <p:txBody>
          <a:bodyPr wrap="square" rtlCol="0" anchor="ctr"/>
          <a:lstStyle/>
          <a:p>
            <a:pPr algn="l" indent="0" marL="0">
              <a:buNone/>
            </a:pPr>
            <a:r>
              <a:rPr lang="en-US" sz="1100" b="1" spc="300" kern="0" dirty="0">
                <a:solidFill>
                  <a:srgbClr val="FFFFFF"/>
                </a:solidFill>
                <a:latin typeface="Roboto Condensed" pitchFamily="34" charset="0"/>
                <a:ea typeface="Roboto Condensed" pitchFamily="34" charset="-122"/>
                <a:cs typeface="Roboto Condensed" pitchFamily="34" charset="-120"/>
              </a:rPr>
              <a:t>TIER</a:t>
            </a:r>
            <a:endParaRPr lang="en-US" sz="1100" dirty="0"/>
          </a:p>
        </p:txBody>
      </p:sp>
      <p:sp>
        <p:nvSpPr>
          <p:cNvPr id="8" name="Shape 6"/>
          <p:cNvSpPr/>
          <p:nvPr/>
        </p:nvSpPr>
        <p:spPr>
          <a:xfrm>
            <a:off x="3840480" y="2651760"/>
            <a:ext cx="1280160" cy="594360"/>
          </a:xfrm>
          <a:prstGeom prst="rect">
            <a:avLst/>
          </a:prstGeom>
          <a:solidFill>
            <a:srgbClr val="0A3454"/>
          </a:solidFill>
          <a:ln w="12700">
            <a:solidFill>
              <a:srgbClr val="0A3454"/>
            </a:solidFill>
            <a:prstDash val="solid"/>
          </a:ln>
        </p:spPr>
      </p:sp>
      <p:sp>
        <p:nvSpPr>
          <p:cNvPr id="9" name="Text 7"/>
          <p:cNvSpPr/>
          <p:nvPr/>
        </p:nvSpPr>
        <p:spPr>
          <a:xfrm>
            <a:off x="3840480" y="2651760"/>
            <a:ext cx="1280160" cy="594360"/>
          </a:xfrm>
          <a:prstGeom prst="rect">
            <a:avLst/>
          </a:prstGeom>
          <a:noFill/>
          <a:ln/>
        </p:spPr>
        <p:txBody>
          <a:bodyPr wrap="square" rtlCol="0" anchor="ctr"/>
          <a:lstStyle/>
          <a:p>
            <a:pPr algn="ctr" indent="0" marL="0">
              <a:buNone/>
            </a:pPr>
            <a:r>
              <a:rPr lang="en-US" sz="1100" b="1" spc="300" kern="0" dirty="0">
                <a:solidFill>
                  <a:srgbClr val="FFFFFF"/>
                </a:solidFill>
                <a:latin typeface="Roboto Condensed" pitchFamily="34" charset="0"/>
                <a:ea typeface="Roboto Condensed" pitchFamily="34" charset="-122"/>
                <a:cs typeface="Roboto Condensed" pitchFamily="34" charset="-120"/>
              </a:rPr>
              <a:t>SEATS</a:t>
            </a:r>
            <a:endParaRPr lang="en-US" sz="1100" dirty="0"/>
          </a:p>
        </p:txBody>
      </p:sp>
      <p:sp>
        <p:nvSpPr>
          <p:cNvPr id="10" name="Shape 8"/>
          <p:cNvSpPr/>
          <p:nvPr/>
        </p:nvSpPr>
        <p:spPr>
          <a:xfrm>
            <a:off x="5120640" y="2651760"/>
            <a:ext cx="2377440" cy="594360"/>
          </a:xfrm>
          <a:prstGeom prst="rect">
            <a:avLst/>
          </a:prstGeom>
          <a:solidFill>
            <a:srgbClr val="0A3454"/>
          </a:solidFill>
          <a:ln w="12700">
            <a:solidFill>
              <a:srgbClr val="0A3454"/>
            </a:solidFill>
            <a:prstDash val="solid"/>
          </a:ln>
        </p:spPr>
      </p:sp>
      <p:sp>
        <p:nvSpPr>
          <p:cNvPr id="11" name="Text 9"/>
          <p:cNvSpPr/>
          <p:nvPr/>
        </p:nvSpPr>
        <p:spPr>
          <a:xfrm>
            <a:off x="5120640" y="2651760"/>
            <a:ext cx="2377440" cy="594360"/>
          </a:xfrm>
          <a:prstGeom prst="rect">
            <a:avLst/>
          </a:prstGeom>
          <a:noFill/>
          <a:ln/>
        </p:spPr>
        <p:txBody>
          <a:bodyPr wrap="square" rtlCol="0" anchor="ctr"/>
          <a:lstStyle/>
          <a:p>
            <a:pPr algn="ctr" indent="0" marL="0">
              <a:buNone/>
            </a:pPr>
            <a:r>
              <a:rPr lang="en-US" sz="1100" b="1" spc="300" kern="0" dirty="0">
                <a:solidFill>
                  <a:srgbClr val="FFFFFF"/>
                </a:solidFill>
                <a:latin typeface="Roboto Condensed" pitchFamily="34" charset="0"/>
                <a:ea typeface="Roboto Condensed" pitchFamily="34" charset="-122"/>
                <a:cs typeface="Roboto Condensed" pitchFamily="34" charset="-120"/>
              </a:rPr>
              <a:t>TOTAL</a:t>
            </a:r>
            <a:endParaRPr lang="en-US" sz="1100" dirty="0"/>
          </a:p>
        </p:txBody>
      </p:sp>
      <p:sp>
        <p:nvSpPr>
          <p:cNvPr id="12" name="Shape 10"/>
          <p:cNvSpPr/>
          <p:nvPr/>
        </p:nvSpPr>
        <p:spPr>
          <a:xfrm>
            <a:off x="7498080" y="2651760"/>
            <a:ext cx="2194560" cy="594360"/>
          </a:xfrm>
          <a:prstGeom prst="rect">
            <a:avLst/>
          </a:prstGeom>
          <a:solidFill>
            <a:srgbClr val="0A3454"/>
          </a:solidFill>
          <a:ln w="12700">
            <a:solidFill>
              <a:srgbClr val="0A3454"/>
            </a:solidFill>
            <a:prstDash val="solid"/>
          </a:ln>
        </p:spPr>
      </p:sp>
      <p:sp>
        <p:nvSpPr>
          <p:cNvPr id="13" name="Text 11"/>
          <p:cNvSpPr/>
          <p:nvPr/>
        </p:nvSpPr>
        <p:spPr>
          <a:xfrm>
            <a:off x="7498080" y="2651760"/>
            <a:ext cx="2194560" cy="594360"/>
          </a:xfrm>
          <a:prstGeom prst="rect">
            <a:avLst/>
          </a:prstGeom>
          <a:noFill/>
          <a:ln/>
        </p:spPr>
        <p:txBody>
          <a:bodyPr wrap="square" rtlCol="0" anchor="ctr"/>
          <a:lstStyle/>
          <a:p>
            <a:pPr algn="ctr" indent="0" marL="0">
              <a:buNone/>
            </a:pPr>
            <a:r>
              <a:rPr lang="en-US" sz="1100" b="1" spc="300" kern="0" dirty="0">
                <a:solidFill>
                  <a:srgbClr val="FFFFFF"/>
                </a:solidFill>
                <a:latin typeface="Roboto Condensed" pitchFamily="34" charset="0"/>
                <a:ea typeface="Roboto Condensed" pitchFamily="34" charset="-122"/>
                <a:cs typeface="Roboto Condensed" pitchFamily="34" charset="-120"/>
              </a:rPr>
              <a:t>PER SEAT</a:t>
            </a:r>
            <a:endParaRPr lang="en-US" sz="1100" dirty="0"/>
          </a:p>
        </p:txBody>
      </p:sp>
      <p:sp>
        <p:nvSpPr>
          <p:cNvPr id="14" name="Shape 12"/>
          <p:cNvSpPr/>
          <p:nvPr/>
        </p:nvSpPr>
        <p:spPr>
          <a:xfrm>
            <a:off x="9692640" y="2651760"/>
            <a:ext cx="1947672" cy="594360"/>
          </a:xfrm>
          <a:prstGeom prst="rect">
            <a:avLst/>
          </a:prstGeom>
          <a:solidFill>
            <a:srgbClr val="0A3454"/>
          </a:solidFill>
          <a:ln w="12700">
            <a:solidFill>
              <a:srgbClr val="0A3454"/>
            </a:solidFill>
            <a:prstDash val="solid"/>
          </a:ln>
        </p:spPr>
      </p:sp>
      <p:sp>
        <p:nvSpPr>
          <p:cNvPr id="15" name="Text 13"/>
          <p:cNvSpPr/>
          <p:nvPr/>
        </p:nvSpPr>
        <p:spPr>
          <a:xfrm>
            <a:off x="9692640" y="2651760"/>
            <a:ext cx="1947672" cy="594360"/>
          </a:xfrm>
          <a:prstGeom prst="rect">
            <a:avLst/>
          </a:prstGeom>
          <a:noFill/>
          <a:ln/>
        </p:spPr>
        <p:txBody>
          <a:bodyPr wrap="square" rtlCol="0" anchor="ctr"/>
          <a:lstStyle/>
          <a:p>
            <a:pPr algn="ctr" indent="0" marL="0">
              <a:buNone/>
            </a:pPr>
            <a:r>
              <a:rPr lang="en-US" sz="1100" b="1" spc="300" kern="0" dirty="0">
                <a:solidFill>
                  <a:srgbClr val="FFFFFF"/>
                </a:solidFill>
                <a:latin typeface="Roboto Condensed" pitchFamily="34" charset="0"/>
                <a:ea typeface="Roboto Condensed" pitchFamily="34" charset="-122"/>
                <a:cs typeface="Roboto Condensed" pitchFamily="34" charset="-120"/>
              </a:rPr>
              <a:t>SAVINGS</a:t>
            </a:r>
            <a:endParaRPr lang="en-US" sz="1100" dirty="0"/>
          </a:p>
        </p:txBody>
      </p:sp>
      <p:sp>
        <p:nvSpPr>
          <p:cNvPr id="16" name="Shape 14"/>
          <p:cNvSpPr/>
          <p:nvPr/>
        </p:nvSpPr>
        <p:spPr>
          <a:xfrm>
            <a:off x="548640" y="3246120"/>
            <a:ext cx="3291840" cy="594360"/>
          </a:xfrm>
          <a:prstGeom prst="rect">
            <a:avLst/>
          </a:prstGeom>
          <a:solidFill>
            <a:srgbClr val="F6F7F8"/>
          </a:solidFill>
          <a:ln w="6350">
            <a:solidFill>
              <a:srgbClr val="C2C2C6"/>
            </a:solidFill>
            <a:prstDash val="solid"/>
          </a:ln>
        </p:spPr>
      </p:sp>
      <p:sp>
        <p:nvSpPr>
          <p:cNvPr id="17" name="Text 15"/>
          <p:cNvSpPr/>
          <p:nvPr/>
        </p:nvSpPr>
        <p:spPr>
          <a:xfrm>
            <a:off x="685800" y="3246120"/>
            <a:ext cx="3017520" cy="594360"/>
          </a:xfrm>
          <a:prstGeom prst="rect">
            <a:avLst/>
          </a:prstGeom>
          <a:noFill/>
          <a:ln/>
        </p:spPr>
        <p:txBody>
          <a:bodyPr wrap="square" rtlCol="0" anchor="ctr"/>
          <a:lstStyle/>
          <a:p>
            <a:pPr algn="l" indent="0" marL="0">
              <a:buNone/>
            </a:pPr>
            <a:r>
              <a:rPr lang="en-US" sz="1200" b="1" dirty="0">
                <a:solidFill>
                  <a:srgbClr val="404040"/>
                </a:solidFill>
                <a:latin typeface="Roboto" pitchFamily="34" charset="0"/>
                <a:ea typeface="Roboto" pitchFamily="34" charset="-122"/>
                <a:cs typeface="Roboto" pitchFamily="34" charset="-120"/>
              </a:rPr>
              <a:t>Individual</a:t>
            </a:r>
            <a:endParaRPr lang="en-US" sz="1200" dirty="0"/>
          </a:p>
        </p:txBody>
      </p:sp>
      <p:sp>
        <p:nvSpPr>
          <p:cNvPr id="18" name="Shape 16"/>
          <p:cNvSpPr/>
          <p:nvPr/>
        </p:nvSpPr>
        <p:spPr>
          <a:xfrm>
            <a:off x="3840480" y="3246120"/>
            <a:ext cx="1280160" cy="594360"/>
          </a:xfrm>
          <a:prstGeom prst="rect">
            <a:avLst/>
          </a:prstGeom>
          <a:solidFill>
            <a:srgbClr val="F6F7F8"/>
          </a:solidFill>
          <a:ln w="6350">
            <a:solidFill>
              <a:srgbClr val="C2C2C6"/>
            </a:solidFill>
            <a:prstDash val="solid"/>
          </a:ln>
        </p:spPr>
      </p:sp>
      <p:sp>
        <p:nvSpPr>
          <p:cNvPr id="19" name="Text 17"/>
          <p:cNvSpPr/>
          <p:nvPr/>
        </p:nvSpPr>
        <p:spPr>
          <a:xfrm>
            <a:off x="3977640" y="3246120"/>
            <a:ext cx="1005840"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a:t>
            </a:r>
            <a:endParaRPr lang="en-US" sz="1200" dirty="0"/>
          </a:p>
        </p:txBody>
      </p:sp>
      <p:sp>
        <p:nvSpPr>
          <p:cNvPr id="20" name="Shape 18"/>
          <p:cNvSpPr/>
          <p:nvPr/>
        </p:nvSpPr>
        <p:spPr>
          <a:xfrm>
            <a:off x="5120640" y="3246120"/>
            <a:ext cx="2377440" cy="594360"/>
          </a:xfrm>
          <a:prstGeom prst="rect">
            <a:avLst/>
          </a:prstGeom>
          <a:solidFill>
            <a:srgbClr val="F6F7F8"/>
          </a:solidFill>
          <a:ln w="6350">
            <a:solidFill>
              <a:srgbClr val="C2C2C6"/>
            </a:solidFill>
            <a:prstDash val="solid"/>
          </a:ln>
        </p:spPr>
      </p:sp>
      <p:sp>
        <p:nvSpPr>
          <p:cNvPr id="21" name="Text 19"/>
          <p:cNvSpPr/>
          <p:nvPr/>
        </p:nvSpPr>
        <p:spPr>
          <a:xfrm>
            <a:off x="5257800" y="3246120"/>
            <a:ext cx="2103120" cy="594360"/>
          </a:xfrm>
          <a:prstGeom prst="rect">
            <a:avLst/>
          </a:prstGeom>
          <a:noFill/>
          <a:ln/>
        </p:spPr>
        <p:txBody>
          <a:bodyPr wrap="square" rtlCol="0" anchor="ctr"/>
          <a:lstStyle/>
          <a:p>
            <a:pPr algn="ctr" indent="0" marL="0">
              <a:buNone/>
            </a:pPr>
            <a:r>
              <a:rPr lang="en-US" sz="1400" b="1" dirty="0">
                <a:solidFill>
                  <a:srgbClr val="0A3454"/>
                </a:solidFill>
                <a:latin typeface="Roboto" pitchFamily="34" charset="0"/>
                <a:ea typeface="Roboto" pitchFamily="34" charset="-122"/>
                <a:cs typeface="Roboto" pitchFamily="34" charset="-120"/>
              </a:rPr>
              <a:t>$2,100</a:t>
            </a:r>
            <a:endParaRPr lang="en-US" sz="1400" dirty="0"/>
          </a:p>
        </p:txBody>
      </p:sp>
      <p:sp>
        <p:nvSpPr>
          <p:cNvPr id="22" name="Shape 20"/>
          <p:cNvSpPr/>
          <p:nvPr/>
        </p:nvSpPr>
        <p:spPr>
          <a:xfrm>
            <a:off x="7498080" y="3246120"/>
            <a:ext cx="2194560" cy="594360"/>
          </a:xfrm>
          <a:prstGeom prst="rect">
            <a:avLst/>
          </a:prstGeom>
          <a:solidFill>
            <a:srgbClr val="F6F7F8"/>
          </a:solidFill>
          <a:ln w="6350">
            <a:solidFill>
              <a:srgbClr val="C2C2C6"/>
            </a:solidFill>
            <a:prstDash val="solid"/>
          </a:ln>
        </p:spPr>
      </p:sp>
      <p:sp>
        <p:nvSpPr>
          <p:cNvPr id="23" name="Text 21"/>
          <p:cNvSpPr/>
          <p:nvPr/>
        </p:nvSpPr>
        <p:spPr>
          <a:xfrm>
            <a:off x="7635240" y="3246120"/>
            <a:ext cx="1920240"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$2,100</a:t>
            </a:r>
            <a:endParaRPr lang="en-US" sz="1200" dirty="0"/>
          </a:p>
        </p:txBody>
      </p:sp>
      <p:sp>
        <p:nvSpPr>
          <p:cNvPr id="24" name="Shape 22"/>
          <p:cNvSpPr/>
          <p:nvPr/>
        </p:nvSpPr>
        <p:spPr>
          <a:xfrm>
            <a:off x="9692640" y="3246120"/>
            <a:ext cx="1947672" cy="594360"/>
          </a:xfrm>
          <a:prstGeom prst="rect">
            <a:avLst/>
          </a:prstGeom>
          <a:solidFill>
            <a:srgbClr val="F6F7F8"/>
          </a:solidFill>
          <a:ln w="6350">
            <a:solidFill>
              <a:srgbClr val="C2C2C6"/>
            </a:solidFill>
            <a:prstDash val="solid"/>
          </a:ln>
        </p:spPr>
      </p:sp>
      <p:sp>
        <p:nvSpPr>
          <p:cNvPr id="25" name="Text 23"/>
          <p:cNvSpPr/>
          <p:nvPr/>
        </p:nvSpPr>
        <p:spPr>
          <a:xfrm>
            <a:off x="9829800" y="3246120"/>
            <a:ext cx="1673352"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a:t>
            </a:r>
            <a:endParaRPr lang="en-US" sz="1200" dirty="0"/>
          </a:p>
        </p:txBody>
      </p:sp>
      <p:sp>
        <p:nvSpPr>
          <p:cNvPr id="26" name="Shape 24"/>
          <p:cNvSpPr/>
          <p:nvPr/>
        </p:nvSpPr>
        <p:spPr>
          <a:xfrm>
            <a:off x="548640" y="3840480"/>
            <a:ext cx="3291840" cy="594360"/>
          </a:xfrm>
          <a:prstGeom prst="rect">
            <a:avLst/>
          </a:prstGeom>
          <a:solidFill>
            <a:srgbClr val="EC5C2A"/>
          </a:solidFill>
          <a:ln w="6350">
            <a:solidFill>
              <a:srgbClr val="C2C2C6"/>
            </a:solidFill>
            <a:prstDash val="solid"/>
          </a:ln>
        </p:spPr>
      </p:sp>
      <p:sp>
        <p:nvSpPr>
          <p:cNvPr id="27" name="Text 25"/>
          <p:cNvSpPr/>
          <p:nvPr/>
        </p:nvSpPr>
        <p:spPr>
          <a:xfrm>
            <a:off x="685800" y="3840480"/>
            <a:ext cx="3017520" cy="594360"/>
          </a:xfrm>
          <a:prstGeom prst="rect">
            <a:avLst/>
          </a:prstGeom>
          <a:noFill/>
          <a:ln/>
        </p:spPr>
        <p:txBody>
          <a:bodyPr wrap="square" rtlCol="0" anchor="ctr"/>
          <a:lstStyle/>
          <a:p>
            <a:pPr algn="l" indent="0" marL="0">
              <a:buNone/>
            </a:pPr>
            <a:r>
              <a:rPr lang="en-US" sz="1200" b="1" dirty="0">
                <a:solidFill>
                  <a:srgbClr val="FFFFFF"/>
                </a:solidFill>
                <a:latin typeface="Roboto" pitchFamily="34" charset="0"/>
                <a:ea typeface="Roboto" pitchFamily="34" charset="-122"/>
                <a:cs typeface="Roboto" pitchFamily="34" charset="-120"/>
              </a:rPr>
              <a:t>6-Pack</a:t>
            </a:r>
            <a:endParaRPr lang="en-US" sz="1200" dirty="0"/>
          </a:p>
        </p:txBody>
      </p:sp>
      <p:sp>
        <p:nvSpPr>
          <p:cNvPr id="28" name="Shape 26"/>
          <p:cNvSpPr/>
          <p:nvPr/>
        </p:nvSpPr>
        <p:spPr>
          <a:xfrm>
            <a:off x="3840480" y="3840480"/>
            <a:ext cx="1280160" cy="594360"/>
          </a:xfrm>
          <a:prstGeom prst="rect">
            <a:avLst/>
          </a:prstGeom>
          <a:solidFill>
            <a:srgbClr val="EC5C2A"/>
          </a:solidFill>
          <a:ln w="6350">
            <a:solidFill>
              <a:srgbClr val="C2C2C6"/>
            </a:solidFill>
            <a:prstDash val="solid"/>
          </a:ln>
        </p:spPr>
      </p:sp>
      <p:sp>
        <p:nvSpPr>
          <p:cNvPr id="29" name="Text 27"/>
          <p:cNvSpPr/>
          <p:nvPr/>
        </p:nvSpPr>
        <p:spPr>
          <a:xfrm>
            <a:off x="3977640" y="3840480"/>
            <a:ext cx="1005840" cy="594360"/>
          </a:xfrm>
          <a:prstGeom prst="rect">
            <a:avLst/>
          </a:prstGeom>
          <a:noFill/>
          <a:ln/>
        </p:spPr>
        <p:txBody>
          <a:bodyPr wrap="square" rtlCol="0" anchor="ctr"/>
          <a:lstStyle/>
          <a:p>
            <a:pPr algn="ctr" indent="0" marL="0">
              <a:buNone/>
            </a:pPr>
            <a:r>
              <a:rPr lang="en-US" sz="1200" b="1" dirty="0">
                <a:solidFill>
                  <a:srgbClr val="FFFFFF"/>
                </a:solidFill>
                <a:latin typeface="Roboto" pitchFamily="34" charset="0"/>
                <a:ea typeface="Roboto" pitchFamily="34" charset="-122"/>
                <a:cs typeface="Roboto" pitchFamily="34" charset="-120"/>
              </a:rPr>
              <a:t>6</a:t>
            </a:r>
            <a:endParaRPr lang="en-US" sz="1200" dirty="0"/>
          </a:p>
        </p:txBody>
      </p:sp>
      <p:sp>
        <p:nvSpPr>
          <p:cNvPr id="30" name="Shape 28"/>
          <p:cNvSpPr/>
          <p:nvPr/>
        </p:nvSpPr>
        <p:spPr>
          <a:xfrm>
            <a:off x="5120640" y="3840480"/>
            <a:ext cx="2377440" cy="594360"/>
          </a:xfrm>
          <a:prstGeom prst="rect">
            <a:avLst/>
          </a:prstGeom>
          <a:solidFill>
            <a:srgbClr val="EC5C2A"/>
          </a:solidFill>
          <a:ln w="6350">
            <a:solidFill>
              <a:srgbClr val="C2C2C6"/>
            </a:solidFill>
            <a:prstDash val="solid"/>
          </a:ln>
        </p:spPr>
      </p:sp>
      <p:sp>
        <p:nvSpPr>
          <p:cNvPr id="31" name="Text 29"/>
          <p:cNvSpPr/>
          <p:nvPr/>
        </p:nvSpPr>
        <p:spPr>
          <a:xfrm>
            <a:off x="5257800" y="3840480"/>
            <a:ext cx="2103120" cy="594360"/>
          </a:xfrm>
          <a:prstGeom prst="rect">
            <a:avLst/>
          </a:prstGeom>
          <a:noFill/>
          <a:ln/>
        </p:spPr>
        <p:txBody>
          <a:bodyPr wrap="square" rtlCol="0" anchor="ctr"/>
          <a:lstStyle/>
          <a:p>
            <a:pPr algn="ctr" indent="0" marL="0">
              <a:buNone/>
            </a:pPr>
            <a:r>
              <a:rPr lang="en-US" sz="1400" b="1" dirty="0">
                <a:solidFill>
                  <a:srgbClr val="FFFFFF"/>
                </a:solidFill>
                <a:latin typeface="Roboto" pitchFamily="34" charset="0"/>
                <a:ea typeface="Roboto" pitchFamily="34" charset="-122"/>
                <a:cs typeface="Roboto" pitchFamily="34" charset="-120"/>
              </a:rPr>
              <a:t>$12,000</a:t>
            </a:r>
            <a:endParaRPr lang="en-US" sz="1400" dirty="0"/>
          </a:p>
        </p:txBody>
      </p:sp>
      <p:sp>
        <p:nvSpPr>
          <p:cNvPr id="32" name="Shape 30"/>
          <p:cNvSpPr/>
          <p:nvPr/>
        </p:nvSpPr>
        <p:spPr>
          <a:xfrm>
            <a:off x="7498080" y="3840480"/>
            <a:ext cx="2194560" cy="594360"/>
          </a:xfrm>
          <a:prstGeom prst="rect">
            <a:avLst/>
          </a:prstGeom>
          <a:solidFill>
            <a:srgbClr val="EC5C2A"/>
          </a:solidFill>
          <a:ln w="6350">
            <a:solidFill>
              <a:srgbClr val="C2C2C6"/>
            </a:solidFill>
            <a:prstDash val="solid"/>
          </a:ln>
        </p:spPr>
      </p:sp>
      <p:sp>
        <p:nvSpPr>
          <p:cNvPr id="33" name="Text 31"/>
          <p:cNvSpPr/>
          <p:nvPr/>
        </p:nvSpPr>
        <p:spPr>
          <a:xfrm>
            <a:off x="7635240" y="3840480"/>
            <a:ext cx="1920240" cy="594360"/>
          </a:xfrm>
          <a:prstGeom prst="rect">
            <a:avLst/>
          </a:prstGeom>
          <a:noFill/>
          <a:ln/>
        </p:spPr>
        <p:txBody>
          <a:bodyPr wrap="square" rtlCol="0" anchor="ctr"/>
          <a:lstStyle/>
          <a:p>
            <a:pPr algn="ctr" indent="0" marL="0">
              <a:buNone/>
            </a:pPr>
            <a:r>
              <a:rPr lang="en-US" sz="1200" b="1" dirty="0">
                <a:solidFill>
                  <a:srgbClr val="FFFFFF"/>
                </a:solidFill>
                <a:latin typeface="Roboto" pitchFamily="34" charset="0"/>
                <a:ea typeface="Roboto" pitchFamily="34" charset="-122"/>
                <a:cs typeface="Roboto" pitchFamily="34" charset="-120"/>
              </a:rPr>
              <a:t>$2,000</a:t>
            </a:r>
            <a:endParaRPr lang="en-US" sz="1200" dirty="0"/>
          </a:p>
        </p:txBody>
      </p:sp>
      <p:sp>
        <p:nvSpPr>
          <p:cNvPr id="34" name="Shape 32"/>
          <p:cNvSpPr/>
          <p:nvPr/>
        </p:nvSpPr>
        <p:spPr>
          <a:xfrm>
            <a:off x="9692640" y="3840480"/>
            <a:ext cx="1947672" cy="594360"/>
          </a:xfrm>
          <a:prstGeom prst="rect">
            <a:avLst/>
          </a:prstGeom>
          <a:solidFill>
            <a:srgbClr val="EC5C2A"/>
          </a:solidFill>
          <a:ln w="6350">
            <a:solidFill>
              <a:srgbClr val="C2C2C6"/>
            </a:solidFill>
            <a:prstDash val="solid"/>
          </a:ln>
        </p:spPr>
      </p:sp>
      <p:sp>
        <p:nvSpPr>
          <p:cNvPr id="35" name="Text 33"/>
          <p:cNvSpPr/>
          <p:nvPr/>
        </p:nvSpPr>
        <p:spPr>
          <a:xfrm>
            <a:off x="9829800" y="3840480"/>
            <a:ext cx="1673352" cy="594360"/>
          </a:xfrm>
          <a:prstGeom prst="rect">
            <a:avLst/>
          </a:prstGeom>
          <a:noFill/>
          <a:ln/>
        </p:spPr>
        <p:txBody>
          <a:bodyPr wrap="square" rtlCol="0" anchor="ctr"/>
          <a:lstStyle/>
          <a:p>
            <a:pPr algn="ctr" indent="0" marL="0">
              <a:buNone/>
            </a:pPr>
            <a:r>
              <a:rPr lang="en-US" sz="1200" b="1" dirty="0">
                <a:solidFill>
                  <a:srgbClr val="FFFFFF"/>
                </a:solidFill>
                <a:latin typeface="Roboto" pitchFamily="34" charset="0"/>
                <a:ea typeface="Roboto" pitchFamily="34" charset="-122"/>
                <a:cs typeface="Roboto" pitchFamily="34" charset="-120"/>
              </a:rPr>
              <a:t>5% off</a:t>
            </a:r>
            <a:endParaRPr lang="en-US" sz="1200" dirty="0"/>
          </a:p>
        </p:txBody>
      </p:sp>
      <p:sp>
        <p:nvSpPr>
          <p:cNvPr id="36" name="Shape 34"/>
          <p:cNvSpPr/>
          <p:nvPr/>
        </p:nvSpPr>
        <p:spPr>
          <a:xfrm>
            <a:off x="548640" y="4434840"/>
            <a:ext cx="3291840" cy="594360"/>
          </a:xfrm>
          <a:prstGeom prst="rect">
            <a:avLst/>
          </a:prstGeom>
          <a:solidFill>
            <a:srgbClr val="F6F7F8"/>
          </a:solidFill>
          <a:ln w="6350">
            <a:solidFill>
              <a:srgbClr val="C2C2C6"/>
            </a:solidFill>
            <a:prstDash val="solid"/>
          </a:ln>
        </p:spPr>
      </p:sp>
      <p:sp>
        <p:nvSpPr>
          <p:cNvPr id="37" name="Text 35"/>
          <p:cNvSpPr/>
          <p:nvPr/>
        </p:nvSpPr>
        <p:spPr>
          <a:xfrm>
            <a:off x="685800" y="4434840"/>
            <a:ext cx="3017520" cy="594360"/>
          </a:xfrm>
          <a:prstGeom prst="rect">
            <a:avLst/>
          </a:prstGeom>
          <a:noFill/>
          <a:ln/>
        </p:spPr>
        <p:txBody>
          <a:bodyPr wrap="square" rtlCol="0" anchor="ctr"/>
          <a:lstStyle/>
          <a:p>
            <a:pPr algn="l" indent="0" marL="0">
              <a:buNone/>
            </a:pPr>
            <a:r>
              <a:rPr lang="en-US" sz="1200" b="1" dirty="0">
                <a:solidFill>
                  <a:srgbClr val="404040"/>
                </a:solidFill>
                <a:latin typeface="Roboto" pitchFamily="34" charset="0"/>
                <a:ea typeface="Roboto" pitchFamily="34" charset="-122"/>
                <a:cs typeface="Roboto" pitchFamily="34" charset="-120"/>
              </a:rPr>
              <a:t>12-Pack</a:t>
            </a:r>
            <a:endParaRPr lang="en-US" sz="1200" dirty="0"/>
          </a:p>
        </p:txBody>
      </p:sp>
      <p:sp>
        <p:nvSpPr>
          <p:cNvPr id="38" name="Shape 36"/>
          <p:cNvSpPr/>
          <p:nvPr/>
        </p:nvSpPr>
        <p:spPr>
          <a:xfrm>
            <a:off x="3840480" y="4434840"/>
            <a:ext cx="1280160" cy="594360"/>
          </a:xfrm>
          <a:prstGeom prst="rect">
            <a:avLst/>
          </a:prstGeom>
          <a:solidFill>
            <a:srgbClr val="F6F7F8"/>
          </a:solidFill>
          <a:ln w="6350">
            <a:solidFill>
              <a:srgbClr val="C2C2C6"/>
            </a:solidFill>
            <a:prstDash val="solid"/>
          </a:ln>
        </p:spPr>
      </p:sp>
      <p:sp>
        <p:nvSpPr>
          <p:cNvPr id="39" name="Text 37"/>
          <p:cNvSpPr/>
          <p:nvPr/>
        </p:nvSpPr>
        <p:spPr>
          <a:xfrm>
            <a:off x="3977640" y="4434840"/>
            <a:ext cx="1005840"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12</a:t>
            </a:r>
            <a:endParaRPr lang="en-US" sz="1200" dirty="0"/>
          </a:p>
        </p:txBody>
      </p:sp>
      <p:sp>
        <p:nvSpPr>
          <p:cNvPr id="40" name="Shape 38"/>
          <p:cNvSpPr/>
          <p:nvPr/>
        </p:nvSpPr>
        <p:spPr>
          <a:xfrm>
            <a:off x="5120640" y="4434840"/>
            <a:ext cx="2377440" cy="594360"/>
          </a:xfrm>
          <a:prstGeom prst="rect">
            <a:avLst/>
          </a:prstGeom>
          <a:solidFill>
            <a:srgbClr val="F6F7F8"/>
          </a:solidFill>
          <a:ln w="6350">
            <a:solidFill>
              <a:srgbClr val="C2C2C6"/>
            </a:solidFill>
            <a:prstDash val="solid"/>
          </a:ln>
        </p:spPr>
      </p:sp>
      <p:sp>
        <p:nvSpPr>
          <p:cNvPr id="41" name="Text 39"/>
          <p:cNvSpPr/>
          <p:nvPr/>
        </p:nvSpPr>
        <p:spPr>
          <a:xfrm>
            <a:off x="5257800" y="4434840"/>
            <a:ext cx="2103120" cy="594360"/>
          </a:xfrm>
          <a:prstGeom prst="rect">
            <a:avLst/>
          </a:prstGeom>
          <a:noFill/>
          <a:ln/>
        </p:spPr>
        <p:txBody>
          <a:bodyPr wrap="square" rtlCol="0" anchor="ctr"/>
          <a:lstStyle/>
          <a:p>
            <a:pPr algn="ctr" indent="0" marL="0">
              <a:buNone/>
            </a:pPr>
            <a:r>
              <a:rPr lang="en-US" sz="1400" b="1" dirty="0">
                <a:solidFill>
                  <a:srgbClr val="0A3454"/>
                </a:solidFill>
                <a:latin typeface="Roboto" pitchFamily="34" charset="0"/>
                <a:ea typeface="Roboto" pitchFamily="34" charset="-122"/>
                <a:cs typeface="Roboto" pitchFamily="34" charset="-120"/>
              </a:rPr>
              <a:t>$22,800</a:t>
            </a:r>
            <a:endParaRPr lang="en-US" sz="1400" dirty="0"/>
          </a:p>
        </p:txBody>
      </p:sp>
      <p:sp>
        <p:nvSpPr>
          <p:cNvPr id="42" name="Shape 40"/>
          <p:cNvSpPr/>
          <p:nvPr/>
        </p:nvSpPr>
        <p:spPr>
          <a:xfrm>
            <a:off x="7498080" y="4434840"/>
            <a:ext cx="2194560" cy="594360"/>
          </a:xfrm>
          <a:prstGeom prst="rect">
            <a:avLst/>
          </a:prstGeom>
          <a:solidFill>
            <a:srgbClr val="F6F7F8"/>
          </a:solidFill>
          <a:ln w="6350">
            <a:solidFill>
              <a:srgbClr val="C2C2C6"/>
            </a:solidFill>
            <a:prstDash val="solid"/>
          </a:ln>
        </p:spPr>
      </p:sp>
      <p:sp>
        <p:nvSpPr>
          <p:cNvPr id="43" name="Text 41"/>
          <p:cNvSpPr/>
          <p:nvPr/>
        </p:nvSpPr>
        <p:spPr>
          <a:xfrm>
            <a:off x="7635240" y="4434840"/>
            <a:ext cx="1920240"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$1,900</a:t>
            </a:r>
            <a:endParaRPr lang="en-US" sz="1200" dirty="0"/>
          </a:p>
        </p:txBody>
      </p:sp>
      <p:sp>
        <p:nvSpPr>
          <p:cNvPr id="44" name="Shape 42"/>
          <p:cNvSpPr/>
          <p:nvPr/>
        </p:nvSpPr>
        <p:spPr>
          <a:xfrm>
            <a:off x="9692640" y="4434840"/>
            <a:ext cx="1947672" cy="594360"/>
          </a:xfrm>
          <a:prstGeom prst="rect">
            <a:avLst/>
          </a:prstGeom>
          <a:solidFill>
            <a:srgbClr val="F6F7F8"/>
          </a:solidFill>
          <a:ln w="6350">
            <a:solidFill>
              <a:srgbClr val="C2C2C6"/>
            </a:solidFill>
            <a:prstDash val="solid"/>
          </a:ln>
        </p:spPr>
      </p:sp>
      <p:sp>
        <p:nvSpPr>
          <p:cNvPr id="45" name="Text 43"/>
          <p:cNvSpPr/>
          <p:nvPr/>
        </p:nvSpPr>
        <p:spPr>
          <a:xfrm>
            <a:off x="9829800" y="4434840"/>
            <a:ext cx="1673352"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10% off</a:t>
            </a:r>
            <a:endParaRPr lang="en-US" sz="1200" dirty="0"/>
          </a:p>
        </p:txBody>
      </p:sp>
      <p:sp>
        <p:nvSpPr>
          <p:cNvPr id="46" name="Shape 44"/>
          <p:cNvSpPr/>
          <p:nvPr/>
        </p:nvSpPr>
        <p:spPr>
          <a:xfrm>
            <a:off x="548640" y="5029200"/>
            <a:ext cx="3291840" cy="594360"/>
          </a:xfrm>
          <a:prstGeom prst="rect">
            <a:avLst/>
          </a:prstGeom>
          <a:solidFill>
            <a:srgbClr val="FFFFFF"/>
          </a:solidFill>
          <a:ln w="6350">
            <a:solidFill>
              <a:srgbClr val="C2C2C6"/>
            </a:solidFill>
            <a:prstDash val="solid"/>
          </a:ln>
        </p:spPr>
      </p:sp>
      <p:sp>
        <p:nvSpPr>
          <p:cNvPr id="47" name="Text 45"/>
          <p:cNvSpPr/>
          <p:nvPr/>
        </p:nvSpPr>
        <p:spPr>
          <a:xfrm>
            <a:off x="685800" y="5029200"/>
            <a:ext cx="3017520" cy="594360"/>
          </a:xfrm>
          <a:prstGeom prst="rect">
            <a:avLst/>
          </a:prstGeom>
          <a:noFill/>
          <a:ln/>
        </p:spPr>
        <p:txBody>
          <a:bodyPr wrap="square" rtlCol="0" anchor="ctr"/>
          <a:lstStyle/>
          <a:p>
            <a:pPr algn="l" indent="0" marL="0">
              <a:buNone/>
            </a:pPr>
            <a:r>
              <a:rPr lang="en-US" sz="1200" b="1" dirty="0">
                <a:solidFill>
                  <a:srgbClr val="404040"/>
                </a:solidFill>
                <a:latin typeface="Roboto" pitchFamily="34" charset="0"/>
                <a:ea typeface="Roboto" pitchFamily="34" charset="-122"/>
                <a:cs typeface="Roboto" pitchFamily="34" charset="-120"/>
              </a:rPr>
              <a:t>18-Pack</a:t>
            </a:r>
            <a:endParaRPr lang="en-US" sz="1200" dirty="0"/>
          </a:p>
        </p:txBody>
      </p:sp>
      <p:sp>
        <p:nvSpPr>
          <p:cNvPr id="48" name="Shape 46"/>
          <p:cNvSpPr/>
          <p:nvPr/>
        </p:nvSpPr>
        <p:spPr>
          <a:xfrm>
            <a:off x="3840480" y="5029200"/>
            <a:ext cx="1280160" cy="594360"/>
          </a:xfrm>
          <a:prstGeom prst="rect">
            <a:avLst/>
          </a:prstGeom>
          <a:solidFill>
            <a:srgbClr val="FFFFFF"/>
          </a:solidFill>
          <a:ln w="6350">
            <a:solidFill>
              <a:srgbClr val="C2C2C6"/>
            </a:solidFill>
            <a:prstDash val="solid"/>
          </a:ln>
        </p:spPr>
      </p:sp>
      <p:sp>
        <p:nvSpPr>
          <p:cNvPr id="49" name="Text 47"/>
          <p:cNvSpPr/>
          <p:nvPr/>
        </p:nvSpPr>
        <p:spPr>
          <a:xfrm>
            <a:off x="3977640" y="5029200"/>
            <a:ext cx="1005840"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18</a:t>
            </a:r>
            <a:endParaRPr lang="en-US" sz="1200" dirty="0"/>
          </a:p>
        </p:txBody>
      </p:sp>
      <p:sp>
        <p:nvSpPr>
          <p:cNvPr id="50" name="Shape 48"/>
          <p:cNvSpPr/>
          <p:nvPr/>
        </p:nvSpPr>
        <p:spPr>
          <a:xfrm>
            <a:off x="5120640" y="5029200"/>
            <a:ext cx="2377440" cy="594360"/>
          </a:xfrm>
          <a:prstGeom prst="rect">
            <a:avLst/>
          </a:prstGeom>
          <a:solidFill>
            <a:srgbClr val="FFFFFF"/>
          </a:solidFill>
          <a:ln w="6350">
            <a:solidFill>
              <a:srgbClr val="C2C2C6"/>
            </a:solidFill>
            <a:prstDash val="solid"/>
          </a:ln>
        </p:spPr>
      </p:sp>
      <p:sp>
        <p:nvSpPr>
          <p:cNvPr id="51" name="Text 49"/>
          <p:cNvSpPr/>
          <p:nvPr/>
        </p:nvSpPr>
        <p:spPr>
          <a:xfrm>
            <a:off x="5257800" y="5029200"/>
            <a:ext cx="2103120" cy="594360"/>
          </a:xfrm>
          <a:prstGeom prst="rect">
            <a:avLst/>
          </a:prstGeom>
          <a:noFill/>
          <a:ln/>
        </p:spPr>
        <p:txBody>
          <a:bodyPr wrap="square" rtlCol="0" anchor="ctr"/>
          <a:lstStyle/>
          <a:p>
            <a:pPr algn="ctr" indent="0" marL="0">
              <a:buNone/>
            </a:pPr>
            <a:r>
              <a:rPr lang="en-US" sz="1400" b="1" dirty="0">
                <a:solidFill>
                  <a:srgbClr val="0A3454"/>
                </a:solidFill>
                <a:latin typeface="Roboto" pitchFamily="34" charset="0"/>
                <a:ea typeface="Roboto" pitchFamily="34" charset="-122"/>
                <a:cs typeface="Roboto" pitchFamily="34" charset="-120"/>
              </a:rPr>
              <a:t>$32,130</a:t>
            </a:r>
            <a:endParaRPr lang="en-US" sz="1400" dirty="0"/>
          </a:p>
        </p:txBody>
      </p:sp>
      <p:sp>
        <p:nvSpPr>
          <p:cNvPr id="52" name="Shape 50"/>
          <p:cNvSpPr/>
          <p:nvPr/>
        </p:nvSpPr>
        <p:spPr>
          <a:xfrm>
            <a:off x="7498080" y="5029200"/>
            <a:ext cx="2194560" cy="594360"/>
          </a:xfrm>
          <a:prstGeom prst="rect">
            <a:avLst/>
          </a:prstGeom>
          <a:solidFill>
            <a:srgbClr val="FFFFFF"/>
          </a:solidFill>
          <a:ln w="6350">
            <a:solidFill>
              <a:srgbClr val="C2C2C6"/>
            </a:solidFill>
            <a:prstDash val="solid"/>
          </a:ln>
        </p:spPr>
      </p:sp>
      <p:sp>
        <p:nvSpPr>
          <p:cNvPr id="53" name="Text 51"/>
          <p:cNvSpPr/>
          <p:nvPr/>
        </p:nvSpPr>
        <p:spPr>
          <a:xfrm>
            <a:off x="7635240" y="5029200"/>
            <a:ext cx="1920240"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$1,785</a:t>
            </a:r>
            <a:endParaRPr lang="en-US" sz="1200" dirty="0"/>
          </a:p>
        </p:txBody>
      </p:sp>
      <p:sp>
        <p:nvSpPr>
          <p:cNvPr id="54" name="Shape 52"/>
          <p:cNvSpPr/>
          <p:nvPr/>
        </p:nvSpPr>
        <p:spPr>
          <a:xfrm>
            <a:off x="9692640" y="5029200"/>
            <a:ext cx="1947672" cy="594360"/>
          </a:xfrm>
          <a:prstGeom prst="rect">
            <a:avLst/>
          </a:prstGeom>
          <a:solidFill>
            <a:srgbClr val="FFFFFF"/>
          </a:solidFill>
          <a:ln w="6350">
            <a:solidFill>
              <a:srgbClr val="C2C2C6"/>
            </a:solidFill>
            <a:prstDash val="solid"/>
          </a:ln>
        </p:spPr>
      </p:sp>
      <p:sp>
        <p:nvSpPr>
          <p:cNvPr id="55" name="Text 53"/>
          <p:cNvSpPr/>
          <p:nvPr/>
        </p:nvSpPr>
        <p:spPr>
          <a:xfrm>
            <a:off x="9829800" y="5029200"/>
            <a:ext cx="1673352" cy="594360"/>
          </a:xfrm>
          <a:prstGeom prst="rect">
            <a:avLst/>
          </a:prstGeom>
          <a:noFill/>
          <a:ln/>
        </p:spPr>
        <p:txBody>
          <a:bodyPr wrap="square" rtlCol="0" anchor="ctr"/>
          <a:lstStyle/>
          <a:p>
            <a:pPr algn="ctr" indent="0" marL="0">
              <a:buNone/>
            </a:pPr>
            <a:r>
              <a:rPr lang="en-US" sz="1200" dirty="0">
                <a:solidFill>
                  <a:srgbClr val="404040"/>
                </a:solidFill>
                <a:latin typeface="Roboto" pitchFamily="34" charset="0"/>
                <a:ea typeface="Roboto" pitchFamily="34" charset="-122"/>
                <a:cs typeface="Roboto" pitchFamily="34" charset="-120"/>
              </a:rPr>
              <a:t>15% off</a:t>
            </a:r>
            <a:endParaRPr lang="en-US" sz="1200" dirty="0"/>
          </a:p>
        </p:txBody>
      </p:sp>
      <p:sp>
        <p:nvSpPr>
          <p:cNvPr id="56" name="Shape 54"/>
          <p:cNvSpPr/>
          <p:nvPr/>
        </p:nvSpPr>
        <p:spPr>
          <a:xfrm>
            <a:off x="548640" y="5897880"/>
            <a:ext cx="11091672" cy="640080"/>
          </a:xfrm>
          <a:prstGeom prst="rect">
            <a:avLst/>
          </a:prstGeom>
          <a:solidFill>
            <a:srgbClr val="B8D8DC"/>
          </a:solidFill>
          <a:ln w="12700">
            <a:solidFill>
              <a:srgbClr val="B8D8DC"/>
            </a:solidFill>
            <a:prstDash val="solid"/>
          </a:ln>
        </p:spPr>
      </p:sp>
      <p:sp>
        <p:nvSpPr>
          <p:cNvPr id="57" name="Text 55"/>
          <p:cNvSpPr/>
          <p:nvPr/>
        </p:nvSpPr>
        <p:spPr>
          <a:xfrm>
            <a:off x="731520" y="5897880"/>
            <a:ext cx="10881360" cy="640080"/>
          </a:xfrm>
          <a:prstGeom prst="rect">
            <a:avLst/>
          </a:prstGeom>
          <a:noFill/>
          <a:ln/>
        </p:spPr>
        <p:txBody>
          <a:bodyPr wrap="square" rtlCol="0" anchor="ctr"/>
          <a:lstStyle/>
          <a:p>
            <a:pPr indent="0" marL="0">
              <a:buNone/>
            </a:pPr>
            <a:r>
              <a:rPr lang="en-US" sz="1100" b="1" spc="300" kern="0" dirty="0">
                <a:solidFill>
                  <a:srgbClr val="0A3454"/>
                </a:solidFill>
                <a:latin typeface="Roboto Condensed" pitchFamily="34" charset="0"/>
                <a:ea typeface="Roboto Condensed" pitchFamily="34" charset="-122"/>
                <a:cs typeface="Roboto Condensed" pitchFamily="34" charset="-120"/>
              </a:rPr>
              <a:t>INCLUDES  </a:t>
            </a:r>
            <a:pPr indent="0" marL="0">
              <a:buNone/>
            </a:pPr>
            <a:r>
              <a:rPr lang="en-US" sz="1100" dirty="0">
                <a:solidFill>
                  <a:srgbClr val="0A3454"/>
                </a:solidFill>
                <a:latin typeface="Roboto Condensed" pitchFamily="34" charset="0"/>
                <a:ea typeface="Roboto Condensed" pitchFamily="34" charset="-122"/>
                <a:cs typeface="Roboto Condensed" pitchFamily="34" charset="-120"/>
              </a:rPr>
              <a:t>Two-day in-person program · all sessions · meals · materials · networking · Stage 1 certification · 6-month cohort access</a:t>
            </a:r>
            <a:endParaRPr lang="en-US" sz="1100" dirty="0"/>
          </a:p>
        </p:txBody>
      </p:sp>
      <p:sp>
        <p:nvSpPr>
          <p:cNvPr id="58" name="Shape 56"/>
          <p:cNvSpPr/>
          <p:nvPr/>
        </p:nvSpPr>
        <p:spPr>
          <a:xfrm>
            <a:off x="548640" y="6355080"/>
            <a:ext cx="11094415" cy="0"/>
          </a:xfrm>
          <a:prstGeom prst="line">
            <a:avLst/>
          </a:prstGeom>
          <a:noFill/>
          <a:ln w="6350">
            <a:solidFill>
              <a:srgbClr val="C2C2C6"/>
            </a:solidFill>
            <a:prstDash val="solid"/>
          </a:ln>
        </p:spPr>
      </p:sp>
      <p:sp>
        <p:nvSpPr>
          <p:cNvPr id="59" name="Text 5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60" name="Text 5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WHAT MICROSOFT GETS BACK</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What Microsoft gets back</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640080"/>
          </a:xfrm>
          <a:prstGeom prst="rect">
            <a:avLst/>
          </a:prstGeom>
          <a:noFill/>
          <a:ln/>
        </p:spPr>
        <p:txBody>
          <a:bodyPr wrap="square" rtlCol="0" anchor="ctr"/>
          <a:lstStyle/>
          <a:p>
            <a:pPr indent="0" marL="0">
              <a:lnSpc>
                <a:spcPct val="140000"/>
              </a:lnSpc>
              <a:buNone/>
            </a:pPr>
            <a:r>
              <a:rPr lang="en-US" sz="1300" i="1" dirty="0">
                <a:solidFill>
                  <a:srgbClr val="6B6B6F"/>
                </a:solidFill>
                <a:latin typeface="Roboto" pitchFamily="34" charset="0"/>
                <a:ea typeface="Roboto" pitchFamily="34" charset="-122"/>
                <a:cs typeface="Roboto" pitchFamily="34" charset="-120"/>
              </a:rPr>
              <a:t>A replicable methodology for building manager-employee trust and connecting people across teams. The framework that lets us measure volunteering's contribution to retention and engagement, not just participation.</a:t>
            </a:r>
            <a:endParaRPr lang="en-US" sz="1300" dirty="0"/>
          </a:p>
        </p:txBody>
      </p:sp>
      <p:sp>
        <p:nvSpPr>
          <p:cNvPr id="6" name="Shape 4"/>
          <p:cNvSpPr/>
          <p:nvPr/>
        </p:nvSpPr>
        <p:spPr>
          <a:xfrm>
            <a:off x="548640" y="2880360"/>
            <a:ext cx="3657600" cy="1554480"/>
          </a:xfrm>
          <a:prstGeom prst="rect">
            <a:avLst/>
          </a:prstGeom>
          <a:solidFill>
            <a:srgbClr val="F6F7F8"/>
          </a:solidFill>
          <a:ln w="6350">
            <a:solidFill>
              <a:srgbClr val="C2C2C6"/>
            </a:solidFill>
            <a:prstDash val="solid"/>
          </a:ln>
        </p:spPr>
        <p:txBody>
          <a:bodyPr/>
          <a:p/>
        </p:txBody>
      </p:sp>
      <p:sp>
        <p:nvSpPr>
          <p:cNvPr id="7" name="Shape 5"/>
          <p:cNvSpPr/>
          <p:nvPr/>
        </p:nvSpPr>
        <p:spPr>
          <a:xfrm>
            <a:off x="548640" y="2880360"/>
            <a:ext cx="73152" cy="1554480"/>
          </a:xfrm>
          <a:prstGeom prst="rect">
            <a:avLst/>
          </a:prstGeom>
          <a:solidFill>
            <a:srgbClr val="EC5C2A"/>
          </a:solidFill>
          <a:ln w="12700">
            <a:solidFill>
              <a:srgbClr val="EC5C2A"/>
            </a:solidFill>
            <a:prstDash val="solid"/>
          </a:ln>
        </p:spPr>
        <p:txBody>
          <a:bodyPr/>
          <a:p/>
        </p:txBody>
      </p:sp>
      <p:sp>
        <p:nvSpPr>
          <p:cNvPr id="8" name="Text 6"/>
          <p:cNvSpPr/>
          <p:nvPr/>
        </p:nvSpPr>
        <p:spPr>
          <a:xfrm>
            <a:off x="777240" y="3017520"/>
            <a:ext cx="3383280" cy="457200"/>
          </a:xfrm>
          <a:prstGeom prst="rect">
            <a:avLst/>
          </a:prstGeom>
          <a:noFill/>
          <a:ln/>
        </p:spPr>
        <p:txBody>
          <a:bodyPr wrap="square" rtlCol="0" anchor="ctr"/>
          <a:lstStyle/>
          <a:p>
            <a:pPr indent="0" marL="0">
              <a:buNone/>
            </a:pPr>
            <a:r>
              <a:rPr lang="en-US" sz="1200" b="1" dirty="0">
                <a:solidFill>
                  <a:srgbClr val="0A3454"/>
                </a:solidFill>
                <a:latin typeface="Roboto" pitchFamily="34" charset="0"/>
                <a:ea typeface="Roboto" pitchFamily="34" charset="-122"/>
                <a:cs typeface="Roboto" pitchFamily="34" charset="-120"/>
              </a:rPr>
              <a:t>A quality layer across your network</a:t>
            </a:r>
            <a:endParaRPr lang="en-US" sz="1200" dirty="0"/>
          </a:p>
        </p:txBody>
      </p:sp>
      <p:sp>
        <p:nvSpPr>
          <p:cNvPr id="9" name="Text 7"/>
          <p:cNvSpPr/>
          <p:nvPr/>
        </p:nvSpPr>
        <p:spPr>
          <a:xfrm>
            <a:off x="777240" y="3474720"/>
            <a:ext cx="3383280" cy="914400"/>
          </a:xfrm>
          <a:prstGeom prst="rect">
            <a:avLst/>
          </a:prstGeom>
          <a:noFill/>
          <a:ln/>
        </p:spPr>
        <p:txBody>
          <a:bodyPr wrap="square" rtlCol="0" anchor="ctr"/>
          <a:lstStyle/>
          <a:p>
            <a:pPr indent="0" marL="0">
              <a:lnSpc>
                <a:spcPct val="135000"/>
              </a:lnSpc>
              <a:buNone/>
            </a:pPr>
            <a:r>
              <a:rPr lang="en-US" sz="1000" dirty="0">
                <a:solidFill>
                  <a:srgbClr val="404040"/>
                </a:solidFill>
                <a:latin typeface="Roboto" pitchFamily="34" charset="0"/>
                <a:ea typeface="Roboto" pitchFamily="34" charset="-122"/>
                <a:cs typeface="Roboto" pitchFamily="34" charset="-120"/>
              </a:rPr>
              <a:t>Trained champions set the standard across regions and business units. They coach peers and close the gap between what we aspire to and what employees actually experience.</a:t>
            </a:r>
            <a:endParaRPr lang="en-US" sz="1000" dirty="0"/>
          </a:p>
        </p:txBody>
      </p:sp>
      <p:sp>
        <p:nvSpPr>
          <p:cNvPr id="10" name="Shape 8"/>
          <p:cNvSpPr/>
          <p:nvPr/>
        </p:nvSpPr>
        <p:spPr>
          <a:xfrm>
            <a:off x="4434840" y="2880360"/>
            <a:ext cx="3657600" cy="1554480"/>
          </a:xfrm>
          <a:prstGeom prst="rect">
            <a:avLst/>
          </a:prstGeom>
          <a:solidFill>
            <a:srgbClr val="F6F7F8"/>
          </a:solidFill>
          <a:ln w="6350">
            <a:solidFill>
              <a:srgbClr val="C2C2C6"/>
            </a:solidFill>
            <a:prstDash val="solid"/>
          </a:ln>
        </p:spPr>
        <p:txBody>
          <a:bodyPr/>
          <a:p/>
        </p:txBody>
      </p:sp>
      <p:sp>
        <p:nvSpPr>
          <p:cNvPr id="11" name="Shape 9"/>
          <p:cNvSpPr/>
          <p:nvPr/>
        </p:nvSpPr>
        <p:spPr>
          <a:xfrm>
            <a:off x="4434840" y="2880360"/>
            <a:ext cx="73152" cy="1554480"/>
          </a:xfrm>
          <a:prstGeom prst="rect">
            <a:avLst/>
          </a:prstGeom>
          <a:solidFill>
            <a:srgbClr val="EC5C2A"/>
          </a:solidFill>
          <a:ln w="12700">
            <a:solidFill>
              <a:srgbClr val="EC5C2A"/>
            </a:solidFill>
            <a:prstDash val="solid"/>
          </a:ln>
        </p:spPr>
        <p:txBody>
          <a:bodyPr/>
          <a:p/>
        </p:txBody>
      </p:sp>
      <p:sp>
        <p:nvSpPr>
          <p:cNvPr id="12" name="Text 10"/>
          <p:cNvSpPr/>
          <p:nvPr/>
        </p:nvSpPr>
        <p:spPr>
          <a:xfrm>
            <a:off x="4663440" y="3017520"/>
            <a:ext cx="3383280" cy="457200"/>
          </a:xfrm>
          <a:prstGeom prst="rect">
            <a:avLst/>
          </a:prstGeom>
          <a:noFill/>
          <a:ln/>
        </p:spPr>
        <p:txBody>
          <a:bodyPr wrap="square" rtlCol="0" anchor="ctr"/>
          <a:lstStyle/>
          <a:p>
            <a:pPr indent="0" marL="0">
              <a:buNone/>
            </a:pPr>
            <a:r>
              <a:rPr lang="en-US" sz="1200" b="1" dirty="0">
                <a:solidFill>
                  <a:srgbClr val="0A3454"/>
                </a:solidFill>
                <a:latin typeface="Roboto" pitchFamily="34" charset="0"/>
                <a:ea typeface="Roboto" pitchFamily="34" charset="-122"/>
                <a:cs typeface="Roboto" pitchFamily="34" charset="-120"/>
              </a:rPr>
              <a:t>Engagement data that survives the C-suite</a:t>
            </a:r>
            <a:endParaRPr lang="en-US" sz="1200" dirty="0"/>
          </a:p>
        </p:txBody>
      </p:sp>
      <p:sp>
        <p:nvSpPr>
          <p:cNvPr id="13" name="Text 11"/>
          <p:cNvSpPr/>
          <p:nvPr/>
        </p:nvSpPr>
        <p:spPr>
          <a:xfrm>
            <a:off x="4663440" y="3474720"/>
            <a:ext cx="3383280" cy="914400"/>
          </a:xfrm>
          <a:prstGeom prst="rect">
            <a:avLst/>
          </a:prstGeom>
          <a:noFill/>
          <a:ln/>
        </p:spPr>
        <p:txBody>
          <a:bodyPr wrap="square" rtlCol="0" anchor="ctr"/>
          <a:lstStyle/>
          <a:p>
            <a:pPr indent="0" marL="0">
              <a:lnSpc>
                <a:spcPct val="135000"/>
              </a:lnSpc>
              <a:buNone/>
            </a:pPr>
            <a:r>
              <a:rPr lang="en-US" sz="1000" dirty="0">
                <a:solidFill>
                  <a:srgbClr val="404040"/>
                </a:solidFill>
                <a:latin typeface="Roboto" pitchFamily="34" charset="0"/>
                <a:ea typeface="Roboto" pitchFamily="34" charset="-122"/>
                <a:cs typeface="Roboto" pitchFamily="34" charset="-120"/>
              </a:rPr>
              <a:t>Measurement architecture built for ESG reporting, talent analytics, and executive dashboards. Outcomes, not participation theater.</a:t>
            </a:r>
            <a:endParaRPr lang="en-US" sz="1000" dirty="0"/>
          </a:p>
        </p:txBody>
      </p:sp>
      <p:sp>
        <p:nvSpPr>
          <p:cNvPr id="14" name="Shape 12"/>
          <p:cNvSpPr/>
          <p:nvPr/>
        </p:nvSpPr>
        <p:spPr>
          <a:xfrm>
            <a:off x="8321040" y="2880360"/>
            <a:ext cx="3657600" cy="1554480"/>
          </a:xfrm>
          <a:prstGeom prst="rect">
            <a:avLst/>
          </a:prstGeom>
          <a:solidFill>
            <a:srgbClr val="F6F7F8"/>
          </a:solidFill>
          <a:ln w="6350">
            <a:solidFill>
              <a:srgbClr val="C2C2C6"/>
            </a:solidFill>
            <a:prstDash val="solid"/>
          </a:ln>
        </p:spPr>
        <p:txBody>
          <a:bodyPr/>
          <a:p/>
        </p:txBody>
      </p:sp>
      <p:sp>
        <p:nvSpPr>
          <p:cNvPr id="15" name="Shape 13"/>
          <p:cNvSpPr/>
          <p:nvPr/>
        </p:nvSpPr>
        <p:spPr>
          <a:xfrm>
            <a:off x="8321040" y="2880360"/>
            <a:ext cx="73152" cy="1554480"/>
          </a:xfrm>
          <a:prstGeom prst="rect">
            <a:avLst/>
          </a:prstGeom>
          <a:solidFill>
            <a:srgbClr val="EC5C2A"/>
          </a:solidFill>
          <a:ln w="12700">
            <a:solidFill>
              <a:srgbClr val="EC5C2A"/>
            </a:solidFill>
            <a:prstDash val="solid"/>
          </a:ln>
        </p:spPr>
        <p:txBody>
          <a:bodyPr/>
          <a:p/>
        </p:txBody>
      </p:sp>
      <p:sp>
        <p:nvSpPr>
          <p:cNvPr id="16" name="Text 14"/>
          <p:cNvSpPr/>
          <p:nvPr/>
        </p:nvSpPr>
        <p:spPr>
          <a:xfrm>
            <a:off x="8549640" y="3017520"/>
            <a:ext cx="3383280" cy="457200"/>
          </a:xfrm>
          <a:prstGeom prst="rect">
            <a:avLst/>
          </a:prstGeom>
          <a:noFill/>
          <a:ln/>
        </p:spPr>
        <p:txBody>
          <a:bodyPr wrap="square" rtlCol="0" anchor="ctr"/>
          <a:lstStyle/>
          <a:p>
            <a:pPr indent="0" marL="0">
              <a:buNone/>
            </a:pPr>
            <a:r>
              <a:rPr lang="en-US" sz="1200" b="1" dirty="0">
                <a:solidFill>
                  <a:srgbClr val="0A3454"/>
                </a:solidFill>
                <a:latin typeface="Roboto" pitchFamily="34" charset="0"/>
                <a:ea typeface="Roboto" pitchFamily="34" charset="-122"/>
                <a:cs typeface="Roboto" pitchFamily="34" charset="-120"/>
              </a:rPr>
              <a:t>Reduced champion attrition</a:t>
            </a:r>
            <a:endParaRPr lang="en-US" sz="1200" dirty="0"/>
          </a:p>
        </p:txBody>
      </p:sp>
      <p:sp>
        <p:nvSpPr>
          <p:cNvPr id="17" name="Text 15"/>
          <p:cNvSpPr/>
          <p:nvPr/>
        </p:nvSpPr>
        <p:spPr>
          <a:xfrm>
            <a:off x="8549640" y="3474720"/>
            <a:ext cx="3383280" cy="914400"/>
          </a:xfrm>
          <a:prstGeom prst="rect">
            <a:avLst/>
          </a:prstGeom>
          <a:noFill/>
          <a:ln/>
        </p:spPr>
        <p:txBody>
          <a:bodyPr wrap="square" rtlCol="0" anchor="ctr"/>
          <a:lstStyle/>
          <a:p>
            <a:pPr indent="0" marL="0">
              <a:lnSpc>
                <a:spcPct val="135000"/>
              </a:lnSpc>
              <a:buNone/>
            </a:pPr>
            <a:r>
              <a:rPr lang="en-US" sz="1000" dirty="0">
                <a:solidFill>
                  <a:srgbClr val="404040"/>
                </a:solidFill>
                <a:latin typeface="Roboto" pitchFamily="34" charset="0"/>
                <a:ea typeface="Roboto" pitchFamily="34" charset="-122"/>
                <a:cs typeface="Roboto" pitchFamily="34" charset="-120"/>
              </a:rPr>
              <a:t>Structured training, a credential, and six months of peer support. Retention of trained leaders is itself an ROI story.</a:t>
            </a:r>
            <a:endParaRPr lang="en-US" sz="1000" dirty="0"/>
          </a:p>
        </p:txBody>
      </p:sp>
      <p:sp>
        <p:nvSpPr>
          <p:cNvPr id="18" name="Shape 16"/>
          <p:cNvSpPr/>
          <p:nvPr/>
        </p:nvSpPr>
        <p:spPr>
          <a:xfrm>
            <a:off x="548640" y="4572000"/>
            <a:ext cx="3657600" cy="1554480"/>
          </a:xfrm>
          <a:prstGeom prst="rect">
            <a:avLst/>
          </a:prstGeom>
          <a:solidFill>
            <a:srgbClr val="B8D8DC"/>
          </a:solidFill>
          <a:ln w="6350">
            <a:solidFill>
              <a:srgbClr val="B8D8DC"/>
            </a:solidFill>
            <a:prstDash val="solid"/>
          </a:ln>
        </p:spPr>
        <p:txBody>
          <a:bodyPr/>
          <a:p/>
        </p:txBody>
      </p:sp>
      <p:sp>
        <p:nvSpPr>
          <p:cNvPr id="19" name="Shape 17"/>
          <p:cNvSpPr/>
          <p:nvPr/>
        </p:nvSpPr>
        <p:spPr>
          <a:xfrm>
            <a:off x="548640" y="4572000"/>
            <a:ext cx="73152" cy="1554480"/>
          </a:xfrm>
          <a:prstGeom prst="rect">
            <a:avLst/>
          </a:prstGeom>
          <a:solidFill>
            <a:srgbClr val="EC5C2A"/>
          </a:solidFill>
          <a:ln w="12700">
            <a:solidFill>
              <a:srgbClr val="EC5C2A"/>
            </a:solidFill>
            <a:prstDash val="solid"/>
          </a:ln>
        </p:spPr>
        <p:txBody>
          <a:bodyPr/>
          <a:p/>
        </p:txBody>
      </p:sp>
      <p:sp>
        <p:nvSpPr>
          <p:cNvPr id="20" name="Text 18"/>
          <p:cNvSpPr/>
          <p:nvPr/>
        </p:nvSpPr>
        <p:spPr>
          <a:xfrm>
            <a:off x="777240" y="4709160"/>
            <a:ext cx="3383280" cy="457200"/>
          </a:xfrm>
          <a:prstGeom prst="rect">
            <a:avLst/>
          </a:prstGeom>
          <a:noFill/>
          <a:ln/>
        </p:spPr>
        <p:txBody>
          <a:bodyPr wrap="square" rtlCol="0" anchor="ctr"/>
          <a:lstStyle/>
          <a:p>
            <a:pPr indent="0" marL="0">
              <a:buNone/>
            </a:pPr>
            <a:r>
              <a:rPr lang="en-US" sz="1200" b="1" dirty="0">
                <a:solidFill>
                  <a:srgbClr val="0A3454"/>
                </a:solidFill>
                <a:latin typeface="Roboto" pitchFamily="34" charset="0"/>
                <a:ea typeface="Roboto" pitchFamily="34" charset="-122"/>
                <a:cs typeface="Roboto" pitchFamily="34" charset="-120"/>
              </a:rPr>
              <a:t>Scale with quality, not just reach</a:t>
            </a:r>
            <a:endParaRPr lang="en-US" sz="1200" dirty="0"/>
          </a:p>
        </p:txBody>
      </p:sp>
      <p:sp>
        <p:nvSpPr>
          <p:cNvPr id="21" name="Text 19"/>
          <p:cNvSpPr/>
          <p:nvPr/>
        </p:nvSpPr>
        <p:spPr>
          <a:xfrm>
            <a:off x="777240" y="5166360"/>
            <a:ext cx="3383280" cy="914400"/>
          </a:xfrm>
          <a:prstGeom prst="rect">
            <a:avLst/>
          </a:prstGeom>
          <a:noFill/>
          <a:ln/>
        </p:spPr>
        <p:txBody>
          <a:bodyPr wrap="square" rtlCol="0" anchor="ctr"/>
          <a:lstStyle/>
          <a:p>
            <a:pPr indent="0" marL="0">
              <a:lnSpc>
                <a:spcPct val="135000"/>
              </a:lnSpc>
              <a:buNone/>
            </a:pPr>
            <a:r>
              <a:rPr lang="en-US" sz="1000" dirty="0">
                <a:solidFill>
                  <a:srgbClr val="404040"/>
                </a:solidFill>
                <a:latin typeface="Roboto" pitchFamily="34" charset="0"/>
                <a:ea typeface="Roboto" pitchFamily="34" charset="-122"/>
                <a:cs typeface="Roboto" pitchFamily="34" charset="-120"/>
              </a:rPr>
              <a:t>Adding events without improving experience quality produces diminishing returns. Trained champions improve every experience they touch.</a:t>
            </a:r>
            <a:endParaRPr lang="en-US" sz="1000" dirty="0"/>
          </a:p>
        </p:txBody>
      </p:sp>
      <p:sp>
        <p:nvSpPr>
          <p:cNvPr id="22" name="Shape 20"/>
          <p:cNvSpPr/>
          <p:nvPr/>
        </p:nvSpPr>
        <p:spPr>
          <a:xfrm>
            <a:off x="4434840" y="4572000"/>
            <a:ext cx="3657600" cy="1554480"/>
          </a:xfrm>
          <a:prstGeom prst="rect">
            <a:avLst/>
          </a:prstGeom>
          <a:solidFill>
            <a:srgbClr val="B8D8DC"/>
          </a:solidFill>
          <a:ln w="6350">
            <a:solidFill>
              <a:srgbClr val="B8D8DC"/>
            </a:solidFill>
            <a:prstDash val="solid"/>
          </a:ln>
        </p:spPr>
        <p:txBody>
          <a:bodyPr/>
          <a:p/>
        </p:txBody>
      </p:sp>
      <p:sp>
        <p:nvSpPr>
          <p:cNvPr id="23" name="Shape 21"/>
          <p:cNvSpPr/>
          <p:nvPr/>
        </p:nvSpPr>
        <p:spPr>
          <a:xfrm>
            <a:off x="4434840" y="4572000"/>
            <a:ext cx="73152" cy="1554480"/>
          </a:xfrm>
          <a:prstGeom prst="rect">
            <a:avLst/>
          </a:prstGeom>
          <a:solidFill>
            <a:srgbClr val="EC5C2A"/>
          </a:solidFill>
          <a:ln w="12700">
            <a:solidFill>
              <a:srgbClr val="EC5C2A"/>
            </a:solidFill>
            <a:prstDash val="solid"/>
          </a:ln>
        </p:spPr>
        <p:txBody>
          <a:bodyPr/>
          <a:p/>
        </p:txBody>
      </p:sp>
      <p:sp>
        <p:nvSpPr>
          <p:cNvPr id="24" name="Text 22"/>
          <p:cNvSpPr/>
          <p:nvPr/>
        </p:nvSpPr>
        <p:spPr>
          <a:xfrm>
            <a:off x="4663440" y="4709160"/>
            <a:ext cx="3383280" cy="457200"/>
          </a:xfrm>
          <a:prstGeom prst="rect">
            <a:avLst/>
          </a:prstGeom>
          <a:noFill/>
          <a:ln/>
        </p:spPr>
        <p:txBody>
          <a:bodyPr wrap="square" rtlCol="0" anchor="ctr"/>
          <a:lstStyle/>
          <a:p>
            <a:pPr indent="0" marL="0">
              <a:buNone/>
            </a:pPr>
            <a:r>
              <a:rPr lang="en-US" sz="1200" b="1" dirty="0">
                <a:solidFill>
                  <a:srgbClr val="0A3454"/>
                </a:solidFill>
                <a:latin typeface="Roboto" pitchFamily="34" charset="0"/>
                <a:ea typeface="Roboto" pitchFamily="34" charset="-122"/>
                <a:cs typeface="Roboto" pitchFamily="34" charset="-120"/>
              </a:rPr>
              <a:t>Brand perception from the inside</a:t>
            </a:r>
            <a:endParaRPr lang="en-US" sz="1200" dirty="0"/>
          </a:p>
        </p:txBody>
      </p:sp>
      <p:sp>
        <p:nvSpPr>
          <p:cNvPr id="25" name="Text 23"/>
          <p:cNvSpPr/>
          <p:nvPr/>
        </p:nvSpPr>
        <p:spPr>
          <a:xfrm>
            <a:off x="4663440" y="5166360"/>
            <a:ext cx="3383280" cy="914400"/>
          </a:xfrm>
          <a:prstGeom prst="rect">
            <a:avLst/>
          </a:prstGeom>
          <a:noFill/>
          <a:ln/>
        </p:spPr>
        <p:txBody>
          <a:bodyPr wrap="square" rtlCol="0" anchor="ctr"/>
          <a:lstStyle/>
          <a:p>
            <a:pPr indent="0" marL="0">
              <a:lnSpc>
                <a:spcPct val="135000"/>
              </a:lnSpc>
              <a:buNone/>
            </a:pPr>
            <a:r>
              <a:rPr lang="en-US" sz="1000" dirty="0">
                <a:solidFill>
                  <a:srgbClr val="404040"/>
                </a:solidFill>
                <a:latin typeface="Roboto" pitchFamily="34" charset="0"/>
                <a:ea typeface="Roboto" pitchFamily="34" charset="-122"/>
                <a:cs typeface="Roboto" pitchFamily="34" charset="-120"/>
              </a:rPr>
              <a:t>Employees who undergo genuine prosocial identity change embody the company's commitment. That shows up in Glassdoor, in talent conversations, in how people describe working here.</a:t>
            </a:r>
            <a:endParaRPr lang="en-US" sz="1000" dirty="0"/>
          </a:p>
        </p:txBody>
      </p:sp>
      <p:sp>
        <p:nvSpPr>
          <p:cNvPr id="26" name="Shape 24"/>
          <p:cNvSpPr/>
          <p:nvPr/>
        </p:nvSpPr>
        <p:spPr>
          <a:xfrm>
            <a:off x="8321040" y="4572000"/>
            <a:ext cx="3657600" cy="1554480"/>
          </a:xfrm>
          <a:prstGeom prst="rect">
            <a:avLst/>
          </a:prstGeom>
          <a:solidFill>
            <a:srgbClr val="B8D8DC"/>
          </a:solidFill>
          <a:ln w="6350">
            <a:solidFill>
              <a:srgbClr val="B8D8DC"/>
            </a:solidFill>
            <a:prstDash val="solid"/>
          </a:ln>
        </p:spPr>
        <p:txBody>
          <a:bodyPr/>
          <a:p/>
        </p:txBody>
      </p:sp>
      <p:sp>
        <p:nvSpPr>
          <p:cNvPr id="27" name="Shape 25"/>
          <p:cNvSpPr/>
          <p:nvPr/>
        </p:nvSpPr>
        <p:spPr>
          <a:xfrm>
            <a:off x="8321040" y="4572000"/>
            <a:ext cx="73152" cy="1554480"/>
          </a:xfrm>
          <a:prstGeom prst="rect">
            <a:avLst/>
          </a:prstGeom>
          <a:solidFill>
            <a:srgbClr val="EC5C2A"/>
          </a:solidFill>
          <a:ln w="12700">
            <a:solidFill>
              <a:srgbClr val="EC5C2A"/>
            </a:solidFill>
            <a:prstDash val="solid"/>
          </a:ln>
        </p:spPr>
        <p:txBody>
          <a:bodyPr/>
          <a:p/>
        </p:txBody>
      </p:sp>
      <p:sp>
        <p:nvSpPr>
          <p:cNvPr id="28" name="Text 26"/>
          <p:cNvSpPr/>
          <p:nvPr/>
        </p:nvSpPr>
        <p:spPr>
          <a:xfrm>
            <a:off x="8549640" y="4709160"/>
            <a:ext cx="3383280" cy="457200"/>
          </a:xfrm>
          <a:prstGeom prst="rect">
            <a:avLst/>
          </a:prstGeom>
          <a:noFill/>
          <a:ln/>
        </p:spPr>
        <p:txBody>
          <a:bodyPr wrap="square" rtlCol="0" anchor="ctr"/>
          <a:lstStyle/>
          <a:p>
            <a:pPr indent="0" marL="0">
              <a:buNone/>
            </a:pPr>
            <a:r>
              <a:rPr lang="en-US" sz="1200" b="1" dirty="0">
                <a:solidFill>
                  <a:srgbClr val="0A3454"/>
                </a:solidFill>
                <a:latin typeface="Roboto" pitchFamily="34" charset="0"/>
                <a:ea typeface="Roboto" pitchFamily="34" charset="-122"/>
                <a:cs typeface="Roboto" pitchFamily="34" charset="-120"/>
              </a:rPr>
              <a:t>Peer benchmarking at the right altitude</a:t>
            </a:r>
            <a:endParaRPr lang="en-US" sz="1200" dirty="0"/>
          </a:p>
        </p:txBody>
      </p:sp>
      <p:sp>
        <p:nvSpPr>
          <p:cNvPr id="29" name="Text 27"/>
          <p:cNvSpPr/>
          <p:nvPr/>
        </p:nvSpPr>
        <p:spPr>
          <a:xfrm>
            <a:off x="8549640" y="5166360"/>
            <a:ext cx="3383280" cy="914400"/>
          </a:xfrm>
          <a:prstGeom prst="rect">
            <a:avLst/>
          </a:prstGeom>
          <a:noFill/>
          <a:ln/>
        </p:spPr>
        <p:txBody>
          <a:bodyPr wrap="square" rtlCol="0" anchor="ctr"/>
          <a:lstStyle/>
          <a:p>
            <a:pPr indent="0" marL="0">
              <a:lnSpc>
                <a:spcPct val="135000"/>
              </a:lnSpc>
              <a:buNone/>
            </a:pPr>
            <a:r>
              <a:rPr lang="en-US" sz="1000" dirty="0">
                <a:solidFill>
                  <a:srgbClr val="404040"/>
                </a:solidFill>
                <a:latin typeface="Roboto" pitchFamily="34" charset="0"/>
                <a:ea typeface="Roboto" pitchFamily="34" charset="-122"/>
                <a:cs typeface="Roboto" pitchFamily="34" charset="-120"/>
              </a:rPr>
              <a:t>Train alongside leaders running comparable programs. The cross-company workshop alone produces more actionable insight than most conferences deliver in three days.</a:t>
            </a:r>
            <a:endParaRPr lang="en-US" sz="1000" dirty="0"/>
          </a:p>
        </p:txBody>
      </p:sp>
      <p:sp>
        <p:nvSpPr>
          <p:cNvPr id="30" name="Shape 28"/>
          <p:cNvSpPr/>
          <p:nvPr/>
        </p:nvSpPr>
        <p:spPr>
          <a:xfrm>
            <a:off x="548640" y="6355080"/>
            <a:ext cx="11094415" cy="0"/>
          </a:xfrm>
          <a:prstGeom prst="line">
            <a:avLst/>
          </a:prstGeom>
          <a:noFill/>
          <a:ln w="6350">
            <a:solidFill>
              <a:srgbClr val="C2C2C6"/>
            </a:solidFill>
            <a:prstDash val="solid"/>
          </a:ln>
        </p:spPr>
        <p:txBody>
          <a:bodyPr/>
          <a:p/>
        </p:txBody>
      </p:sp>
      <p:sp>
        <p:nvSpPr>
          <p:cNvPr id="31" name="Text 29"/>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32" name="Text 30"/>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3454"/>
        </a:solidFill>
      </p:bgPr>
    </p:bg>
    <p:spTree>
      <p:nvGrpSpPr>
        <p:cNvPr id="1" name=""/>
        <p:cNvGrpSpPr/>
        <p:nvPr/>
      </p:nvGrpSpPr>
      <p:grpSpPr>
        <a:xfrm>
          <a:off x="0" y="0"/>
          <a:ext cx="0" cy="0"/>
          <a:chOff x="0" y="0"/>
          <a:chExt cx="0" cy="0"/>
        </a:xfrm>
      </p:grpSpPr>
      <p:sp>
        <p:nvSpPr>
          <p:cNvPr id="2" name="Shape 0"/>
          <p:cNvSpPr/>
          <p:nvPr/>
        </p:nvSpPr>
        <p:spPr>
          <a:xfrm>
            <a:off x="0" y="0"/>
            <a:ext cx="365760" cy="6858000"/>
          </a:xfrm>
          <a:prstGeom prst="rect">
            <a:avLst/>
          </a:prstGeom>
          <a:solidFill>
            <a:srgbClr val="EC5C2A"/>
          </a:solidFill>
          <a:ln w="12700">
            <a:solidFill>
              <a:srgbClr val="EC5C2A"/>
            </a:solidFill>
            <a:prstDash val="solid"/>
          </a:ln>
        </p:spPr>
        <p:txBody>
          <a:bodyPr/>
          <a:p/>
        </p:txBody>
      </p:sp>
      <p:sp>
        <p:nvSpPr>
          <p:cNvPr id="3" name="Text 1"/>
          <p:cNvSpPr/>
          <p:nvPr/>
        </p:nvSpPr>
        <p:spPr>
          <a:xfrm>
            <a:off x="822960" y="640080"/>
            <a:ext cx="10972800" cy="365760"/>
          </a:xfrm>
          <a:prstGeom prst="rect">
            <a:avLst/>
          </a:prstGeom>
          <a:noFill/>
          <a:ln/>
        </p:spPr>
        <p:txBody>
          <a:bodyPr wrap="square" rtlCol="0" anchor="ctr"/>
          <a:lstStyle/>
          <a:p>
            <a:pPr indent="0" marL="0">
              <a:buNone/>
            </a:pPr>
            <a:r>
              <a:rPr lang="en-US" sz="1200" b="1" spc="600" kern="0" dirty="0">
                <a:solidFill>
                  <a:srgbClr val="EC5C2A"/>
                </a:solidFill>
                <a:latin typeface="Roboto" pitchFamily="34" charset="0"/>
                <a:ea typeface="Roboto" pitchFamily="34" charset="-122"/>
                <a:cs typeface="Roboto" pitchFamily="34" charset="-120"/>
              </a:rPr>
              <a:t>THE ASK · NEXT STEPS</a:t>
            </a:r>
            <a:endParaRPr lang="en-US" sz="1200" dirty="0"/>
          </a:p>
        </p:txBody>
      </p:sp>
      <p:sp>
        <p:nvSpPr>
          <p:cNvPr id="4" name="Text 2"/>
          <p:cNvSpPr/>
          <p:nvPr/>
        </p:nvSpPr>
        <p:spPr>
          <a:xfrm>
            <a:off x="822960" y="1188720"/>
            <a:ext cx="10972800" cy="1280160"/>
          </a:xfrm>
          <a:prstGeom prst="rect">
            <a:avLst/>
          </a:prstGeom>
          <a:noFill/>
          <a:ln/>
        </p:spPr>
        <p:txBody>
          <a:bodyPr wrap="square" rtlCol="0" anchor="ctr"/>
          <a:lstStyle/>
          <a:p>
            <a:pPr indent="0" marL="0">
              <a:lnSpc>
                <a:spcPct val="110000"/>
              </a:lnSpc>
              <a:buNone/>
            </a:pPr>
            <a:r>
              <a:rPr lang="en-US" sz="3200" b="1" dirty="0">
                <a:solidFill>
                  <a:srgbClr val="FFFFFF"/>
                </a:solidFill>
                <a:latin typeface="Roboto" pitchFamily="34" charset="0"/>
                <a:ea typeface="Roboto" pitchFamily="34" charset="-122"/>
                <a:cs typeface="Roboto" pitchFamily="34" charset="-120"/>
              </a:rPr>
              <a:t>Approve 6 seats for the RW Institute's Washington D.C. Campus.</a:t>
            </a:r>
            <a:endParaRPr lang="en-US" sz="3200" dirty="0"/>
          </a:p>
        </p:txBody>
      </p:sp>
      <p:sp>
        <p:nvSpPr>
          <p:cNvPr id="5" name="Shape 3"/>
          <p:cNvSpPr/>
          <p:nvPr/>
        </p:nvSpPr>
        <p:spPr>
          <a:xfrm>
            <a:off x="822960" y="2606040"/>
            <a:ext cx="914400" cy="0"/>
          </a:xfrm>
          <a:prstGeom prst="line">
            <a:avLst/>
          </a:prstGeom>
          <a:noFill/>
          <a:ln w="38100">
            <a:solidFill>
              <a:srgbClr val="EC5C2A"/>
            </a:solidFill>
            <a:prstDash val="solid"/>
          </a:ln>
        </p:spPr>
        <p:txBody>
          <a:bodyPr/>
          <a:p/>
        </p:txBody>
      </p:sp>
      <p:sp>
        <p:nvSpPr>
          <p:cNvPr id="6" name="Text 4"/>
          <p:cNvSpPr/>
          <p:nvPr/>
        </p:nvSpPr>
        <p:spPr>
          <a:xfrm>
            <a:off x="822960" y="2743200"/>
            <a:ext cx="10515600" cy="1097280"/>
          </a:xfrm>
          <a:prstGeom prst="rect">
            <a:avLst/>
          </a:prstGeom>
          <a:noFill/>
          <a:ln/>
        </p:spPr>
        <p:txBody>
          <a:bodyPr wrap="square" rtlCol="0" anchor="ctr"/>
          <a:lstStyle/>
          <a:p>
            <a:pPr indent="0" marL="0">
              <a:lnSpc>
                <a:spcPct val="140000"/>
              </a:lnSpc>
              <a:buNone/>
            </a:pPr>
            <a:r>
              <a:rPr lang="en-US" sz="1400" dirty="0">
                <a:solidFill>
                  <a:srgbClr val="B8D8DC"/>
                </a:solidFill>
                <a:latin typeface="Roboto" pitchFamily="34" charset="0"/>
                <a:ea typeface="Roboto" pitchFamily="34" charset="-122"/>
                <a:cs typeface="Roboto" pitchFamily="34" charset="-120"/>
              </a:rPr>
              <a:t>Six employees, total cost within the $15,000–$30,000 budget Paul Apostle has sponsored. The team will return with a playbook for volunteer engagement built around our specific measurement and culture gaps.</a:t>
            </a:r>
            <a:endParaRPr lang="en-US" sz="1400" dirty="0"/>
          </a:p>
        </p:txBody>
      </p:sp>
      <p:sp>
        <p:nvSpPr>
          <p:cNvPr id="7" name="Shape 5"/>
          <p:cNvSpPr/>
          <p:nvPr/>
        </p:nvSpPr>
        <p:spPr>
          <a:xfrm>
            <a:off x="822960" y="4114800"/>
            <a:ext cx="548640" cy="548640"/>
          </a:xfrm>
          <a:prstGeom prst="ellipse">
            <a:avLst/>
          </a:prstGeom>
          <a:solidFill>
            <a:srgbClr val="EC5C2A"/>
          </a:solidFill>
          <a:ln w="12700">
            <a:solidFill>
              <a:srgbClr val="EC5C2A"/>
            </a:solidFill>
            <a:prstDash val="solid"/>
          </a:ln>
        </p:spPr>
      </p:sp>
      <p:sp>
        <p:nvSpPr>
          <p:cNvPr id="8" name="Text 6"/>
          <p:cNvSpPr/>
          <p:nvPr/>
        </p:nvSpPr>
        <p:spPr>
          <a:xfrm>
            <a:off x="822960" y="4114800"/>
            <a:ext cx="548640" cy="548640"/>
          </a:xfrm>
          <a:prstGeom prst="rect">
            <a:avLst/>
          </a:prstGeom>
          <a:noFill/>
          <a:ln/>
        </p:spPr>
        <p:txBody>
          <a:bodyPr wrap="square" rtlCol="0" anchor="ctr"/>
          <a:lstStyle/>
          <a:p>
            <a:pPr algn="ctr" indent="0" marL="0">
              <a:buNone/>
            </a:pPr>
            <a:r>
              <a:rPr lang="en-US" sz="1200" b="1" dirty="0">
                <a:solidFill>
                  <a:srgbClr val="FFFFFF"/>
                </a:solidFill>
                <a:latin typeface="Roboto" pitchFamily="34" charset="0"/>
                <a:ea typeface="Roboto" pitchFamily="34" charset="-122"/>
                <a:cs typeface="Roboto" pitchFamily="34" charset="-120"/>
              </a:rPr>
              <a:t>01</a:t>
            </a:r>
            <a:endParaRPr lang="en-US" sz="1200" dirty="0"/>
          </a:p>
        </p:txBody>
      </p:sp>
      <p:sp>
        <p:nvSpPr>
          <p:cNvPr id="9" name="Text 7"/>
          <p:cNvSpPr/>
          <p:nvPr/>
        </p:nvSpPr>
        <p:spPr>
          <a:xfrm>
            <a:off x="1508760" y="4069080"/>
            <a:ext cx="3108960" cy="365760"/>
          </a:xfrm>
          <a:prstGeom prst="rect">
            <a:avLst/>
          </a:prstGeom>
          <a:noFill/>
          <a:ln/>
        </p:spPr>
        <p:txBody>
          <a:bodyPr wrap="square" rtlCol="0" anchor="ctr"/>
          <a:lstStyle/>
          <a:p>
            <a:pPr indent="0" marL="0">
              <a:buNone/>
            </a:pPr>
            <a:r>
              <a:rPr lang="en-US" sz="1300" b="1" dirty="0">
                <a:solidFill>
                  <a:srgbClr val="FFFFFF"/>
                </a:solidFill>
                <a:latin typeface="Roboto" pitchFamily="34" charset="0"/>
                <a:ea typeface="Roboto" pitchFamily="34" charset="-122"/>
                <a:cs typeface="Roboto" pitchFamily="34" charset="-120"/>
              </a:rPr>
              <a:t>Express interest</a:t>
            </a:r>
            <a:endParaRPr lang="en-US" sz="1300" dirty="0"/>
          </a:p>
        </p:txBody>
      </p:sp>
      <p:sp>
        <p:nvSpPr>
          <p:cNvPr id="10" name="Text 8"/>
          <p:cNvSpPr/>
          <p:nvPr/>
        </p:nvSpPr>
        <p:spPr>
          <a:xfrm>
            <a:off x="822960" y="4800600"/>
            <a:ext cx="3566160" cy="1280160"/>
          </a:xfrm>
          <a:prstGeom prst="rect">
            <a:avLst/>
          </a:prstGeom>
          <a:noFill/>
          <a:ln/>
        </p:spPr>
        <p:txBody>
          <a:bodyPr wrap="square" rtlCol="0" anchor="ctr"/>
          <a:lstStyle/>
          <a:p>
            <a:pPr indent="0" marL="0">
              <a:lnSpc>
                <a:spcPct val="140000"/>
              </a:lnSpc>
              <a:buNone/>
            </a:pPr>
            <a:r>
              <a:rPr lang="en-US" sz="1050" dirty="0">
                <a:solidFill>
                  <a:srgbClr val="B8D8DC"/>
                </a:solidFill>
                <a:latin typeface="Roboto" pitchFamily="34" charset="0"/>
                <a:ea typeface="Roboto" pitchFamily="34" charset="-122"/>
                <a:cs typeface="Roboto" pitchFamily="34" charset="-120"/>
              </a:rPr>
              <a:t>Visit rw-regional-campus.lovable.app and submit the interest form for your preferred campus.</a:t>
            </a:r>
            <a:endParaRPr lang="en-US" sz="1050" dirty="0"/>
          </a:p>
        </p:txBody>
      </p:sp>
      <p:sp>
        <p:nvSpPr>
          <p:cNvPr id="11" name="Shape 9"/>
          <p:cNvSpPr/>
          <p:nvPr/>
        </p:nvSpPr>
        <p:spPr>
          <a:xfrm>
            <a:off x="4663440" y="4114800"/>
            <a:ext cx="548640" cy="548640"/>
          </a:xfrm>
          <a:prstGeom prst="ellipse">
            <a:avLst/>
          </a:prstGeom>
          <a:solidFill>
            <a:srgbClr val="EC5C2A"/>
          </a:solidFill>
          <a:ln w="12700">
            <a:solidFill>
              <a:srgbClr val="EC5C2A"/>
            </a:solidFill>
            <a:prstDash val="solid"/>
          </a:ln>
        </p:spPr>
      </p:sp>
      <p:sp>
        <p:nvSpPr>
          <p:cNvPr id="12" name="Text 10"/>
          <p:cNvSpPr/>
          <p:nvPr/>
        </p:nvSpPr>
        <p:spPr>
          <a:xfrm>
            <a:off x="4663440" y="4114800"/>
            <a:ext cx="548640" cy="548640"/>
          </a:xfrm>
          <a:prstGeom prst="rect">
            <a:avLst/>
          </a:prstGeom>
          <a:noFill/>
          <a:ln/>
        </p:spPr>
        <p:txBody>
          <a:bodyPr wrap="square" rtlCol="0" anchor="ctr"/>
          <a:lstStyle/>
          <a:p>
            <a:pPr algn="ctr" indent="0" marL="0">
              <a:buNone/>
            </a:pPr>
            <a:r>
              <a:rPr lang="en-US" sz="1200" b="1" dirty="0">
                <a:solidFill>
                  <a:srgbClr val="FFFFFF"/>
                </a:solidFill>
                <a:latin typeface="Roboto" pitchFamily="34" charset="0"/>
                <a:ea typeface="Roboto" pitchFamily="34" charset="-122"/>
                <a:cs typeface="Roboto" pitchFamily="34" charset="-120"/>
              </a:rPr>
              <a:t>02</a:t>
            </a:r>
            <a:endParaRPr lang="en-US" sz="1200" dirty="0"/>
          </a:p>
        </p:txBody>
      </p:sp>
      <p:sp>
        <p:nvSpPr>
          <p:cNvPr id="13" name="Text 11"/>
          <p:cNvSpPr/>
          <p:nvPr/>
        </p:nvSpPr>
        <p:spPr>
          <a:xfrm>
            <a:off x="5349240" y="4069080"/>
            <a:ext cx="3108960" cy="365760"/>
          </a:xfrm>
          <a:prstGeom prst="rect">
            <a:avLst/>
          </a:prstGeom>
          <a:noFill/>
          <a:ln/>
        </p:spPr>
        <p:txBody>
          <a:bodyPr wrap="square" rtlCol="0" anchor="ctr"/>
          <a:lstStyle/>
          <a:p>
            <a:pPr indent="0" marL="0">
              <a:buNone/>
            </a:pPr>
            <a:r>
              <a:rPr lang="en-US" sz="1300" b="1" dirty="0">
                <a:solidFill>
                  <a:srgbClr val="FFFFFF"/>
                </a:solidFill>
                <a:latin typeface="Roboto" pitchFamily="34" charset="0"/>
                <a:ea typeface="Roboto" pitchFamily="34" charset="-122"/>
                <a:cs typeface="Roboto" pitchFamily="34" charset="-120"/>
              </a:rPr>
              <a:t>Talk to us</a:t>
            </a:r>
            <a:endParaRPr lang="en-US" sz="1300" dirty="0"/>
          </a:p>
        </p:txBody>
      </p:sp>
      <p:sp>
        <p:nvSpPr>
          <p:cNvPr id="14" name="Text 12"/>
          <p:cNvSpPr/>
          <p:nvPr/>
        </p:nvSpPr>
        <p:spPr>
          <a:xfrm>
            <a:off x="4663440" y="4800600"/>
            <a:ext cx="3566160" cy="1280160"/>
          </a:xfrm>
          <a:prstGeom prst="rect">
            <a:avLst/>
          </a:prstGeom>
          <a:noFill/>
          <a:ln/>
        </p:spPr>
        <p:txBody>
          <a:bodyPr wrap="square" rtlCol="0" anchor="ctr"/>
          <a:lstStyle/>
          <a:p>
            <a:pPr indent="0" marL="0">
              <a:lnSpc>
                <a:spcPct val="140000"/>
              </a:lnSpc>
              <a:buNone/>
            </a:pPr>
            <a:r>
              <a:rPr lang="en-US" sz="1050" dirty="0">
                <a:solidFill>
                  <a:srgbClr val="B8D8DC"/>
                </a:solidFill>
                <a:latin typeface="Roboto" pitchFamily="34" charset="0"/>
                <a:ea typeface="Roboto" pitchFamily="34" charset="-122"/>
                <a:cs typeface="Roboto" pitchFamily="34" charset="-120"/>
              </a:rPr>
              <a:t>Reach out to Nichole at nichole@realizedworth.com — she'll walk you through everything.</a:t>
            </a:r>
            <a:endParaRPr lang="en-US" sz="1050" dirty="0"/>
          </a:p>
        </p:txBody>
      </p:sp>
      <p:sp>
        <p:nvSpPr>
          <p:cNvPr id="15" name="Shape 13"/>
          <p:cNvSpPr/>
          <p:nvPr/>
        </p:nvSpPr>
        <p:spPr>
          <a:xfrm>
            <a:off x="8503920" y="4114800"/>
            <a:ext cx="548640" cy="548640"/>
          </a:xfrm>
          <a:prstGeom prst="ellipse">
            <a:avLst/>
          </a:prstGeom>
          <a:solidFill>
            <a:srgbClr val="EC5C2A"/>
          </a:solidFill>
          <a:ln w="12700">
            <a:solidFill>
              <a:srgbClr val="EC5C2A"/>
            </a:solidFill>
            <a:prstDash val="solid"/>
          </a:ln>
        </p:spPr>
      </p:sp>
      <p:sp>
        <p:nvSpPr>
          <p:cNvPr id="16" name="Text 14"/>
          <p:cNvSpPr/>
          <p:nvPr/>
        </p:nvSpPr>
        <p:spPr>
          <a:xfrm>
            <a:off x="8503920" y="4114800"/>
            <a:ext cx="548640" cy="548640"/>
          </a:xfrm>
          <a:prstGeom prst="rect">
            <a:avLst/>
          </a:prstGeom>
          <a:noFill/>
          <a:ln/>
        </p:spPr>
        <p:txBody>
          <a:bodyPr wrap="square" rtlCol="0" anchor="ctr"/>
          <a:lstStyle/>
          <a:p>
            <a:pPr algn="ctr" indent="0" marL="0">
              <a:buNone/>
            </a:pPr>
            <a:r>
              <a:rPr lang="en-US" sz="1200" b="1" dirty="0">
                <a:solidFill>
                  <a:srgbClr val="FFFFFF"/>
                </a:solidFill>
                <a:latin typeface="Roboto" pitchFamily="34" charset="0"/>
                <a:ea typeface="Roboto" pitchFamily="34" charset="-122"/>
                <a:cs typeface="Roboto" pitchFamily="34" charset="-120"/>
              </a:rPr>
              <a:t>03</a:t>
            </a:r>
            <a:endParaRPr lang="en-US" sz="1200" dirty="0"/>
          </a:p>
        </p:txBody>
      </p:sp>
      <p:sp>
        <p:nvSpPr>
          <p:cNvPr id="17" name="Text 15"/>
          <p:cNvSpPr/>
          <p:nvPr/>
        </p:nvSpPr>
        <p:spPr>
          <a:xfrm>
            <a:off x="9189720" y="4069080"/>
            <a:ext cx="3108960" cy="365760"/>
          </a:xfrm>
          <a:prstGeom prst="rect">
            <a:avLst/>
          </a:prstGeom>
          <a:noFill/>
          <a:ln/>
        </p:spPr>
        <p:txBody>
          <a:bodyPr wrap="square" rtlCol="0" anchor="ctr"/>
          <a:lstStyle/>
          <a:p>
            <a:pPr indent="0" marL="0">
              <a:buNone/>
            </a:pPr>
            <a:r>
              <a:rPr lang="en-US" sz="1300" b="1" dirty="0">
                <a:solidFill>
                  <a:srgbClr val="FFFFFF"/>
                </a:solidFill>
                <a:latin typeface="Roboto" pitchFamily="34" charset="0"/>
                <a:ea typeface="Roboto" pitchFamily="34" charset="-122"/>
                <a:cs typeface="Roboto" pitchFamily="34" charset="-120"/>
              </a:rPr>
              <a:t>Reserve your seats</a:t>
            </a:r>
            <a:endParaRPr lang="en-US" sz="1300" dirty="0"/>
          </a:p>
        </p:txBody>
      </p:sp>
      <p:sp>
        <p:nvSpPr>
          <p:cNvPr id="18" name="Text 16"/>
          <p:cNvSpPr/>
          <p:nvPr/>
        </p:nvSpPr>
        <p:spPr>
          <a:xfrm>
            <a:off x="8503920" y="4800600"/>
            <a:ext cx="3566160" cy="1280160"/>
          </a:xfrm>
          <a:prstGeom prst="rect">
            <a:avLst/>
          </a:prstGeom>
          <a:noFill/>
          <a:ln/>
        </p:spPr>
        <p:txBody>
          <a:bodyPr wrap="square" rtlCol="0" anchor="ctr"/>
          <a:lstStyle/>
          <a:p>
            <a:pPr indent="0" marL="0">
              <a:lnSpc>
                <a:spcPct val="140000"/>
              </a:lnSpc>
              <a:buNone/>
            </a:pPr>
            <a:r>
              <a:rPr lang="en-US" sz="1050" dirty="0">
                <a:solidFill>
                  <a:srgbClr val="B8D8DC"/>
                </a:solidFill>
                <a:latin typeface="Roboto" pitchFamily="34" charset="0"/>
                <a:ea typeface="Roboto" pitchFamily="34" charset="-122"/>
                <a:cs typeface="Roboto" pitchFamily="34" charset="-120"/>
              </a:rPr>
              <a:t>Registration opens soon. Interest form submissions are first in line.</a:t>
            </a:r>
            <a:endParaRPr lang="en-US" sz="1050" dirty="0"/>
          </a:p>
        </p:txBody>
      </p:sp>
      <p:sp>
        <p:nvSpPr>
          <p:cNvPr id="19" name="Text 17"/>
          <p:cNvSpPr/>
          <p:nvPr/>
        </p:nvSpPr>
        <p:spPr>
          <a:xfrm>
            <a:off x="822960" y="6217920"/>
            <a:ext cx="10972800" cy="365760"/>
          </a:xfrm>
          <a:prstGeom prst="rect">
            <a:avLst/>
          </a:prstGeom>
          <a:noFill/>
          <a:ln/>
        </p:spPr>
        <p:txBody>
          <a:bodyPr wrap="square" rtlCol="0" anchor="ctr"/>
          <a:lstStyle/>
          <a:p>
            <a:pPr indent="0" marL="0">
              <a:buNone/>
            </a:pPr>
            <a:r>
              <a:rPr lang="en-US" sz="1100" spc="200" kern="0" dirty="0">
                <a:solidFill>
                  <a:srgbClr val="B8D8DC"/>
                </a:solidFill>
                <a:latin typeface="Roboto Condensed" pitchFamily="34" charset="0"/>
                <a:ea typeface="Roboto Condensed" pitchFamily="34" charset="-122"/>
                <a:cs typeface="Roboto Condensed" pitchFamily="34" charset="-120"/>
              </a:rPr>
              <a:t>rw-regional-campus.lovable.app   ·   nichole@realizedworth.com</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REFERENCES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Further reading</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365760"/>
          </a:xfrm>
          <a:prstGeom prst="rect">
            <a:avLst/>
          </a:prstGeom>
          <a:noFill/>
          <a:ln/>
        </p:spPr>
        <p:txBody>
          <a:bodyPr wrap="square" rtlCol="0" anchor="ctr"/>
          <a:lstStyle/>
          <a:p>
            <a:pPr indent="0" marL="0">
              <a:buNone/>
            </a:pPr>
            <a:r>
              <a:rPr lang="en-US" sz="1100" i="1" dirty="0">
                <a:solidFill>
                  <a:srgbClr val="6B6B6F"/>
                </a:solidFill>
                <a:latin typeface="Roboto" pitchFamily="34" charset="0"/>
                <a:ea typeface="Roboto" pitchFamily="34" charset="-122"/>
                <a:cs typeface="Roboto" pitchFamily="34" charset="-120"/>
              </a:rPr>
              <a:t>Sources that support the claims in this deck. Annotated commentary on the pages that follow.</a:t>
            </a:r>
            <a:endParaRPr lang="en-US" sz="1100" dirty="0"/>
          </a:p>
        </p:txBody>
      </p:sp>
      <p:sp>
        <p:nvSpPr>
          <p:cNvPr id="6" name="Text 4"/>
          <p:cNvSpPr/>
          <p:nvPr/>
        </p:nvSpPr>
        <p:spPr>
          <a:xfrm>
            <a:off x="54864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Harris, L.T. &amp; Fiske, S.T. (2006). Dehumanizing the Lowest of the Low. Psychological Science, 17(10).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https://doi.org/10.1111/j.1467-9280.2006.01793.x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[2]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McGaugh, J.L. (2000). Memory: A Century of Consolidation. Science, 287.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https://doi.org/10.1126/science.287.5451.248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[3]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Klimecki et al. (2014). Differential plasticity after compassion vs empathy training. SCAN, 9(6).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https://doi.org/10.1093/scan/nst060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[4]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Mezirow, J. (1991). Transformative Dimensions of Adult Learning.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https://www.wiley.com/en-us/Transformative+Dimensions+of+Adult+Learning-p-9780470857953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[5]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Penner et al. (2005). Prosocial Behavior: Multilevel Perspectives. Annual Review of Psychology, 56.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https://doi.org/10.1146/annurev.psych.56.091103.070141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[6]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Tajfel &amp; Turner (1979). An Integrative Theory of Intergroup Conflict.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https://doi.org/10.1016/S0065-2601(05)37005-5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[8]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Haslam, S.A. (2004). Psychology in Organizations: The Social Identity Approach.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https://doi.org/10.4135/9781446278819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[9]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Kolb, D.A. (1984). Experiential Learning.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https://www.pearson.com/en-us/subject-catalog/p/experiential-learning-experience-as-the-source-of-learning-and-development/P200000003115
</a:t>
            </a:r>
            <a:endParaRPr lang="en-US" sz="900" dirty="0"/>
          </a:p>
        </p:txBody>
      </p:sp>
      <p:sp>
        <p:nvSpPr>
          <p:cNvPr id="7" name="Text 5"/>
          <p:cNvSpPr/>
          <p:nvPr/>
        </p:nvSpPr>
        <p:spPr>
          <a:xfrm>
            <a:off x="630936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[10]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Grant, A.M. (2008). The Significance of Task Significance. Journal of Applied Psychology, 93(1).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https://doi.org/10.1037/0021-9010.93.1.108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[11]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Mitchell, T.D. (2008). Traditional vs. Critical Service-Learning. MJCSL, 14(2).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https://quod.lib.umich.edu/m/mjcsl/3239521.0014.205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[12]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Pettigrew &amp; Tropp (2006). Meta-Analytic Test of Intergroup Contact Theory. JPSP, 90(5).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https://doi.org/10.1037/0022-3514.90.5.751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[13]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Aquino &amp; Reed (2002). The Self-Importance of Moral Identity. JPSP, 83(6).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https://doi.org/10.1037/0022-3514.83.6.1423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[14]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Rodell, J.B. (2013). Finding Meaning through Volunteering. AMJ, 56(5).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https://doi.org/10.5465/amj.2012.0611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[17]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Lally, P., et al. (2010). How Are Habits Formed. EJSP, 40(6).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https://doi.org/10.1002/ejsp.674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[18]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Cepeda, N.J., et al. (2006). Distributed Practice in Verbal Recall Tasks. Psychological Bulletin, 132(3).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5" invalidUrl="" action="" tgtFrame="" tooltip="" history="1" highlightClick="0" endSnd="0">
                  <a:extLst>
                    <a:ext uri="{A12FA001-AC4F-418D-AE19-62706E023703}">
                      <ahyp:hlinkClr xmlns:ahyp="http://schemas.microsoft.com/office/drawing/2018/hyperlinkcolor" val="tx"/>
                    </a:ext>
                  </a:extLst>
                </a:hlinkClick>
              </a:rPr>
              <a:t>https://doi.org/10.1037/0033-2909.132.3.354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[19]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Centola, D., et al. (2018). Tipping Points in Social Convention. Science, 360.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https://doi.org/10.1126/science.aas8827
</a:t>
            </a:r>
            <a:endParaRPr lang="en-US" sz="900" dirty="0"/>
          </a:p>
        </p:txBody>
      </p:sp>
      <p:sp>
        <p:nvSpPr>
          <p:cNvPr id="8" name="Shape 6"/>
          <p:cNvSpPr/>
          <p:nvPr/>
        </p:nvSpPr>
        <p:spPr>
          <a:xfrm>
            <a:off x="548640" y="6355080"/>
            <a:ext cx="11094415" cy="0"/>
          </a:xfrm>
          <a:prstGeom prst="line">
            <a:avLst/>
          </a:prstGeom>
          <a:noFill/>
          <a:ln w="6350">
            <a:solidFill>
              <a:srgbClr val="C2C2C6"/>
            </a:solidFill>
            <a:prstDash val="solid"/>
          </a:ln>
        </p:spPr>
      </p:sp>
      <p:sp>
        <p:nvSpPr>
          <p:cNvPr id="9" name="Text 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0" name="Text 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13</a:t>
            </a:r>
            <a:endParaRPr lang="en-US" sz="9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REFERENCES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Further reading</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365760"/>
          </a:xfrm>
          <a:prstGeom prst="rect">
            <a:avLst/>
          </a:prstGeom>
          <a:noFill/>
          <a:ln/>
        </p:spPr>
        <p:txBody>
          <a:bodyPr wrap="square" rtlCol="0" anchor="ctr"/>
          <a:lstStyle/>
          <a:p>
            <a:pPr indent="0" marL="0">
              <a:buNone/>
            </a:pPr>
            <a:r>
              <a:rPr lang="en-US" sz="1100" i="1" dirty="0">
                <a:solidFill>
                  <a:srgbClr val="6B6B6F"/>
                </a:solidFill>
                <a:latin typeface="Roboto" pitchFamily="34" charset="0"/>
                <a:ea typeface="Roboto" pitchFamily="34" charset="-122"/>
                <a:cs typeface="Roboto" pitchFamily="34" charset="-120"/>
              </a:rPr>
              <a:t>Why these sources support the claims in this deck. Entries [1], [2], [3], [4].</a:t>
            </a:r>
            <a:endParaRPr lang="en-US" sz="1100" dirty="0"/>
          </a:p>
        </p:txBody>
      </p:sp>
      <p:sp>
        <p:nvSpPr>
          <p:cNvPr id="6" name="Text 4"/>
          <p:cNvSpPr/>
          <p:nvPr/>
        </p:nvSpPr>
        <p:spPr>
          <a:xfrm>
            <a:off x="54864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Harris, L.T. &amp; Fiske, S.T. (2006). Dehumanizing the Lowest of the Low. Psychological Science, 17(10).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https://doi.org/10.1111/j.1467-9280.2006.01793.x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This neuroimaging study found that medial prefrontal cortex activity drops when participants view photos of dehumanized social groups. That same brain region normally engages when we process others as fully human. It is the mechanism behind the slide 3 claim that volunteers arrive in task mode and the slide 5 claim that the Brief reactivates the part of the brain that processes others as people. Without the intervention, the default neural state treats beneficiaries as objects of charity, not as people.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[2]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2" invalidUrl="" action="" tgtFrame="" tooltip="" history="1" highlightClick="0" endSnd="0">
                  <a:extLst>
                    <a:ext uri="{A12FA001-AC4F-418D-AE19-62706E023703}">
                      <ahyp:hlinkClr xmlns:ahyp="http://schemas.microsoft.com/office/drawing/2018/hyperlinkcolor" val="tx"/>
                    </a:ext>
                  </a:extLst>
                </a:hlinkClick>
              </a:rPr>
              <a:t>McGaugh, J.L. (2000). Memory: A Century of Consolidation. Science, 287.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https://doi.org/10.1126/science.287.5451.248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McGaugh's review establishes that emotionally significant experiences enter long-term memory through a time-limited consolidation window after the event, mediated by stress-hormone signaling on the amygdala and hippocampus. This is the basis for the slide 3 and slide 5 claim that the Debrief has to happen inside the post-experience window or the learning never consolidates. Same-day reflection is a neurological requirement, not a scheduling preference. A powerful experience without immediate processing leaves participants with a vague good feeling that fades within days.</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6"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7"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8"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7" name="Text 5"/>
          <p:cNvSpPr/>
          <p:nvPr/>
        </p:nvSpPr>
        <p:spPr>
          <a:xfrm>
            <a:off x="630936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[3]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Klimecki et al. (2014). Differential plasticity after compassion vs empathy training. SCAN, 9(6).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https://doi.org/10.1093/scan/nst060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Klimecki's fMRI study trained two groups in either empathy or compassion and found they recruit different neural circuits. Empathy activated pain-sharing networks and produced negative affect. Compassion activated reward and affiliation networks. That is the direct evidence for the slide 3 claim that champions burn out when repeated exposure activates pain-sharing rather than compassion circuits, and it is why the Debrief moves participants toward compassion rather than leaving them in distress.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[4]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Mezirow, J. (1991). Transformative Dimensions of Adult Learning.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https://www.wiley.com/en-us/Transformative+Dimensions+of+Adult+Learning-p-9780470857953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Mezirow's transformative learning theory describes how adults change worldviews through a disorienting dilemma, an experience that breaks an existing frame of reference, followed by critical reflection and integration. Slides 4 and 5 lean on this directly when they argue that a live nonprofit experience is the trigger for change because it puts assumption in collision with reality. Without the disorienting moment, participants confirm what they already believed and walk away unchanged. This is the theoretical basis for designing the Brief and the experience to challenge expectations rather than confirm them.</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8" name="Shape 6"/>
          <p:cNvSpPr/>
          <p:nvPr/>
        </p:nvSpPr>
        <p:spPr>
          <a:xfrm>
            <a:off x="548640" y="6355080"/>
            <a:ext cx="11094415" cy="0"/>
          </a:xfrm>
          <a:prstGeom prst="line">
            <a:avLst/>
          </a:prstGeom>
          <a:noFill/>
          <a:ln w="6350">
            <a:solidFill>
              <a:srgbClr val="C2C2C6"/>
            </a:solidFill>
            <a:prstDash val="solid"/>
          </a:ln>
        </p:spPr>
      </p:sp>
      <p:sp>
        <p:nvSpPr>
          <p:cNvPr id="9" name="Text 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0" name="Text 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14</a:t>
            </a:r>
            <a:endParaRPr lang="en-US" sz="9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REFERENCES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Further reading</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365760"/>
          </a:xfrm>
          <a:prstGeom prst="rect">
            <a:avLst/>
          </a:prstGeom>
          <a:noFill/>
          <a:ln/>
        </p:spPr>
        <p:txBody>
          <a:bodyPr wrap="square" rtlCol="0" anchor="ctr"/>
          <a:lstStyle/>
          <a:p>
            <a:pPr indent="0" marL="0">
              <a:buNone/>
            </a:pPr>
            <a:r>
              <a:rPr lang="en-US" sz="1100" i="1" dirty="0">
                <a:solidFill>
                  <a:srgbClr val="6B6B6F"/>
                </a:solidFill>
                <a:latin typeface="Roboto" pitchFamily="34" charset="0"/>
                <a:ea typeface="Roboto" pitchFamily="34" charset="-122"/>
                <a:cs typeface="Roboto" pitchFamily="34" charset="-120"/>
              </a:rPr>
              <a:t>Why these sources support the claims in this deck. Entries [5], [6], [8], [9].</a:t>
            </a:r>
            <a:endParaRPr lang="en-US" sz="1100" dirty="0"/>
          </a:p>
        </p:txBody>
      </p:sp>
      <p:sp>
        <p:nvSpPr>
          <p:cNvPr id="6" name="Text 4"/>
          <p:cNvSpPr/>
          <p:nvPr/>
        </p:nvSpPr>
        <p:spPr>
          <a:xfrm>
            <a:off x="54864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[5]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Penner et al. (2005). Prosocial Behavior: Multilevel Perspectives. Annual Review of Psychology, 56.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https://doi.org/10.1146/annurev.psych.56.091103.070141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This is the canonical review of prosocial behavior across individual, dyadic, and group levels, including the conditions under which helping becomes part of self-concept rather than a one-off act. Slides 5 and 6 build on it to describe identity-level prosocial change as something that generalizes across life domains and persists. The review distinguishes situational helping, which fades, from identity-anchored helping, which compounds. That distinction is why we measure identity language at six and twelve months rather than satisfaction immediately after the event.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[6]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2" invalidUrl="" action="" tgtFrame="" tooltip="" history="1" highlightClick="0" endSnd="0">
                  <a:extLst>
                    <a:ext uri="{A12FA001-AC4F-418D-AE19-62706E023703}">
                      <ahyp:hlinkClr xmlns:ahyp="http://schemas.microsoft.com/office/drawing/2018/hyperlinkcolor" val="tx"/>
                    </a:ext>
                  </a:extLst>
                </a:hlinkClick>
              </a:rPr>
              <a:t>Tajfel &amp; Turner (1979). An Integrative Theory of Intergroup Conflict.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https://doi.org/10.1016/S0065-2601(05)37005-5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Social Identity Theory establishes that group membership is a core component of self-concept and that shared identity drives behavior beyond what individual motivation explains. Slide 4 uses this to ground the cohort-as-amplifier claim: a multi-company peer group continues for six months because shared identity sustains the new practice. Slide 6 extends it to the company side, where the employer becomes associated with prosocial identity. Without the cohort architecture, individual motivation has to carry the whole load, and most programs lose people within a quarter.</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6"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7"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8"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7" name="Text 5"/>
          <p:cNvSpPr/>
          <p:nvPr/>
        </p:nvSpPr>
        <p:spPr>
          <a:xfrm>
            <a:off x="630936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[8]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Haslam, S.A. (2004). Psychology in Organizations: The Social Identity Approach.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https://doi.org/10.4135/9781446278819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Haslam translates Social Identity Theory into organizational contexts, showing how shared identity shapes leadership, communication, and behavioral norms inside companies. It is paired with Tajfel and Turner on slide 4 because the cohort is not an abstract psychological group; it is a working community of practice across companies, which is the unit Haslam analyzes. The book also supports the design of champion networks, where identity-based norms scale faster and more durably than rule-based compliance. This grounds the claim that a small trained cohort is a structural intervention.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[9]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Kolb, D.A. (1984). Experiential Learning.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https://www.pearson.com/en-us/subject-catalog/p/experiential-learning-experience-as-the-source-of-learning-and-development/P200000003115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Kolb's experiential learning cycle (concrete experience, reflective observation, abstract conceptualization, active experimentation) is the basis for the slide 4 claim that practice, not lecture, is what produces skill acquisition. Adults do not learn facilitation by reading about it. They learn by doing it, getting feedback, adjusting, and doing it again. The two-day campus is built around this cycle, with live briefs and debriefs followed by structured reflection rather than instruction. Without the experiential loop, knowledge transfers but behavior does not.</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8" name="Shape 6"/>
          <p:cNvSpPr/>
          <p:nvPr/>
        </p:nvSpPr>
        <p:spPr>
          <a:xfrm>
            <a:off x="548640" y="6355080"/>
            <a:ext cx="11094415" cy="0"/>
          </a:xfrm>
          <a:prstGeom prst="line">
            <a:avLst/>
          </a:prstGeom>
          <a:noFill/>
          <a:ln w="6350">
            <a:solidFill>
              <a:srgbClr val="C2C2C6"/>
            </a:solidFill>
            <a:prstDash val="solid"/>
          </a:ln>
        </p:spPr>
      </p:sp>
      <p:sp>
        <p:nvSpPr>
          <p:cNvPr id="9" name="Text 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0" name="Text 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15</a:t>
            </a:r>
            <a:endParaRPr lang="en-US" sz="9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REFERENCES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Further reading</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365760"/>
          </a:xfrm>
          <a:prstGeom prst="rect">
            <a:avLst/>
          </a:prstGeom>
          <a:noFill/>
          <a:ln/>
        </p:spPr>
        <p:txBody>
          <a:bodyPr wrap="square" rtlCol="0" anchor="ctr"/>
          <a:lstStyle/>
          <a:p>
            <a:pPr indent="0" marL="0">
              <a:buNone/>
            </a:pPr>
            <a:r>
              <a:rPr lang="en-US" sz="1100" i="1" dirty="0">
                <a:solidFill>
                  <a:srgbClr val="6B6B6F"/>
                </a:solidFill>
                <a:latin typeface="Roboto" pitchFamily="34" charset="0"/>
                <a:ea typeface="Roboto" pitchFamily="34" charset="-122"/>
                <a:cs typeface="Roboto" pitchFamily="34" charset="-120"/>
              </a:rPr>
              <a:t>Why these sources support the claims in this deck. Entries [10], [11], [12], [13].</a:t>
            </a:r>
            <a:endParaRPr lang="en-US" sz="1100" dirty="0"/>
          </a:p>
        </p:txBody>
      </p:sp>
      <p:sp>
        <p:nvSpPr>
          <p:cNvPr id="6" name="Text 4"/>
          <p:cNvSpPr/>
          <p:nvPr/>
        </p:nvSpPr>
        <p:spPr>
          <a:xfrm>
            <a:off x="54864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[10]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Grant, A.M. (2008). The Significance of Task Significance. Journal of Applied Psychology, 93(1).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https://doi.org/10.1037/0021-9010.93.1.108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Grant's field experiments showed that brief direct contact between workers and the beneficiaries of their work produced sustained increases in effort and performance for over a month after the contact ended. That is the direct evidence cited on slide 5 for the durability of beneficiary contact, and it is one of the strongest behavioral results in the prosocial-motivation literature. The mechanism matters: hearing a beneficiary's story (not statistics, not goals) is what produces the effect. The Brief operationalizes this by opening every experience with a specific person, not a category of need.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[11]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2" invalidUrl="" action="" tgtFrame="" tooltip="" history="1" highlightClick="0" endSnd="0">
                  <a:extLst>
                    <a:ext uri="{A12FA001-AC4F-418D-AE19-62706E023703}">
                      <ahyp:hlinkClr xmlns:ahyp="http://schemas.microsoft.com/office/drawing/2018/hyperlinkcolor" val="tx"/>
                    </a:ext>
                  </a:extLst>
                </a:hlinkClick>
              </a:rPr>
              <a:t>Mitchell, T.D. (2008). Traditional vs. Critical Service-Learning. MJCSL, 14(2).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https://quod.lib.umich.edu/m/mjcsl/3239521.0014.205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Mitchell distinguishes traditional service-learning, which centers the helper and treats beneficiaries as objects of charity, from critical service-learning, which redistributes power and frames the work as solidarity rather than service. Slides 5 and 6 use this directly when they describe scoping projects with partners rather than for them. The 'with' posture is not a tone preference; it is a design requirement for the experience to produce the conditions for positive intergroup contact. Programs that skip this end up reinforcing the very assumptions they meant to challenge.</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6"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7"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8"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7" name="Text 5"/>
          <p:cNvSpPr/>
          <p:nvPr/>
        </p:nvSpPr>
        <p:spPr>
          <a:xfrm>
            <a:off x="630936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[12]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Pettigrew &amp; Tropp (2006). Meta-Analytic Test of Intergroup Contact Theory. JPSP, 90(5).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https://doi.org/10.1037/0022-3514.90.5.751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This meta-analysis of 515 studies established that positive cross-group contact reliably reduces prejudice across contexts. The effect is strongest when contact involves equal status, shared goals, cooperation, and institutional support. Slides 5 and 6 cite it for the conditions under which volunteer contact produces lasting attitude change rather than reinforcing prior beliefs. Pettigrew and Tropp also showed that friendship-level engagement produces meaningfully stronger effects than acquaintance-level contact, which is why the program is designed for repeated, recurring relationships rather than one-day events.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[13]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Aquino &amp; Reed (2002). The Self-Importance of Moral Identity. JPSP, 83(6).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https://doi.org/10.1037/0022-3514.83.6.1423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Aquino and Reed developed the moral identity scale and showed that when moral identity is central to self-concept, prosocial behavior generalizes across contexts and persists over time. Slide 6 uses this to support the claim that prosocial identity change carries from the volunteer setting into other parts of life. The shift the slide describes (from 'I did a good thing' to 'this is part of who I am') is the operational definition of moral identity becoming self-defining. Without that internalization, behavior remains tied to the situation and decays once the cue disappears.</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8" name="Shape 6"/>
          <p:cNvSpPr/>
          <p:nvPr/>
        </p:nvSpPr>
        <p:spPr>
          <a:xfrm>
            <a:off x="548640" y="6355080"/>
            <a:ext cx="11094415" cy="0"/>
          </a:xfrm>
          <a:prstGeom prst="line">
            <a:avLst/>
          </a:prstGeom>
          <a:noFill/>
          <a:ln w="6350">
            <a:solidFill>
              <a:srgbClr val="C2C2C6"/>
            </a:solidFill>
            <a:prstDash val="solid"/>
          </a:ln>
        </p:spPr>
      </p:sp>
      <p:sp>
        <p:nvSpPr>
          <p:cNvPr id="9" name="Text 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0" name="Text 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16</a:t>
            </a:r>
            <a:endParaRPr lang="en-US" sz="900" dirty="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nvSpPr>
        <p:spPr>
          <a:xfrm>
            <a:off x="548640" y="457200"/>
            <a:ext cx="10972800" cy="320040"/>
          </a:xfrm>
          <a:prstGeom prst="rect">
            <a:avLst/>
          </a:prstGeom>
          <a:noFill/>
          <a:ln/>
        </p:spPr>
        <p:txBody>
          <a:bodyPr wrap="square" rtlCol="0" anchor="ctr"/>
          <a:lstStyle/>
          <a:p>
            <a:pPr indent="0" marL="0">
              <a:buNone/>
            </a:pPr>
            <a:r>
              <a:rPr lang="en-US" sz="1000" b="1" spc="400" kern="0" dirty="0">
                <a:solidFill>
                  <a:srgbClr val="EC5C2A"/>
                </a:solidFill>
                <a:latin typeface="Roboto" pitchFamily="34" charset="0"/>
                <a:ea typeface="Roboto" pitchFamily="34" charset="-122"/>
                <a:cs typeface="Roboto" pitchFamily="34" charset="-120"/>
              </a:rPr>
              <a:t>REFERENCES</a:t>
            </a:r>
            <a:endParaRPr lang="en-US" sz="1000" dirty="0"/>
          </a:p>
        </p:txBody>
      </p:sp>
      <p:sp>
        <p:nvSpPr>
          <p:cNvPr id="3" name="Text 1"/>
          <p:cNvSpPr/>
          <p:nvPr/>
        </p:nvSpPr>
        <p:spPr>
          <a:xfrm>
            <a:off x="548640" y="868680"/>
            <a:ext cx="10972800" cy="960120"/>
          </a:xfrm>
          <a:prstGeom prst="rect">
            <a:avLst/>
          </a:prstGeom>
          <a:noFill/>
          <a:ln/>
        </p:spPr>
        <p:txBody>
          <a:bodyPr wrap="square" rtlCol="0" anchor="ctr"/>
          <a:lstStyle/>
          <a:p>
            <a:pPr indent="0" marL="0">
              <a:buNone/>
            </a:pPr>
            <a:r>
              <a:rPr lang="en-US" sz="2800" b="1" dirty="0">
                <a:solidFill>
                  <a:srgbClr val="3C3F44"/>
                </a:solidFill>
                <a:latin typeface="Roboto" pitchFamily="34" charset="0"/>
                <a:ea typeface="Roboto" pitchFamily="34" charset="-122"/>
                <a:cs typeface="Roboto" pitchFamily="34" charset="-120"/>
              </a:rPr>
              <a:t>Further reading</a:t>
            </a:r>
            <a:endParaRPr lang="en-US" sz="2800" dirty="0"/>
          </a:p>
        </p:txBody>
      </p:sp>
      <p:sp>
        <p:nvSpPr>
          <p:cNvPr id="4" name="Shape 2"/>
          <p:cNvSpPr/>
          <p:nvPr/>
        </p:nvSpPr>
        <p:spPr>
          <a:xfrm>
            <a:off x="548640" y="1874520"/>
            <a:ext cx="914400" cy="0"/>
          </a:xfrm>
          <a:prstGeom prst="line">
            <a:avLst/>
          </a:prstGeom>
          <a:noFill/>
          <a:ln w="38100">
            <a:solidFill>
              <a:srgbClr val="EC5C2A"/>
            </a:solidFill>
            <a:prstDash val="solid"/>
          </a:ln>
        </p:spPr>
        <p:txBody>
          <a:bodyPr/>
          <a:p/>
        </p:txBody>
      </p:sp>
      <p:sp>
        <p:nvSpPr>
          <p:cNvPr id="5" name="Text 3"/>
          <p:cNvSpPr/>
          <p:nvPr/>
        </p:nvSpPr>
        <p:spPr>
          <a:xfrm>
            <a:off x="548640" y="2103120"/>
            <a:ext cx="10972800" cy="365760"/>
          </a:xfrm>
          <a:prstGeom prst="rect">
            <a:avLst/>
          </a:prstGeom>
          <a:noFill/>
          <a:ln/>
        </p:spPr>
        <p:txBody>
          <a:bodyPr wrap="square" rtlCol="0" anchor="ctr"/>
          <a:lstStyle/>
          <a:p>
            <a:pPr indent="0" marL="0">
              <a:buNone/>
            </a:pPr>
            <a:r>
              <a:rPr lang="en-US" sz="1100" i="1" dirty="0">
                <a:solidFill>
                  <a:srgbClr val="6B6B6F"/>
                </a:solidFill>
                <a:latin typeface="Roboto" pitchFamily="34" charset="0"/>
                <a:ea typeface="Roboto" pitchFamily="34" charset="-122"/>
                <a:cs typeface="Roboto" pitchFamily="34" charset="-120"/>
              </a:rPr>
              <a:t>Why these sources support the claims in this deck. Entries [14], [17], [18], [19].</a:t>
            </a:r>
            <a:endParaRPr lang="en-US" sz="1100" dirty="0"/>
          </a:p>
        </p:txBody>
      </p:sp>
      <p:sp>
        <p:nvSpPr>
          <p:cNvPr id="6" name="Text 4"/>
          <p:cNvSpPr/>
          <p:nvPr/>
        </p:nvSpPr>
        <p:spPr>
          <a:xfrm>
            <a:off x="54864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[14]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Rodell, J.B. (2013). Finding Meaning through Volunteering. AMJ, 56(5).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https://doi.org/10.5465/amj.2012.0611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Rodell's study of working adults found that employee volunteering increases work meaningfulness and job performance, mediated by the employee's experience of meaning rather than by hours volunteered. This supports the slide 11 claim that trained champions improve every experience they touch and that the program affects retention and engagement, not just participation. It also supports the slide 6 case that the company benefits when prosocial identity is supported by the employer. The mechanism is meaning, not activity, which is why volume of events without facilitation does not produce the engagement gains companies expect.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[17]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2" invalidUrl="" action="" tgtFrame="" tooltip="" history="1" highlightClick="0" endSnd="0">
                  <a:extLst>
                    <a:ext uri="{A12FA001-AC4F-418D-AE19-62706E023703}">
                      <ahyp:hlinkClr xmlns:ahyp="http://schemas.microsoft.com/office/drawing/2018/hyperlinkcolor" val="tx"/>
                    </a:ext>
                  </a:extLst>
                </a:hlinkClick>
              </a:rPr>
              <a:t>Lally, P., et al. (2010). How Are Habits Formed. EJSP, 40(6).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https://doi.org/10.1002/ejsp.674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Lally's longitudinal study found that automaticity for a new daily behavior took a median of 66 days, with a range of 18 to 254 depending on complexity. Behavior consistency in the early weeks predicted whether the habit took hold. Slide 9 uses this to ground the claim that complex prosocial behaviors require repeated, spaced practice to reach automaticity, which is why the Stage 2 credential requires six months of sustained implementation. A two-day training builds capability; the cohort and the spacing are what convert capability into habit.</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6"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7"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8"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7" name="Text 5"/>
          <p:cNvSpPr/>
          <p:nvPr/>
        </p:nvSpPr>
        <p:spPr>
          <a:xfrm>
            <a:off x="6309360" y="2606040"/>
            <a:ext cx="5486400" cy="3657600"/>
          </a:xfrm>
          <a:prstGeom prst="rect">
            <a:avLst/>
          </a:prstGeom>
          <a:noFill/>
          <a:ln/>
        </p:spPr>
        <p:txBody>
          <a:bodyPr wrap="square" rtlCol="0" anchor="ctr"/>
          <a:lstStyle/>
          <a:p>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[18]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Cepeda, N.J., et al. (2006). Distributed Practice in Verbal Recall Tasks. Psychological Bulletin, 132(3).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https://doi.org/10.1037/0033-2909.132.3.354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Cepeda's meta-analysis of more than 800 studies established that spaced practice produces substantially better long-term retention than massed practice, with optimal spacing scaling to the desired retention interval. The original studies are on verbal learning, but the principle generalizes to skill acquisition: practice distributed across weeks outperforms the same practice compressed into days. This is the evidence base for the slide 9 design choice to follow the two-day campus with a six-month cohort rather than a single intensive event. Workshop intensity creates excitement; spaced practice creates retention.
</a:t>
            </a:r>
            <a:pPr indent="0" marL="0">
              <a:lnSpc>
                <a:spcPct val="130000"/>
              </a:lnSpc>
              <a:buNone/>
            </a:pPr>
            <a:r>
              <a:rPr lang="en-US" sz="900" dirty="0" b="1">
                <a:solidFill>
                  <a:srgbClr val="404040"/>
                </a:solidFill>
                <a:latin typeface="Roboto Condensed" pitchFamily="34" charset="0"/>
                <a:ea typeface="Roboto Condensed" pitchFamily="34" charset="-122"/>
                <a:cs typeface="Roboto Condensed" pitchFamily="34" charset="-120"/>
              </a:rPr>
              <a:t>[19] </a:t>
            </a:r>
            <a:pPr indent="0" marL="0">
              <a:lnSpc>
                <a:spcPct val="130000"/>
              </a:lnSpc>
              <a:buNone/>
            </a:pPr>
            <a:r>
              <a:rPr lang="en-US" sz="900" u="sng" dirty="0" b="0">
                <a:solidFill>
                  <a:srgbClr val="4491A9"/>
                </a:solidFill>
                <a:latin typeface="Roboto Condensed" pitchFamily="34" charset="0"/>
                <a:ea typeface="Roboto Condensed" pitchFamily="34" charset="-122"/>
                <a:cs typeface="Roboto Condensed"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Centola, D., et al. (2018). Tipping Points in Social Convention. Science, 360.
</a:t>
            </a:r>
            <a:pPr indent="0" marL="0">
              <a:lnSpc>
                <a:spcPct val="130000"/>
              </a:lnSpc>
              <a:buNone/>
            </a:pPr>
            <a:r>
              <a:rPr lang="en-US" sz="900" b="0" dirty="0">
                <a:solidFill>
                  <a:srgbClr val="EC5C2A"/>
                </a:solidFill>
                <a:latin typeface="Roboto Condensed" pitchFamily="34" charset="0"/>
                <a:ea typeface="Roboto Condensed" pitchFamily="34" charset="-122"/>
                <a:cs typeface="Roboto Condensed" pitchFamily="34" charset="-120"/>
              </a:rPr>
              <a:t>https://doi.org/10.1126/science.aas8827
</a:t>
            </a:r>
            <a:pPr indent="0" marL="0">
              <a:lnSpc>
                <a:spcPct val="130000"/>
              </a:lnSpc>
              <a:buNone/>
            </a:pPr>
            <a:r>
              <a:rPr lang="en-US" sz="900" dirty="0" b="0">
                <a:solidFill>
                  <a:srgbClr val="404040"/>
                </a:solidFill>
                <a:latin typeface="Roboto Condensed" pitchFamily="34" charset="0"/>
                <a:ea typeface="Roboto Condensed" pitchFamily="34" charset="-122"/>
                <a:cs typeface="Roboto Condensed" pitchFamily="34" charset="-120"/>
              </a:rPr>
              <a:t>Centola's experimental study found that when approximately 25 percent of a group adopts a new behavior or norm, rapid widespread adoption follows, providing empirical support for tipping-point dynamics in social systems. This is the basis for the slide 7 ripple-effect claim that a small trained cohort can shift practice across a much larger population. It also informs the design target for champion networks: roughly one quarter of the relevant peer group must be trained for the new practice to become the default rather than the exception. Below that threshold, trained champions push against gravity.</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2"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4"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a:r>
            <a:pPr indent="0" marL="0">
              <a:lnSpc>
                <a:spcPct val="130000"/>
              </a:lnSpc>
              <a:buNone/>
            </a:pPr>
            <a:r>
              <a:rPr lang="en-US" sz="900" b="1" dirty="0">
                <a:solidFill>
                  <a:srgbClr val="EC5C2A"/>
                </a:solidFill>
                <a:latin typeface="Roboto Condensed" pitchFamily="34" charset="0"/>
                <a:ea typeface="Roboto Condensed" pitchFamily="34" charset="-122"/>
                <a:cs typeface="Roboto Condensed" pitchFamily="34" charset="-120"/>
              </a:rPr>
              <a:t/>
            </a:r>
            <a:pPr indent="0" marL="0">
              <a:lnSpc>
                <a:spcPct val="130000"/>
              </a:lnSpc>
              <a:buNone/>
            </a:pPr>
            <a:r>
              <a:rPr lang="en-US" sz="900" dirty="0">
                <a:solidFill>
                  <a:srgbClr val="404040"/>
                </a:solidFill>
                <a:latin typeface="Roboto Condensed" pitchFamily="34" charset="0"/>
                <a:ea typeface="Roboto Condensed" pitchFamily="34" charset="-122"/>
                <a:cs typeface="Roboto Condensed" pitchFamily="34" charset="-120"/>
              </a:rPr>
              <a:t/>
            </a:r>
            <a:pPr indent="0" marL="0">
              <a:lnSpc>
                <a:spcPct val="130000"/>
              </a:lnSpc>
              <a:buNone/>
            </a:pPr>
            <a:r>
              <a:rPr lang="en-US" sz="900" u="sng" dirty="0">
                <a:solidFill>
                  <a:srgbClr val="4491A9"/>
                </a:solidFill>
                <a:latin typeface="Roboto Condensed" pitchFamily="34" charset="0"/>
                <a:ea typeface="Roboto Condensed" pitchFamily="34" charset="-122"/>
                <a:cs typeface="Roboto Condensed" pitchFamily="34" charset="-120"/>
                <a:hlinkClick r:id="rId16" invalidUrl="" action="" tgtFrame="" tooltip="" history="1" highlightClick="0" endSnd="0">
                  <a:extLst>
                    <a:ext uri="{A12FA001-AC4F-418D-AE19-62706E023703}">
                      <ahyp:hlinkClr xmlns:ahyp="http://schemas.microsoft.com/office/drawing/2018/hyperlinkcolor" val="tx"/>
                    </a:ext>
                  </a:extLst>
                </a:hlinkClick>
              </a:rPr>
              <a:t/>
            </a:r>
            <a:endParaRPr lang="en-US" sz="900" dirty="0"/>
          </a:p>
        </p:txBody>
      </p:sp>
      <p:sp>
        <p:nvSpPr>
          <p:cNvPr id="8" name="Shape 6"/>
          <p:cNvSpPr/>
          <p:nvPr/>
        </p:nvSpPr>
        <p:spPr>
          <a:xfrm>
            <a:off x="548640" y="6355080"/>
            <a:ext cx="11094415" cy="0"/>
          </a:xfrm>
          <a:prstGeom prst="line">
            <a:avLst/>
          </a:prstGeom>
          <a:noFill/>
          <a:ln w="6350">
            <a:solidFill>
              <a:srgbClr val="C2C2C6"/>
            </a:solidFill>
            <a:prstDash val="solid"/>
          </a:ln>
        </p:spPr>
      </p:sp>
      <p:sp>
        <p:nvSpPr>
          <p:cNvPr id="9" name="Text 7"/>
          <p:cNvSpPr/>
          <p:nvPr/>
        </p:nvSpPr>
        <p:spPr>
          <a:xfrm>
            <a:off x="548640" y="6446520"/>
            <a:ext cx="7315200" cy="274320"/>
          </a:xfrm>
          <a:prstGeom prst="rect">
            <a:avLst/>
          </a:prstGeom>
          <a:noFill/>
          <a:ln/>
        </p:spPr>
        <p:txBody>
          <a:bodyPr wrap="square" rtlCol="0" anchor="ctr"/>
          <a:lstStyle/>
          <a:p>
            <a:pPr indent="0" marL="0">
              <a:buNone/>
            </a:pPr>
            <a:r>
              <a:rPr lang="en-US" sz="900" spc="200" kern="0" dirty="0">
                <a:solidFill>
                  <a:srgbClr val="6B6B6F"/>
                </a:solidFill>
                <a:latin typeface="Roboto Condensed" pitchFamily="34" charset="0"/>
                <a:ea typeface="Roboto Condensed" pitchFamily="34" charset="-122"/>
                <a:cs typeface="Roboto Condensed" pitchFamily="34" charset="-120"/>
              </a:rPr>
              <a:t>RW Institute · Regional Campus Series</a:t>
            </a:r>
            <a:endParaRPr lang="en-US" sz="900" dirty="0"/>
          </a:p>
        </p:txBody>
      </p:sp>
      <p:sp>
        <p:nvSpPr>
          <p:cNvPr id="10" name="Text 8"/>
          <p:cNvSpPr/>
          <p:nvPr/>
        </p:nvSpPr>
        <p:spPr>
          <a:xfrm>
            <a:off x="11277295" y="6446520"/>
            <a:ext cx="365760" cy="274320"/>
          </a:xfrm>
          <a:prstGeom prst="rect">
            <a:avLst/>
          </a:prstGeom>
          <a:noFill/>
          <a:ln/>
        </p:spPr>
        <p:txBody>
          <a:bodyPr wrap="square" rtlCol="0" anchor="ctr"/>
          <a:lstStyle/>
          <a:p>
            <a:pPr algn="r" indent="0" marL="0">
              <a:buNone/>
            </a:pPr>
            <a:r>
              <a:rPr lang="en-US" sz="900" dirty="0">
                <a:solidFill>
                  <a:srgbClr val="6B6B6F"/>
                </a:solidFill>
                <a:latin typeface="Roboto Condensed" pitchFamily="34" charset="0"/>
                <a:ea typeface="Roboto Condensed" pitchFamily="34" charset="-122"/>
                <a:cs typeface="Roboto Condensed" pitchFamily="34" charset="-120"/>
              </a:rPr>
              <a:t>17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RW Institute · Business Case · Microsoft</dc:title>
  <dc:subject>PptxGenJS Presentation</dc:subject>
  <dc:creator>RW Institute</dc:creator>
  <cp:lastModifiedBy>RW Institute</cp:lastModifiedBy>
  <cp:revision>1</cp:revision>
  <dcterms:created xsi:type="dcterms:W3CDTF">2026-05-06T15:53:36Z</dcterms:created>
  <dcterms:modified xsi:type="dcterms:W3CDTF">2026-05-06T15:53:36Z</dcterms:modified>
</cp:coreProperties>
</file>